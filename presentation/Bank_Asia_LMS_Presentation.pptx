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5f9e825-324b-1b83-3ee5-1152aa24a1fe}">
          <p14:sldIdLst>
            <p14:sldId id="256"/>
            <p14:sldId id="257"/>
          </p14:sldIdLst>
        </p14:section>
        <p14:section name="Requirement &amp; Solution" id="{ae5e2535-503c-32d4-6bf7-868d5c921b44}">
          <p14:sldIdLst>
            <p14:sldId id="258"/>
            <p14:sldId id="259"/>
            <p14:sldId id="260"/>
            <p14:sldId id="261"/>
          </p14:sldIdLst>
        </p14:section>
        <p14:section name="System Walkthrough" id="{793b4419-940f-a7cb-c83a-2e8003eed324}">
          <p14:sldIdLst>
            <p14:sldId id="262"/>
            <p14:sldId id="263"/>
            <p14:sldId id="264"/>
            <p14:sldId id="265"/>
            <p14:sldId id="266"/>
            <p14:sldId id="267"/>
            <p14:sldId id="268"/>
          </p14:sldIdLst>
        </p14:section>
        <p14:section name="Assurance &amp; Delivery" id="{3ebadf88-ad9f-c6b2-db56-43942fac2bbf}">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opportunity. Today we present our Litigation Management System for Bank Asia, built directly against the RFP's functional and technical specifications. Everything you will see is a live, working system at lms.skoder.co. It runs on desktop and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with our understanding of your requirement, then the solution and its architecture. Most of our time is a live walkthrough of the working system. We then cover reporting, security and compliance, and close with our implementation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RFP describes a legal environment that is fragmented and largely manual. The objectives are clear: centralize, automate deadlines and alerts, integrate with CBS, strengthen governance with maker-checker and audit trails, and deliver real-time MIS. Each outcome on the right maps to an objective in Section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platform: all 31 functional modules from Section 8, 48 reports including Bangladesh Bank formats, six role profiles with maker-checker segregation, and a 360-degree customer view. It covers the full lifecycle the RFP describes, from pre-litigation through settlement.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coverage map. Every module listed in RFP Section 8, from user groups to task management, has a working screen in the live system. Bidders are scored on A/PA/NA compliance, and we can demonstrate each item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N-tier and cloud-ready, but deployed on-premises at your DC and DR as Section 7.8 prefers. The application tier hosts the workflow engine, business rules, role-based access and the audit trail. Integrations with CBS, SMS and email, Finance, EDW and Active Directory use REST/SOAP APIs, batch/ETL, message queues or SFTP. In the demo, CBS and messaging are simulated.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Access is role-based. Six profiles separate makers from checkers at branch and Head Office level. In production: the bank's password policy, lockout after five failed attempts, session timeout, single-workstation login, Active Directory or SSO, and MFA for mobile. In the demo we use quick sign-in to switch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gives the real-time daily view that Section 8.7 asks for: KPI tiles for active cases, pending approvals, notices, upcoming hearings and approved legal expense; the portfolio by workflow status; branch-wise volume; recovery against legal cost; and a live activity feed across all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Maker-checker is applied consistently. A branch officer creates and submits. A checker at Head Office approves, returns with a reason, or rejects. The system blocks duplicate pending requests, restricts edits to draft or returned items, and logs every action. These are the controls repeated throughout Sections 8.9 to 8.24.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Litigation management covers lower court suits with document uploads and reassignment, day-by-day case steps with lawyer expenses, arising cases such as execution suits, High Court and Appellate Division matters linked to the original case, cases against the bank, and warrants and bail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Pre-litigation starts with the 1st legal notice, with customer details pulled from CBS, and case merit analysis with security documents and property vetting. Recovery covers auctions with statutory publication copies under sections 12(3), 33(5) and 33(7), CBS-based statements and Jari certificates, bill disbursement with Finance integration, and court fee adjustments.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360 consolidates everything for a borrower: profile and classification, every case across courts, documents, interactions, and arrest and bail history. Users search by name, account, phone, NID or TIN, branch or case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Reporting includes the Bangladesh Bank formats — সংযোজনী ক, খ and গ, RIT and BR-4, DBI-22, CRMR, ISS, the classified loans statement and BB audit reports — plus portfolio, lawyer, court and bill summaries. Every report can be previewed on screen and exported on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compliance are designed in: segregation of duties; a tamper-evident audit trail, shown here on a returned request with the checker's reason; encryption in transit and at rest; OWASP Top 10 protection with penetration testing; DC and DR resilience; and regulatory alignment, including the 4-hour breach notification commitment in Section 6.48.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propose a five-phase delivery with your Legal and ICT teams, followed by the 3-year warranty and AMC with 24/7/365 support specified in the RFP. Thank you. We are happy to take questions, and the live system is available at lms.skoder.co. Scan the QR code to open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MS_TITLE">
    <p:bg>
      <p:bgPr>
        <a:solidFill>
          <a:schemeClr val="bg1"/>
        </a:solidFill>
      </p:bgPr>
    </p:bg>
    <p:spTree>
      <p:nvGrpSpPr>
        <p:cNvPr id="1" name=""/>
        <p:cNvGrpSpPr/>
        <p:nvPr/>
      </p:nvGrpSpPr>
      <p:grpSpPr>
        <a:xfrm>
          <a:off x="0" y="0"/>
          <a:ext cx="0" cy="0"/>
          <a:chOff x="0" y="0"/>
          <a:chExt cx="0" cy="0"/>
        </a:xfrm>
      </p:grpSpPr>
      <p:sp>
        <p:nvSpPr>
          <p:cNvPr id="2" name="Text 0"/>
          <p:cNvSpPr txBox="1"/>
          <p:nvPr/>
        </p:nvSpPr>
        <p:spPr>
          <a:xfrm>
            <a:off x="640080" y="457200"/>
            <a:ext cx="2286000" cy="228600"/>
          </a:xfrm>
          <a:prstGeom prst="rect">
            <a:avLst/>
          </a:prstGeom>
          <a:noFill/>
          <a:ln/>
        </p:spPr>
        <p:txBody>
          <a:bodyPr wrap="square" lIns="0" tIns="0" rIns="0" bIns="0" rtlCol="0" anchor="ctr"/>
          <a:lstStyle/>
          <a:p>
            <a:pPr indent="0" marL="0">
              <a:buNone/>
            </a:pPr>
            <a:r>
              <a:rPr lang="en-US" sz="1100" dirty="0">
                <a:solidFill>
                  <a:schemeClr val="accent6"/>
                </a:solidFill>
              </a:rPr>
              <a:t>Prepared for</a:t>
            </a:r>
            <a:endParaRPr lang="en-US" sz="1100" dirty="0"/>
          </a:p>
        </p:txBody>
      </p:sp>
      <p:pic>
        <p:nvPicPr>
          <p:cNvPr id="3" name="Image 0" descr="Bank Asia logo">    </p:cNvPr>
          <p:cNvPicPr>
            <a:picLocks noChangeAspect="1"/>
          </p:cNvPicPr>
          <p:nvPr/>
        </p:nvPicPr>
        <p:blipFill>
          <a:blip r:embed="rId1"/>
          <a:stretch>
            <a:fillRect/>
          </a:stretch>
        </p:blipFill>
        <p:spPr>
          <a:xfrm>
            <a:off x="640080" y="731520"/>
            <a:ext cx="1783080" cy="534924"/>
          </a:xfrm>
          <a:prstGeom prst="rect">
            <a:avLst/>
          </a:prstGeom>
        </p:spPr>
      </p:pic>
      <p:sp>
        <p:nvSpPr>
          <p:cNvPr id="4" name="Text 1"/>
          <p:cNvSpPr/>
          <p:nvPr>
            <p:ph idx="102" type="title" hasCustomPrompt="1"/>
          </p:nvPr>
        </p:nvSpPr>
        <p:spPr>
          <a:xfrm>
            <a:off x="640080" y="2057400"/>
            <a:ext cx="4754880" cy="2057400"/>
          </a:xfrm>
          <a:prstGeom prst="rect">
            <a:avLst/>
          </a:prstGeom>
          <a:noFill/>
          <a:ln/>
        </p:spPr>
        <p:txBody>
          <a:bodyPr wrap="square" rtlCol="0"/>
          <a:lstStyle>
            <a:lvl1pPr algn="l" indent="0" marL="0">
              <a:buNone/>
              <a:defRPr lang="en-US" sz="4400" b="1" dirty="0">
                <a:solidFill>
                  <a:schemeClr val="tx2"/>
                </a:solidFill>
              </a:defRPr>
            </a:lvl1pPr>
          </a:lstStyle>
          <a:p>
            <a:pPr algn="l" indent="0" marL="0">
              <a:buNone/>
            </a:pPr>
            <a:endParaRPr lang="en-US" sz="4400" dirty="0"/>
          </a:p>
        </p:txBody>
      </p:sp>
      <p:sp>
        <p:nvSpPr>
          <p:cNvPr id="5" name="Text 1"/>
          <p:cNvSpPr/>
          <p:nvPr>
            <p:ph idx="103" type="body" hasCustomPrompt="1"/>
          </p:nvPr>
        </p:nvSpPr>
        <p:spPr>
          <a:xfrm>
            <a:off x="640080" y="4224528"/>
            <a:ext cx="4343400" cy="914400"/>
          </a:xfrm>
          <a:prstGeom prst="rect">
            <a:avLst/>
          </a:prstGeom>
          <a:noFill/>
          <a:ln/>
        </p:spPr>
        <p:txBody>
          <a:bodyPr wrap="square" rtlCol="0"/>
          <a:lstStyle>
            <a:lvl1pPr algn="l" indent="0" marL="0">
              <a:buNone/>
              <a:defRPr lang="en-US" sz="1800" dirty="0">
                <a:solidFill>
                  <a:schemeClr val="tx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MS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76656"/>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rtlCol="0"/>
          <a:lstStyle>
            <a:lvl1pPr algn="l" indent="0" marL="0">
              <a:buNone/>
              <a:defRPr lang="en-US" sz="1600" dirty="0">
                <a:solidFill>
                  <a:schemeClr val="accent6"/>
                </a:solidFill>
              </a:defRPr>
            </a:lvl1pPr>
          </a:lstStyle>
          <a:p>
            <a:pPr algn="l" indent="0" marL="0">
              <a:buNone/>
            </a:pPr>
            <a:endParaRPr lang="en-US" sz="1600" dirty="0"/>
          </a:p>
        </p:txBody>
      </p:sp>
      <p:sp>
        <p:nvSpPr>
          <p:cNvPr id="4" name="Text 0"/>
          <p:cNvSpPr txBox="1"/>
          <p:nvPr/>
        </p:nvSpPr>
        <p:spPr>
          <a:xfrm>
            <a:off x="548640" y="6382512"/>
            <a:ext cx="6400800" cy="237744"/>
          </a:xfrm>
          <a:prstGeom prst="rect">
            <a:avLst/>
          </a:prstGeom>
          <a:noFill/>
          <a:ln/>
        </p:spPr>
        <p:txBody>
          <a:bodyPr wrap="square" lIns="0" tIns="0" rIns="0" bIns="0" rtlCol="0" anchor="ctr"/>
          <a:lstStyle/>
          <a:p>
            <a:pPr indent="0" marL="0">
              <a:buNone/>
            </a:pPr>
            <a:r>
              <a:rPr lang="en-US" sz="1000" dirty="0">
                <a:solidFill>
                  <a:schemeClr val="accent6"/>
                </a:solidFill>
              </a:rPr>
              <a:t>Bank Asia PLC  ·  Litigation Management System</a:t>
            </a:r>
            <a:endParaRPr lang="en-US" sz="10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lms.skoder.co" TargetMode="Externa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3.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slideLayout" Target="../slideLayouts/slideLayout3.xml"/><Relationship Id="rId1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slideLayout" Target="../slideLayouts/slideLayout3.xml"/><Relationship Id="rId1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slideLayout" Target="../slideLayouts/slideLayout3.xml"/><Relationship Id="rId11"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3.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3.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lms.skoder.co" TargetMode="External"/><Relationship Id="rId2" Type="http://schemas.openxmlformats.org/officeDocument/2006/relationships/image" Target="../media/image-15-1.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640080" y="1517904"/>
            <a:ext cx="4069080" cy="347472"/>
          </a:xfrm>
          <a:prstGeom prst="roundRect">
            <a:avLst>
              <a:gd name="adj" fmla="val 50000"/>
            </a:avLst>
          </a:prstGeom>
          <a:solidFill>
            <a:schemeClr val="bg2"/>
          </a:solidFill>
          <a:ln/>
        </p:spPr>
        <p:txBody>
          <a:bodyPr wrap="square" lIns="0" tIns="0" rIns="0" bIns="0" rtlCol="0" anchor="ctr"/>
          <a:lstStyle/>
          <a:p>
            <a:pPr algn="ctr" indent="0" marL="0">
              <a:buNone/>
            </a:pPr>
            <a:r>
              <a:rPr lang="en-US" sz="1100" b="1" dirty="0">
                <a:solidFill>
                  <a:schemeClr val="accent1"/>
                </a:solidFill>
              </a:rPr>
              <a:t>SOLUTION PRESENTATION  ·  LIVE DEMONSTRATION</a:t>
            </a:r>
            <a:endParaRPr lang="en-US" sz="1100" dirty="0"/>
          </a:p>
        </p:txBody>
      </p:sp>
      <p:sp>
        <p:nvSpPr>
          <p:cNvPr id="3" name="Text 1"/>
          <p:cNvSpPr/>
          <p:nvPr>
            <p:ph idx="102" type="title" hasCustomPrompt="1"/>
          </p:nvPr>
        </p:nvSpPr>
        <p:spPr>
          <a:xfrm>
            <a:off x="640080" y="2057400"/>
            <a:ext cx="4754880" cy="2057400"/>
          </a:xfrm>
          <a:prstGeom prst="rect">
            <a:avLst/>
          </a:prstGeom>
          <a:noFill/>
          <a:ln/>
        </p:spPr>
        <p:txBody>
          <a:bodyPr wrap="square" lIns="0" tIns="0" rIns="0" bIns="0" rtlCol="0" anchor="t"/>
          <a:lstStyle/>
          <a:p>
            <a:pPr algn="l" indent="0" marL="0">
              <a:buNone/>
            </a:pPr>
            <a:r>
              <a:rPr lang="en-US" sz="4400" b="1" dirty="0">
                <a:solidFill>
                  <a:schemeClr val="tx2"/>
                </a:solidFill>
              </a:rPr>
              <a:t>Litigation Management System</a:t>
            </a:r>
            <a:endParaRPr lang="en-US" sz="4400" dirty="0"/>
          </a:p>
        </p:txBody>
      </p:sp>
      <p:sp>
        <p:nvSpPr>
          <p:cNvPr id="4" name="Text 1"/>
          <p:cNvSpPr/>
          <p:nvPr>
            <p:ph idx="103" type="body" hasCustomPrompt="1"/>
          </p:nvPr>
        </p:nvSpPr>
        <p:spPr>
          <a:xfrm>
            <a:off x="640080" y="4224528"/>
            <a:ext cx="4343400" cy="914400"/>
          </a:xfrm>
          <a:prstGeom prst="rect">
            <a:avLst/>
          </a:prstGeom>
          <a:noFill/>
          <a:ln/>
        </p:spPr>
        <p:txBody>
          <a:bodyPr wrap="square" lIns="0" tIns="0" rIns="0" bIns="0" rtlCol="0" anchor="t"/>
          <a:lstStyle/>
          <a:p>
            <a:pPr algn="l" indent="0" marL="0">
              <a:buNone/>
            </a:pPr>
            <a:r>
              <a:rPr lang="en-US" sz="1800" dirty="0">
                <a:solidFill>
                  <a:schemeClr val="tx1"/>
                </a:solidFill>
              </a:rPr>
              <a:t>One centralized platform for Bank Asia's legal and recovery lifecycle — from first notice to final settlement</a:t>
            </a:r>
            <a:endParaRPr lang="en-US" sz="1800" dirty="0"/>
          </a:p>
        </p:txBody>
      </p:sp>
      <p:sp>
        <p:nvSpPr>
          <p:cNvPr id="5" name="date"/>
          <p:cNvSpPr txBox="1"/>
          <p:nvPr/>
        </p:nvSpPr>
        <p:spPr>
          <a:xfrm>
            <a:off x="640080" y="5440680"/>
            <a:ext cx="4114800" cy="274320"/>
          </a:xfrm>
          <a:prstGeom prst="rect">
            <a:avLst/>
          </a:prstGeom>
          <a:noFill/>
          <a:ln/>
        </p:spPr>
        <p:txBody>
          <a:bodyPr wrap="square" lIns="0" tIns="0" rIns="0" bIns="0" rtlCol="0" anchor="t"/>
          <a:lstStyle/>
          <a:p>
            <a:pPr indent="0" marL="0">
              <a:buNone/>
            </a:pPr>
            <a:r>
              <a:rPr lang="en-US" sz="1300" dirty="0">
                <a:solidFill>
                  <a:schemeClr val="accent6"/>
                </a:solidFill>
              </a:rPr>
              <a:t>27 October 2026</a:t>
            </a:r>
            <a:endParaRPr lang="en-US" sz="1300" dirty="0"/>
          </a:p>
        </p:txBody>
      </p:sp>
      <p:sp>
        <p:nvSpPr>
          <p:cNvPr id="6" name="demo link"/>
          <p:cNvSpPr txBox="1"/>
          <p:nvPr/>
        </p:nvSpPr>
        <p:spPr>
          <a:xfrm>
            <a:off x="640080" y="5742432"/>
            <a:ext cx="4114800" cy="274320"/>
          </a:xfrm>
          <a:prstGeom prst="rect">
            <a:avLst/>
          </a:prstGeom>
          <a:noFill/>
          <a:ln/>
        </p:spPr>
        <p:txBody>
          <a:bodyPr wrap="square" lIns="0" tIns="0" rIns="0" bIns="0" rtlCol="0" anchor="t"/>
          <a:lstStyle/>
          <a:p>
            <a:pPr indent="0" marL="0">
              <a:buNone/>
            </a:pPr>
            <a:r>
              <a:rPr lang="en-US" sz="1300" dirty="0">
                <a:solidFill>
                  <a:schemeClr val="accent6"/>
                </a:solidFill>
              </a:rPr>
              <a:t>Live system:  </a:t>
            </a:r>
            <a:pPr indent="0" marL="0">
              <a:buNone/>
            </a:pPr>
            <a:r>
              <a:rPr lang="en-US" sz="1300" b="1" u="sng" dirty="0">
                <a:solidFill>
                  <a:schemeClr val="accent1"/>
                </a:solidFill>
                <a:hlinkClick r:id="rId1" invalidUrl="" action="" tgtFrame="" tooltip="Open the live LMS demo" history="1" highlightClick="0" endSnd="0">
                  <a:extLst>
                    <a:ext uri="{A12FA001-AC4F-418D-AE19-62706E023703}">
                      <ahyp:hlinkClr xmlns:ahyp="http://schemas.microsoft.com/office/drawing/2018/hyperlinkcolor" val="tx"/>
                    </a:ext>
                  </a:extLst>
                </a:hlinkClick>
              </a:rPr>
              <a:t>lms.skoder.co</a:t>
            </a:r>
            <a:endParaRPr lang="en-US" sz="1300" dirty="0"/>
          </a:p>
        </p:txBody>
      </p:sp>
      <p:sp>
        <p:nvSpPr>
          <p:cNvPr id="7" name="hero panel"/>
          <p:cNvSpPr/>
          <p:nvPr/>
        </p:nvSpPr>
        <p:spPr>
          <a:xfrm>
            <a:off x="6355080" y="502920"/>
            <a:ext cx="5285232" cy="5440680"/>
          </a:xfrm>
          <a:prstGeom prst="roundRect">
            <a:avLst>
              <a:gd name="adj" fmla="val 3806"/>
            </a:avLst>
          </a:prstGeom>
          <a:solidFill>
            <a:schemeClr val="bg2"/>
          </a:solidFill>
          <a:ln/>
        </p:spPr>
      </p:sp>
      <p:sp>
        <p:nvSpPr>
          <p:cNvPr id="8" name="hero desktop frame"/>
          <p:cNvSpPr/>
          <p:nvPr/>
        </p:nvSpPr>
        <p:spPr>
          <a:xfrm>
            <a:off x="5760720" y="914400"/>
            <a:ext cx="5879592" cy="3971925"/>
          </a:xfrm>
          <a:prstGeom prst="roundRect">
            <a:avLst>
              <a:gd name="adj" fmla="val 2302"/>
            </a:avLst>
          </a:prstGeom>
          <a:solidFill>
            <a:schemeClr val="bg2"/>
          </a:solidFill>
          <a:ln w="9525">
            <a:solidFill>
              <a:schemeClr val="accent6">
                <a:alpha val="30000"/>
              </a:schemeClr>
            </a:solidFill>
            <a:prstDash val="solid"/>
          </a:ln>
          <a:effectLst>
            <a:outerShdw sx="100000" sy="100000" kx="0" ky="0" algn="bl" rotWithShape="0" blurRad="203200" dist="50800" dir="5400000">
              <a:srgbClr val="0B1F3A">
                <a:alpha val="18000"/>
              </a:srgbClr>
            </a:outerShdw>
          </a:effectLst>
        </p:spPr>
      </p:sp>
      <p:sp>
        <p:nvSpPr>
          <p:cNvPr id="9" name="hero desktop dot 1"/>
          <p:cNvSpPr/>
          <p:nvPr/>
        </p:nvSpPr>
        <p:spPr>
          <a:xfrm>
            <a:off x="5916168" y="1028700"/>
            <a:ext cx="82296" cy="82296"/>
          </a:xfrm>
          <a:prstGeom prst="ellipse">
            <a:avLst/>
          </a:prstGeom>
          <a:solidFill>
            <a:schemeClr val="accent6">
              <a:alpha val="55000"/>
            </a:schemeClr>
          </a:solidFill>
          <a:ln/>
        </p:spPr>
      </p:sp>
      <p:sp>
        <p:nvSpPr>
          <p:cNvPr id="10" name="hero desktop dot 2"/>
          <p:cNvSpPr/>
          <p:nvPr/>
        </p:nvSpPr>
        <p:spPr>
          <a:xfrm>
            <a:off x="6053328" y="1028700"/>
            <a:ext cx="82296" cy="82296"/>
          </a:xfrm>
          <a:prstGeom prst="ellipse">
            <a:avLst/>
          </a:prstGeom>
          <a:solidFill>
            <a:schemeClr val="accent6">
              <a:alpha val="55000"/>
            </a:schemeClr>
          </a:solidFill>
          <a:ln/>
        </p:spPr>
      </p:sp>
      <p:sp>
        <p:nvSpPr>
          <p:cNvPr id="11" name="hero desktop dot 3"/>
          <p:cNvSpPr/>
          <p:nvPr/>
        </p:nvSpPr>
        <p:spPr>
          <a:xfrm>
            <a:off x="6190488" y="1028700"/>
            <a:ext cx="82296" cy="82296"/>
          </a:xfrm>
          <a:prstGeom prst="ellipse">
            <a:avLst/>
          </a:prstGeom>
          <a:solidFill>
            <a:schemeClr val="accent6">
              <a:alpha val="55000"/>
            </a:schemeClr>
          </a:solidFill>
          <a:ln/>
        </p:spPr>
      </p:sp>
      <p:sp>
        <p:nvSpPr>
          <p:cNvPr id="12" name="hero desktop url"/>
          <p:cNvSpPr txBox="1"/>
          <p:nvPr/>
        </p:nvSpPr>
        <p:spPr>
          <a:xfrm>
            <a:off x="7348210" y="969264"/>
            <a:ext cx="2704612" cy="201168"/>
          </a:xfrm>
          <a:prstGeom prst="roundRect">
            <a:avLst>
              <a:gd name="adj" fmla="val 50000"/>
            </a:avLst>
          </a:prstGeom>
          <a:solidFill>
            <a:schemeClr val="bg1"/>
          </a:solidFill>
          <a:ln/>
        </p:spPr>
        <p:txBody>
          <a:bodyPr wrap="square" lIns="0" tIns="0" rIns="0" bIns="0" rtlCol="0" anchor="ctr"/>
          <a:lstStyle/>
          <a:p>
            <a:pPr algn="ctr" indent="0" marL="0">
              <a:buNone/>
            </a:pPr>
            <a:r>
              <a:rPr lang="en-US" sz="1000" dirty="0">
                <a:solidFill>
                  <a:schemeClr val="accent6"/>
                </a:solidFill>
              </a:rPr>
              <a:t>lms.skoder.co/dashboard</a:t>
            </a:r>
            <a:endParaRPr lang="en-US" sz="1000" dirty="0"/>
          </a:p>
        </p:txBody>
      </p:sp>
      <p:pic>
        <p:nvPicPr>
          <p:cNvPr id="13" name="hero desktop screenshot" descr="Live LMS dashboard screenshot">    </p:cNvPr>
          <p:cNvPicPr>
            <a:picLocks noChangeAspect="1"/>
          </p:cNvPicPr>
          <p:nvPr/>
        </p:nvPicPr>
        <p:blipFill>
          <a:blip r:embed="rId2"/>
          <a:stretch>
            <a:fillRect/>
          </a:stretch>
        </p:blipFill>
        <p:spPr>
          <a:xfrm>
            <a:off x="5815584" y="1225296"/>
            <a:ext cx="5769864" cy="3606165"/>
          </a:xfrm>
          <a:prstGeom prst="rect">
            <a:avLst/>
          </a:prstGeom>
        </p:spPr>
      </p:pic>
      <p:sp>
        <p:nvSpPr>
          <p:cNvPr id="14" name="hero phone body"/>
          <p:cNvSpPr/>
          <p:nvPr/>
        </p:nvSpPr>
        <p:spPr>
          <a:xfrm>
            <a:off x="5321808" y="2944368"/>
            <a:ext cx="1481328" cy="3148162"/>
          </a:xfrm>
          <a:prstGeom prst="roundRect">
            <a:avLst>
              <a:gd name="adj" fmla="val 13580"/>
            </a:avLst>
          </a:prstGeom>
          <a:solidFill>
            <a:schemeClr val="tx1"/>
          </a:solidFill>
          <a:ln/>
          <a:effectLst>
            <a:outerShdw sx="100000" sy="100000" kx="0" ky="0" algn="bl" rotWithShape="0" blurRad="228600" dist="76200" dir="5400000">
              <a:srgbClr val="0B1F3A">
                <a:alpha val="28000"/>
              </a:srgbClr>
            </a:outerShdw>
          </a:effectLst>
        </p:spPr>
      </p:sp>
      <p:sp>
        <p:nvSpPr>
          <p:cNvPr id="15" name="hero phone speaker"/>
          <p:cNvSpPr/>
          <p:nvPr/>
        </p:nvSpPr>
        <p:spPr>
          <a:xfrm>
            <a:off x="5843016" y="2999232"/>
            <a:ext cx="438912" cy="54864"/>
          </a:xfrm>
          <a:prstGeom prst="roundRect">
            <a:avLst>
              <a:gd name="adj" fmla="val 50000"/>
            </a:avLst>
          </a:prstGeom>
          <a:solidFill>
            <a:schemeClr val="accent6"/>
          </a:solidFill>
          <a:ln/>
        </p:spPr>
      </p:sp>
      <p:pic>
        <p:nvPicPr>
          <p:cNvPr id="16" name="hero phone screenshot" descr="LMS dashboard on a mobile phone">    </p:cNvPr>
          <p:cNvPicPr>
            <a:picLocks noChangeAspect="1"/>
          </p:cNvPicPr>
          <p:nvPr/>
        </p:nvPicPr>
        <p:blipFill>
          <a:blip r:embed="rId3"/>
          <a:stretch>
            <a:fillRect/>
          </a:stretch>
        </p:blipFill>
        <p:spPr>
          <a:xfrm>
            <a:off x="5385816" y="3099816"/>
            <a:ext cx="1353312" cy="292870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76656"/>
          </a:xfrm>
          <a:prstGeom prst="rect">
            <a:avLst/>
          </a:prstGeom>
          <a:noFill/>
          <a:ln/>
        </p:spPr>
        <p:txBody>
          <a:bodyPr wrap="square" lIns="0" tIns="0" rIns="0" bIns="0" rtlCol="0" anchor="ctr"/>
          <a:lstStyle/>
          <a:p>
            <a:pPr algn="l" indent="0" marL="0">
              <a:buNone/>
            </a:pPr>
            <a:r>
              <a:rPr lang="en-US" sz="3600" b="1" dirty="0">
                <a:solidFill>
                  <a:schemeClr val="tx2"/>
                </a:solidFill>
              </a:rPr>
              <a:t>Agenda</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algn="l" indent="0" marL="0">
              <a:buNone/>
            </a:pPr>
            <a:r>
              <a:rPr lang="en-US" sz="1600" dirty="0">
                <a:solidFill>
                  <a:schemeClr val="accent6"/>
                </a:solidFill>
              </a:rPr>
              <a:t>What we will cover today</a:t>
            </a:r>
            <a:endParaRPr lang="en-US" sz="1600" dirty="0"/>
          </a:p>
        </p:txBody>
      </p:sp>
      <p:sp>
        <p:nvSpPr>
          <p:cNvPr id="4" name="agenda card 01"/>
          <p:cNvSpPr/>
          <p:nvPr/>
        </p:nvSpPr>
        <p:spPr>
          <a:xfrm>
            <a:off x="548640" y="1783080"/>
            <a:ext cx="3483864" cy="1965960"/>
          </a:xfrm>
          <a:prstGeom prst="roundRect">
            <a:avLst>
              <a:gd name="adj" fmla="val 5581"/>
            </a:avLst>
          </a:prstGeom>
          <a:solidFill>
            <a:schemeClr val="bg1"/>
          </a:solidFill>
          <a:ln w="9525">
            <a:solidFill>
              <a:schemeClr val="accent6">
                <a:alpha val="30000"/>
              </a:schemeClr>
            </a:solidFill>
            <a:prstDash val="solid"/>
          </a:ln>
          <a:effectLst>
            <a:outerShdw sx="100000" sy="100000" kx="0" ky="0" algn="bl" rotWithShape="0" blurRad="127000" dist="25400" dir="5400000">
              <a:srgbClr val="0B1F3A">
                <a:alpha val="10000"/>
              </a:srgbClr>
            </a:outerShdw>
          </a:effectLst>
        </p:spPr>
      </p:sp>
      <p:sp>
        <p:nvSpPr>
          <p:cNvPr id="5" name="agenda number 01"/>
          <p:cNvSpPr txBox="1"/>
          <p:nvPr/>
        </p:nvSpPr>
        <p:spPr>
          <a:xfrm>
            <a:off x="868680" y="2057400"/>
            <a:ext cx="1097280" cy="50292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01</a:t>
            </a:r>
            <a:endParaRPr lang="en-US" sz="3000" dirty="0"/>
          </a:p>
        </p:txBody>
      </p:sp>
      <p:sp>
        <p:nvSpPr>
          <p:cNvPr id="6" name="agenda title 01"/>
          <p:cNvSpPr txBox="1"/>
          <p:nvPr/>
        </p:nvSpPr>
        <p:spPr>
          <a:xfrm>
            <a:off x="868680" y="2606040"/>
            <a:ext cx="2980944" cy="585216"/>
          </a:xfrm>
          <a:prstGeom prst="rect">
            <a:avLst/>
          </a:prstGeom>
          <a:noFill/>
          <a:ln/>
        </p:spPr>
        <p:txBody>
          <a:bodyPr wrap="square" lIns="0" tIns="0" rIns="0" bIns="0" rtlCol="0" anchor="b"/>
          <a:lstStyle/>
          <a:p>
            <a:pPr indent="0" marL="0">
              <a:buNone/>
            </a:pPr>
            <a:r>
              <a:rPr lang="en-US" sz="1800" b="1" dirty="0">
                <a:solidFill>
                  <a:schemeClr val="tx1"/>
                </a:solidFill>
              </a:rPr>
              <a:t>Understanding Your Requirement</a:t>
            </a:r>
            <a:endParaRPr lang="en-US" sz="1800" dirty="0"/>
          </a:p>
        </p:txBody>
      </p:sp>
      <p:sp>
        <p:nvSpPr>
          <p:cNvPr id="7" name="agenda desc 01"/>
          <p:cNvSpPr txBox="1"/>
          <p:nvPr/>
        </p:nvSpPr>
        <p:spPr>
          <a:xfrm>
            <a:off x="868680" y="3246120"/>
            <a:ext cx="2980944" cy="457200"/>
          </a:xfrm>
          <a:prstGeom prst="rect">
            <a:avLst/>
          </a:prstGeom>
          <a:noFill/>
          <a:ln/>
        </p:spPr>
        <p:txBody>
          <a:bodyPr wrap="square" lIns="0" tIns="0" rIns="0" bIns="0" rtlCol="0" anchor="t"/>
          <a:lstStyle/>
          <a:p>
            <a:pPr indent="0" marL="0">
              <a:buNone/>
            </a:pPr>
            <a:r>
              <a:rPr lang="en-US" sz="1400" dirty="0">
                <a:solidFill>
                  <a:schemeClr val="accent6"/>
                </a:solidFill>
              </a:rPr>
              <a:t>Objectives and challenges from the RFP</a:t>
            </a:r>
            <a:endParaRPr lang="en-US" sz="1400" dirty="0"/>
          </a:p>
        </p:txBody>
      </p:sp>
      <p:sp>
        <p:nvSpPr>
          <p:cNvPr id="8" name="agenda card 02"/>
          <p:cNvSpPr/>
          <p:nvPr/>
        </p:nvSpPr>
        <p:spPr>
          <a:xfrm>
            <a:off x="4352544" y="1783080"/>
            <a:ext cx="3483864" cy="1965960"/>
          </a:xfrm>
          <a:prstGeom prst="roundRect">
            <a:avLst>
              <a:gd name="adj" fmla="val 5581"/>
            </a:avLst>
          </a:prstGeom>
          <a:solidFill>
            <a:schemeClr val="bg1"/>
          </a:solidFill>
          <a:ln w="9525">
            <a:solidFill>
              <a:schemeClr val="accent6">
                <a:alpha val="30000"/>
              </a:schemeClr>
            </a:solidFill>
            <a:prstDash val="solid"/>
          </a:ln>
          <a:effectLst>
            <a:outerShdw sx="100000" sy="100000" kx="0" ky="0" algn="bl" rotWithShape="0" blurRad="127000" dist="25400" dir="5400000">
              <a:srgbClr val="0B1F3A">
                <a:alpha val="10000"/>
              </a:srgbClr>
            </a:outerShdw>
          </a:effectLst>
        </p:spPr>
      </p:sp>
      <p:sp>
        <p:nvSpPr>
          <p:cNvPr id="9" name="agenda number 02"/>
          <p:cNvSpPr txBox="1"/>
          <p:nvPr/>
        </p:nvSpPr>
        <p:spPr>
          <a:xfrm>
            <a:off x="4672584" y="2057400"/>
            <a:ext cx="1097280" cy="50292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02</a:t>
            </a:r>
            <a:endParaRPr lang="en-US" sz="3000" dirty="0"/>
          </a:p>
        </p:txBody>
      </p:sp>
      <p:sp>
        <p:nvSpPr>
          <p:cNvPr id="10" name="agenda title 02"/>
          <p:cNvSpPr txBox="1"/>
          <p:nvPr/>
        </p:nvSpPr>
        <p:spPr>
          <a:xfrm>
            <a:off x="4672584" y="2606040"/>
            <a:ext cx="2980944" cy="585216"/>
          </a:xfrm>
          <a:prstGeom prst="rect">
            <a:avLst/>
          </a:prstGeom>
          <a:noFill/>
          <a:ln/>
        </p:spPr>
        <p:txBody>
          <a:bodyPr wrap="square" lIns="0" tIns="0" rIns="0" bIns="0" rtlCol="0" anchor="b"/>
          <a:lstStyle/>
          <a:p>
            <a:pPr indent="0" marL="0">
              <a:buNone/>
            </a:pPr>
            <a:r>
              <a:rPr lang="en-US" sz="1800" b="1" dirty="0">
                <a:solidFill>
                  <a:schemeClr val="tx1"/>
                </a:solidFill>
              </a:rPr>
              <a:t>Solution &amp; Architecture</a:t>
            </a:r>
            <a:endParaRPr lang="en-US" sz="1800" dirty="0"/>
          </a:p>
        </p:txBody>
      </p:sp>
      <p:sp>
        <p:nvSpPr>
          <p:cNvPr id="11" name="agenda desc 02"/>
          <p:cNvSpPr txBox="1"/>
          <p:nvPr/>
        </p:nvSpPr>
        <p:spPr>
          <a:xfrm>
            <a:off x="4672584" y="3246120"/>
            <a:ext cx="2980944" cy="457200"/>
          </a:xfrm>
          <a:prstGeom prst="rect">
            <a:avLst/>
          </a:prstGeom>
          <a:noFill/>
          <a:ln/>
        </p:spPr>
        <p:txBody>
          <a:bodyPr wrap="square" lIns="0" tIns="0" rIns="0" bIns="0" rtlCol="0" anchor="t"/>
          <a:lstStyle/>
          <a:p>
            <a:pPr indent="0" marL="0">
              <a:buNone/>
            </a:pPr>
            <a:r>
              <a:rPr lang="en-US" sz="1400" dirty="0">
                <a:solidFill>
                  <a:schemeClr val="accent6"/>
                </a:solidFill>
              </a:rPr>
              <a:t>Modules, integrations and deployment</a:t>
            </a:r>
            <a:endParaRPr lang="en-US" sz="1400" dirty="0"/>
          </a:p>
        </p:txBody>
      </p:sp>
      <p:sp>
        <p:nvSpPr>
          <p:cNvPr id="12" name="agenda card 03"/>
          <p:cNvSpPr/>
          <p:nvPr/>
        </p:nvSpPr>
        <p:spPr>
          <a:xfrm>
            <a:off x="8156448" y="1783080"/>
            <a:ext cx="3483864" cy="1965960"/>
          </a:xfrm>
          <a:prstGeom prst="roundRect">
            <a:avLst>
              <a:gd name="adj" fmla="val 5581"/>
            </a:avLst>
          </a:prstGeom>
          <a:solidFill>
            <a:schemeClr val="accent1"/>
          </a:solidFill>
          <a:ln/>
          <a:effectLst>
            <a:outerShdw sx="100000" sy="100000" kx="0" ky="0" algn="bl" rotWithShape="0" blurRad="127000" dist="25400" dir="5400000">
              <a:srgbClr val="0B1F3A">
                <a:alpha val="22000"/>
              </a:srgbClr>
            </a:outerShdw>
          </a:effectLst>
        </p:spPr>
      </p:sp>
      <p:sp>
        <p:nvSpPr>
          <p:cNvPr id="13" name="agenda number 03"/>
          <p:cNvSpPr txBox="1"/>
          <p:nvPr/>
        </p:nvSpPr>
        <p:spPr>
          <a:xfrm>
            <a:off x="8476488" y="2057400"/>
            <a:ext cx="1097280" cy="502920"/>
          </a:xfrm>
          <a:prstGeom prst="rect">
            <a:avLst/>
          </a:prstGeom>
          <a:noFill/>
          <a:ln/>
        </p:spPr>
        <p:txBody>
          <a:bodyPr wrap="square" lIns="0" tIns="0" rIns="0" bIns="0" rtlCol="0" anchor="t"/>
          <a:lstStyle/>
          <a:p>
            <a:pPr indent="0" marL="0">
              <a:buNone/>
            </a:pPr>
            <a:r>
              <a:rPr lang="en-US" sz="3000" b="1" dirty="0">
                <a:solidFill>
                  <a:schemeClr val="bg1"/>
                </a:solidFill>
                <a:latin typeface="+mj-lt" pitchFamily="34" charset="0"/>
                <a:ea typeface="+mj-lt" pitchFamily="34" charset="-122"/>
                <a:cs typeface="+mj-lt" pitchFamily="34" charset="-120"/>
              </a:rPr>
              <a:t>03</a:t>
            </a:r>
            <a:endParaRPr lang="en-US" sz="3000" dirty="0"/>
          </a:p>
        </p:txBody>
      </p:sp>
      <p:sp>
        <p:nvSpPr>
          <p:cNvPr id="14" name="agenda title 03"/>
          <p:cNvSpPr txBox="1"/>
          <p:nvPr/>
        </p:nvSpPr>
        <p:spPr>
          <a:xfrm>
            <a:off x="8476488" y="2606040"/>
            <a:ext cx="2980944" cy="585216"/>
          </a:xfrm>
          <a:prstGeom prst="rect">
            <a:avLst/>
          </a:prstGeom>
          <a:noFill/>
          <a:ln/>
        </p:spPr>
        <p:txBody>
          <a:bodyPr wrap="square" lIns="0" tIns="0" rIns="0" bIns="0" rtlCol="0" anchor="b"/>
          <a:lstStyle/>
          <a:p>
            <a:pPr indent="0" marL="0">
              <a:buNone/>
            </a:pPr>
            <a:r>
              <a:rPr lang="en-US" sz="1800" b="1" dirty="0">
                <a:solidFill>
                  <a:schemeClr val="bg1"/>
                </a:solidFill>
              </a:rPr>
              <a:t>Live System Walkthrough</a:t>
            </a:r>
            <a:endParaRPr lang="en-US" sz="1800" dirty="0"/>
          </a:p>
        </p:txBody>
      </p:sp>
      <p:sp>
        <p:nvSpPr>
          <p:cNvPr id="15" name="agenda desc 03"/>
          <p:cNvSpPr txBox="1"/>
          <p:nvPr/>
        </p:nvSpPr>
        <p:spPr>
          <a:xfrm>
            <a:off x="8476488" y="3246120"/>
            <a:ext cx="2980944" cy="457200"/>
          </a:xfrm>
          <a:prstGeom prst="rect">
            <a:avLst/>
          </a:prstGeom>
          <a:noFill/>
          <a:ln/>
        </p:spPr>
        <p:txBody>
          <a:bodyPr wrap="square" lIns="0" tIns="0" rIns="0" bIns="0" rtlCol="0" anchor="t"/>
          <a:lstStyle/>
          <a:p>
            <a:pPr indent="0" marL="0">
              <a:buNone/>
            </a:pPr>
            <a:r>
              <a:rPr lang="en-US" sz="1400" dirty="0">
                <a:solidFill>
                  <a:schemeClr val="bg2"/>
                </a:solidFill>
              </a:rPr>
              <a:t>Dashboard, workflow and case management</a:t>
            </a:r>
            <a:endParaRPr lang="en-US" sz="1400" dirty="0"/>
          </a:p>
        </p:txBody>
      </p:sp>
      <p:sp>
        <p:nvSpPr>
          <p:cNvPr id="16" name="live demo tag"/>
          <p:cNvSpPr txBox="1"/>
          <p:nvPr/>
        </p:nvSpPr>
        <p:spPr>
          <a:xfrm>
            <a:off x="10314432" y="2130552"/>
            <a:ext cx="1005840" cy="292608"/>
          </a:xfrm>
          <a:prstGeom prst="roundRect">
            <a:avLst>
              <a:gd name="adj" fmla="val 50000"/>
            </a:avLst>
          </a:prstGeom>
          <a:solidFill>
            <a:schemeClr val="bg1"/>
          </a:solidFill>
          <a:ln/>
        </p:spPr>
        <p:txBody>
          <a:bodyPr wrap="square" lIns="0" tIns="0" rIns="0" bIns="0" rtlCol="0" anchor="ctr"/>
          <a:lstStyle/>
          <a:p>
            <a:pPr algn="ctr" indent="0" marL="0">
              <a:buNone/>
            </a:pPr>
            <a:r>
              <a:rPr lang="en-US" sz="1000" b="1" dirty="0">
                <a:solidFill>
                  <a:schemeClr val="accent1"/>
                </a:solidFill>
              </a:rPr>
              <a:t>LIVE DEMO</a:t>
            </a:r>
            <a:endParaRPr lang="en-US" sz="1000" dirty="0"/>
          </a:p>
        </p:txBody>
      </p:sp>
      <p:sp>
        <p:nvSpPr>
          <p:cNvPr id="17" name="agenda card 04"/>
          <p:cNvSpPr/>
          <p:nvPr/>
        </p:nvSpPr>
        <p:spPr>
          <a:xfrm>
            <a:off x="548640" y="4069080"/>
            <a:ext cx="3483864" cy="1965960"/>
          </a:xfrm>
          <a:prstGeom prst="roundRect">
            <a:avLst>
              <a:gd name="adj" fmla="val 5581"/>
            </a:avLst>
          </a:prstGeom>
          <a:solidFill>
            <a:schemeClr val="bg1"/>
          </a:solidFill>
          <a:ln w="9525">
            <a:solidFill>
              <a:schemeClr val="accent6">
                <a:alpha val="30000"/>
              </a:schemeClr>
            </a:solidFill>
            <a:prstDash val="solid"/>
          </a:ln>
          <a:effectLst>
            <a:outerShdw sx="100000" sy="100000" kx="0" ky="0" algn="bl" rotWithShape="0" blurRad="127000" dist="25400" dir="5400000">
              <a:srgbClr val="0B1F3A">
                <a:alpha val="10000"/>
              </a:srgbClr>
            </a:outerShdw>
          </a:effectLst>
        </p:spPr>
      </p:sp>
      <p:sp>
        <p:nvSpPr>
          <p:cNvPr id="18" name="agenda number 04"/>
          <p:cNvSpPr txBox="1"/>
          <p:nvPr/>
        </p:nvSpPr>
        <p:spPr>
          <a:xfrm>
            <a:off x="868680" y="4343400"/>
            <a:ext cx="1097280" cy="50292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04</a:t>
            </a:r>
            <a:endParaRPr lang="en-US" sz="3000" dirty="0"/>
          </a:p>
        </p:txBody>
      </p:sp>
      <p:sp>
        <p:nvSpPr>
          <p:cNvPr id="19" name="agenda title 04"/>
          <p:cNvSpPr txBox="1"/>
          <p:nvPr/>
        </p:nvSpPr>
        <p:spPr>
          <a:xfrm>
            <a:off x="868680" y="4892040"/>
            <a:ext cx="2980944" cy="585216"/>
          </a:xfrm>
          <a:prstGeom prst="rect">
            <a:avLst/>
          </a:prstGeom>
          <a:noFill/>
          <a:ln/>
        </p:spPr>
        <p:txBody>
          <a:bodyPr wrap="square" lIns="0" tIns="0" rIns="0" bIns="0" rtlCol="0" anchor="b"/>
          <a:lstStyle/>
          <a:p>
            <a:pPr indent="0" marL="0">
              <a:buNone/>
            </a:pPr>
            <a:r>
              <a:rPr lang="en-US" sz="1800" b="1" dirty="0">
                <a:solidFill>
                  <a:schemeClr val="tx1"/>
                </a:solidFill>
              </a:rPr>
              <a:t>Customer 360° &amp; Reports</a:t>
            </a:r>
            <a:endParaRPr lang="en-US" sz="1800" dirty="0"/>
          </a:p>
        </p:txBody>
      </p:sp>
      <p:sp>
        <p:nvSpPr>
          <p:cNvPr id="20" name="agenda desc 04"/>
          <p:cNvSpPr txBox="1"/>
          <p:nvPr/>
        </p:nvSpPr>
        <p:spPr>
          <a:xfrm>
            <a:off x="868680" y="5532120"/>
            <a:ext cx="2980944" cy="457200"/>
          </a:xfrm>
          <a:prstGeom prst="rect">
            <a:avLst/>
          </a:prstGeom>
          <a:noFill/>
          <a:ln/>
        </p:spPr>
        <p:txBody>
          <a:bodyPr wrap="square" lIns="0" tIns="0" rIns="0" bIns="0" rtlCol="0" anchor="t"/>
          <a:lstStyle/>
          <a:p>
            <a:pPr indent="0" marL="0">
              <a:buNone/>
            </a:pPr>
            <a:r>
              <a:rPr lang="en-US" sz="1400" dirty="0">
                <a:solidFill>
                  <a:schemeClr val="accent6"/>
                </a:solidFill>
              </a:rPr>
              <a:t>Consolidated view and regulatory MIS</a:t>
            </a:r>
            <a:endParaRPr lang="en-US" sz="1400" dirty="0"/>
          </a:p>
        </p:txBody>
      </p:sp>
      <p:sp>
        <p:nvSpPr>
          <p:cNvPr id="21" name="agenda card 05"/>
          <p:cNvSpPr/>
          <p:nvPr/>
        </p:nvSpPr>
        <p:spPr>
          <a:xfrm>
            <a:off x="4352544" y="4069080"/>
            <a:ext cx="3483864" cy="1965960"/>
          </a:xfrm>
          <a:prstGeom prst="roundRect">
            <a:avLst>
              <a:gd name="adj" fmla="val 5581"/>
            </a:avLst>
          </a:prstGeom>
          <a:solidFill>
            <a:schemeClr val="bg1"/>
          </a:solidFill>
          <a:ln w="9525">
            <a:solidFill>
              <a:schemeClr val="accent6">
                <a:alpha val="30000"/>
              </a:schemeClr>
            </a:solidFill>
            <a:prstDash val="solid"/>
          </a:ln>
          <a:effectLst>
            <a:outerShdw sx="100000" sy="100000" kx="0" ky="0" algn="bl" rotWithShape="0" blurRad="127000" dist="25400" dir="5400000">
              <a:srgbClr val="0B1F3A">
                <a:alpha val="10000"/>
              </a:srgbClr>
            </a:outerShdw>
          </a:effectLst>
        </p:spPr>
      </p:sp>
      <p:sp>
        <p:nvSpPr>
          <p:cNvPr id="22" name="agenda number 05"/>
          <p:cNvSpPr txBox="1"/>
          <p:nvPr/>
        </p:nvSpPr>
        <p:spPr>
          <a:xfrm>
            <a:off x="4672584" y="4343400"/>
            <a:ext cx="1097280" cy="50292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05</a:t>
            </a:r>
            <a:endParaRPr lang="en-US" sz="3000" dirty="0"/>
          </a:p>
        </p:txBody>
      </p:sp>
      <p:sp>
        <p:nvSpPr>
          <p:cNvPr id="23" name="agenda title 05"/>
          <p:cNvSpPr txBox="1"/>
          <p:nvPr/>
        </p:nvSpPr>
        <p:spPr>
          <a:xfrm>
            <a:off x="4672584" y="4892040"/>
            <a:ext cx="2980944" cy="585216"/>
          </a:xfrm>
          <a:prstGeom prst="rect">
            <a:avLst/>
          </a:prstGeom>
          <a:noFill/>
          <a:ln/>
        </p:spPr>
        <p:txBody>
          <a:bodyPr wrap="square" lIns="0" tIns="0" rIns="0" bIns="0" rtlCol="0" anchor="b"/>
          <a:lstStyle/>
          <a:p>
            <a:pPr indent="0" marL="0">
              <a:buNone/>
            </a:pPr>
            <a:r>
              <a:rPr lang="en-US" sz="1800" b="1" dirty="0">
                <a:solidFill>
                  <a:schemeClr val="tx1"/>
                </a:solidFill>
              </a:rPr>
              <a:t>Security &amp; Compliance</a:t>
            </a:r>
            <a:endParaRPr lang="en-US" sz="1800" dirty="0"/>
          </a:p>
        </p:txBody>
      </p:sp>
      <p:sp>
        <p:nvSpPr>
          <p:cNvPr id="24" name="agenda desc 05"/>
          <p:cNvSpPr txBox="1"/>
          <p:nvPr/>
        </p:nvSpPr>
        <p:spPr>
          <a:xfrm>
            <a:off x="4672584" y="5532120"/>
            <a:ext cx="2980944" cy="457200"/>
          </a:xfrm>
          <a:prstGeom prst="rect">
            <a:avLst/>
          </a:prstGeom>
          <a:noFill/>
          <a:ln/>
        </p:spPr>
        <p:txBody>
          <a:bodyPr wrap="square" lIns="0" tIns="0" rIns="0" bIns="0" rtlCol="0" anchor="t"/>
          <a:lstStyle/>
          <a:p>
            <a:pPr indent="0" marL="0">
              <a:buNone/>
            </a:pPr>
            <a:r>
              <a:rPr lang="en-US" sz="1400" dirty="0">
                <a:solidFill>
                  <a:schemeClr val="accent6"/>
                </a:solidFill>
              </a:rPr>
              <a:t>Access control, audit trail and resilience</a:t>
            </a:r>
            <a:endParaRPr lang="en-US" sz="1400" dirty="0"/>
          </a:p>
        </p:txBody>
      </p:sp>
      <p:sp>
        <p:nvSpPr>
          <p:cNvPr id="25" name="agenda card 06"/>
          <p:cNvSpPr/>
          <p:nvPr/>
        </p:nvSpPr>
        <p:spPr>
          <a:xfrm>
            <a:off x="8156448" y="4069080"/>
            <a:ext cx="3483864" cy="1965960"/>
          </a:xfrm>
          <a:prstGeom prst="roundRect">
            <a:avLst>
              <a:gd name="adj" fmla="val 5581"/>
            </a:avLst>
          </a:prstGeom>
          <a:solidFill>
            <a:schemeClr val="bg1"/>
          </a:solidFill>
          <a:ln w="9525">
            <a:solidFill>
              <a:schemeClr val="accent6">
                <a:alpha val="30000"/>
              </a:schemeClr>
            </a:solidFill>
            <a:prstDash val="solid"/>
          </a:ln>
          <a:effectLst>
            <a:outerShdw sx="100000" sy="100000" kx="0" ky="0" algn="bl" rotWithShape="0" blurRad="127000" dist="25400" dir="5400000">
              <a:srgbClr val="0B1F3A">
                <a:alpha val="10000"/>
              </a:srgbClr>
            </a:outerShdw>
          </a:effectLst>
        </p:spPr>
      </p:sp>
      <p:sp>
        <p:nvSpPr>
          <p:cNvPr id="26" name="agenda number 06"/>
          <p:cNvSpPr txBox="1"/>
          <p:nvPr/>
        </p:nvSpPr>
        <p:spPr>
          <a:xfrm>
            <a:off x="8476488" y="4343400"/>
            <a:ext cx="1097280" cy="502920"/>
          </a:xfrm>
          <a:prstGeom prst="rect">
            <a:avLst/>
          </a:prstGeom>
          <a:noFill/>
          <a:ln/>
        </p:spPr>
        <p:txBody>
          <a:bodyPr wrap="square" lIns="0" tIns="0" rIns="0" bIns="0" rtlCol="0" anchor="t"/>
          <a:lstStyle/>
          <a:p>
            <a:pPr indent="0" marL="0">
              <a:buNone/>
            </a:pPr>
            <a:r>
              <a:rPr lang="en-US" sz="3000" b="1" dirty="0">
                <a:solidFill>
                  <a:schemeClr val="accent1"/>
                </a:solidFill>
                <a:latin typeface="+mj-lt" pitchFamily="34" charset="0"/>
                <a:ea typeface="+mj-lt" pitchFamily="34" charset="-122"/>
                <a:cs typeface="+mj-lt" pitchFamily="34" charset="-120"/>
              </a:rPr>
              <a:t>06</a:t>
            </a:r>
            <a:endParaRPr lang="en-US" sz="3000" dirty="0"/>
          </a:p>
        </p:txBody>
      </p:sp>
      <p:sp>
        <p:nvSpPr>
          <p:cNvPr id="27" name="agenda title 06"/>
          <p:cNvSpPr txBox="1"/>
          <p:nvPr/>
        </p:nvSpPr>
        <p:spPr>
          <a:xfrm>
            <a:off x="8476488" y="4892040"/>
            <a:ext cx="2980944" cy="585216"/>
          </a:xfrm>
          <a:prstGeom prst="rect">
            <a:avLst/>
          </a:prstGeom>
          <a:noFill/>
          <a:ln/>
        </p:spPr>
        <p:txBody>
          <a:bodyPr wrap="square" lIns="0" tIns="0" rIns="0" bIns="0" rtlCol="0" anchor="b"/>
          <a:lstStyle/>
          <a:p>
            <a:pPr indent="0" marL="0">
              <a:buNone/>
            </a:pPr>
            <a:r>
              <a:rPr lang="en-US" sz="1800" b="1" dirty="0">
                <a:solidFill>
                  <a:schemeClr val="tx1"/>
                </a:solidFill>
              </a:rPr>
              <a:t>Implementation &amp; Next Steps</a:t>
            </a:r>
            <a:endParaRPr lang="en-US" sz="1800" dirty="0"/>
          </a:p>
        </p:txBody>
      </p:sp>
      <p:sp>
        <p:nvSpPr>
          <p:cNvPr id="28" name="agenda desc 06"/>
          <p:cNvSpPr txBox="1"/>
          <p:nvPr/>
        </p:nvSpPr>
        <p:spPr>
          <a:xfrm>
            <a:off x="8476488" y="5532120"/>
            <a:ext cx="2980944" cy="457200"/>
          </a:xfrm>
          <a:prstGeom prst="rect">
            <a:avLst/>
          </a:prstGeom>
          <a:noFill/>
          <a:ln/>
        </p:spPr>
        <p:txBody>
          <a:bodyPr wrap="square" lIns="0" tIns="0" rIns="0" bIns="0" rtlCol="0" anchor="t"/>
          <a:lstStyle/>
          <a:p>
            <a:pPr indent="0" marL="0">
              <a:buNone/>
            </a:pPr>
            <a:r>
              <a:rPr lang="en-US" sz="1400" dirty="0">
                <a:solidFill>
                  <a:schemeClr val="accent6"/>
                </a:solidFill>
              </a:rPr>
              <a:t>Delivery phases and support model</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76656"/>
          </a:xfrm>
          <a:prstGeom prst="rect">
            <a:avLst/>
          </a:prstGeom>
          <a:noFill/>
          <a:ln/>
        </p:spPr>
        <p:txBody>
          <a:bodyPr wrap="square" lIns="0" tIns="0" rIns="0" bIns="0" rtlCol="0" anchor="ctr"/>
          <a:lstStyle/>
          <a:p>
            <a:pPr algn="l" indent="0" marL="0">
              <a:buNone/>
            </a:pPr>
            <a:r>
              <a:rPr lang="en-US" sz="3600" b="1" dirty="0">
                <a:solidFill>
                  <a:schemeClr val="tx2"/>
                </a:solidFill>
              </a:rPr>
              <a:t>Understanding Your Requirement</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algn="l" indent="0" marL="0">
              <a:buNone/>
            </a:pPr>
            <a:r>
              <a:rPr lang="en-US" sz="1600" dirty="0">
                <a:solidFill>
                  <a:schemeClr val="accent6"/>
                </a:solidFill>
              </a:rPr>
              <a:t>Moving the Legal Division from fragmented, manual tracking to one centralized, insight-driven platform</a:t>
            </a:r>
            <a:endParaRPr lang="en-US" sz="1600" dirty="0"/>
          </a:p>
        </p:txBody>
      </p:sp>
      <p:sp>
        <p:nvSpPr>
          <p:cNvPr id="4" name="today card"/>
          <p:cNvSpPr/>
          <p:nvPr/>
        </p:nvSpPr>
        <p:spPr>
          <a:xfrm>
            <a:off x="548640" y="1737360"/>
            <a:ext cx="5230368" cy="4206240"/>
          </a:xfrm>
          <a:prstGeom prst="roundRect">
            <a:avLst>
              <a:gd name="adj" fmla="val 3043"/>
            </a:avLst>
          </a:prstGeom>
          <a:solidFill>
            <a:schemeClr val="bg1"/>
          </a:solidFill>
          <a:ln w="9525">
            <a:solidFill>
              <a:schemeClr val="accent6">
                <a:alpha val="30000"/>
              </a:schemeClr>
            </a:solidFill>
            <a:prstDash val="solid"/>
          </a:ln>
          <a:effectLst>
            <a:outerShdw sx="100000" sy="100000" kx="0" ky="0" algn="bl" rotWithShape="0" blurRad="127000" dist="25400" dir="5400000">
              <a:srgbClr val="0B1F3A">
                <a:alpha val="10000"/>
              </a:srgbClr>
            </a:outerShdw>
          </a:effectLst>
        </p:spPr>
      </p:sp>
      <p:sp>
        <p:nvSpPr>
          <p:cNvPr id="5" name="lms card"/>
          <p:cNvSpPr/>
          <p:nvPr/>
        </p:nvSpPr>
        <p:spPr>
          <a:xfrm>
            <a:off x="6412687" y="1737360"/>
            <a:ext cx="5230368" cy="4206240"/>
          </a:xfrm>
          <a:prstGeom prst="roundRect">
            <a:avLst>
              <a:gd name="adj" fmla="val 3043"/>
            </a:avLst>
          </a:prstGeom>
          <a:solidFill>
            <a:schemeClr val="bg2"/>
          </a:solidFill>
          <a:ln/>
        </p:spPr>
      </p:sp>
      <p:sp>
        <p:nvSpPr>
          <p:cNvPr id="6" name="today icon circle"/>
          <p:cNvSpPr/>
          <p:nvPr/>
        </p:nvSpPr>
        <p:spPr>
          <a:xfrm>
            <a:off x="822960" y="1975104"/>
            <a:ext cx="502920" cy="502920"/>
          </a:xfrm>
          <a:prstGeom prst="ellipse">
            <a:avLst/>
          </a:prstGeom>
          <a:solidFill>
            <a:schemeClr val="accent2"/>
          </a:solidFill>
          <a:ln/>
        </p:spPr>
      </p:sp>
      <p:pic>
        <p:nvPicPr>
          <p:cNvPr id="7" name="today icon glyph" descr="triangle alert icon">    </p:cNvPr>
          <p:cNvPicPr>
            <a:picLocks noChangeAspect="1"/>
          </p:cNvPicPr>
          <p:nvPr/>
        </p:nvPicPr>
        <p:blipFill>
          <a:blip r:embed="rId1"/>
          <a:stretch>
            <a:fillRect/>
          </a:stretch>
        </p:blipFill>
        <p:spPr>
          <a:xfrm>
            <a:off x="943661" y="2095805"/>
            <a:ext cx="261518" cy="261518"/>
          </a:xfrm>
          <a:prstGeom prst="rect">
            <a:avLst/>
          </a:prstGeom>
        </p:spPr>
      </p:pic>
      <p:sp>
        <p:nvSpPr>
          <p:cNvPr id="8" name="Text 5"/>
          <p:cNvSpPr txBox="1"/>
          <p:nvPr/>
        </p:nvSpPr>
        <p:spPr>
          <a:xfrm>
            <a:off x="1463040" y="1947672"/>
            <a:ext cx="4023360" cy="310896"/>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Today</a:t>
            </a:r>
            <a:endParaRPr lang="en-US" sz="2000" dirty="0"/>
          </a:p>
        </p:txBody>
      </p:sp>
      <p:sp>
        <p:nvSpPr>
          <p:cNvPr id="9" name="Text 6"/>
          <p:cNvSpPr txBox="1"/>
          <p:nvPr/>
        </p:nvSpPr>
        <p:spPr>
          <a:xfrm>
            <a:off x="1463040" y="2258568"/>
            <a:ext cx="4023360" cy="256032"/>
          </a:xfrm>
          <a:prstGeom prst="rect">
            <a:avLst/>
          </a:prstGeom>
          <a:noFill/>
          <a:ln/>
        </p:spPr>
        <p:txBody>
          <a:bodyPr wrap="square" lIns="0" tIns="0" rIns="0" bIns="0" rtlCol="0" anchor="t"/>
          <a:lstStyle/>
          <a:p>
            <a:pPr indent="0" marL="0">
              <a:buNone/>
            </a:pPr>
            <a:r>
              <a:rPr lang="en-US" sz="1300" dirty="0">
                <a:solidFill>
                  <a:schemeClr val="accent6"/>
                </a:solidFill>
              </a:rPr>
              <a:t>Challenges in the current process</a:t>
            </a:r>
            <a:endParaRPr lang="en-US" sz="1300" dirty="0"/>
          </a:p>
        </p:txBody>
      </p:sp>
      <p:sp>
        <p:nvSpPr>
          <p:cNvPr id="10" name="lms icon circle"/>
          <p:cNvSpPr/>
          <p:nvPr/>
        </p:nvSpPr>
        <p:spPr>
          <a:xfrm>
            <a:off x="6687007" y="1975104"/>
            <a:ext cx="502920" cy="502920"/>
          </a:xfrm>
          <a:prstGeom prst="ellipse">
            <a:avLst/>
          </a:prstGeom>
          <a:solidFill>
            <a:schemeClr val="accent1"/>
          </a:solidFill>
          <a:ln/>
        </p:spPr>
      </p:sp>
      <p:pic>
        <p:nvPicPr>
          <p:cNvPr id="11" name="lms icon glyph" descr="circle check icon">    </p:cNvPr>
          <p:cNvPicPr>
            <a:picLocks noChangeAspect="1"/>
          </p:cNvPicPr>
          <p:nvPr/>
        </p:nvPicPr>
        <p:blipFill>
          <a:blip r:embed="rId2"/>
          <a:stretch>
            <a:fillRect/>
          </a:stretch>
        </p:blipFill>
        <p:spPr>
          <a:xfrm>
            <a:off x="6807708" y="2095805"/>
            <a:ext cx="261518" cy="261518"/>
          </a:xfrm>
          <a:prstGeom prst="rect">
            <a:avLst/>
          </a:prstGeom>
        </p:spPr>
      </p:pic>
      <p:sp>
        <p:nvSpPr>
          <p:cNvPr id="12" name="Text 8"/>
          <p:cNvSpPr txBox="1"/>
          <p:nvPr/>
        </p:nvSpPr>
        <p:spPr>
          <a:xfrm>
            <a:off x="7327087" y="1947672"/>
            <a:ext cx="4023360" cy="310896"/>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With the LMS</a:t>
            </a:r>
            <a:endParaRPr lang="en-US" sz="2000" dirty="0"/>
          </a:p>
        </p:txBody>
      </p:sp>
      <p:sp>
        <p:nvSpPr>
          <p:cNvPr id="13" name="Text 9"/>
          <p:cNvSpPr txBox="1"/>
          <p:nvPr/>
        </p:nvSpPr>
        <p:spPr>
          <a:xfrm>
            <a:off x="7327087" y="2258568"/>
            <a:ext cx="4023360" cy="256032"/>
          </a:xfrm>
          <a:prstGeom prst="rect">
            <a:avLst/>
          </a:prstGeom>
          <a:noFill/>
          <a:ln/>
        </p:spPr>
        <p:txBody>
          <a:bodyPr wrap="square" lIns="0" tIns="0" rIns="0" bIns="0" rtlCol="0" anchor="t"/>
          <a:lstStyle/>
          <a:p>
            <a:pPr indent="0" marL="0">
              <a:buNone/>
            </a:pPr>
            <a:r>
              <a:rPr lang="en-US" sz="1300" dirty="0">
                <a:solidFill>
                  <a:schemeClr val="accent6"/>
                </a:solidFill>
              </a:rPr>
              <a:t>What the platform delivers</a:t>
            </a:r>
            <a:endParaRPr lang="en-US" sz="1300" dirty="0"/>
          </a:p>
        </p:txBody>
      </p:sp>
      <p:pic>
        <p:nvPicPr>
          <p:cNvPr id="14" name="today item 1 icon" descr="circle x icon">    </p:cNvPr>
          <p:cNvPicPr>
            <a:picLocks noChangeAspect="1"/>
          </p:cNvPicPr>
          <p:nvPr/>
        </p:nvPicPr>
        <p:blipFill>
          <a:blip r:embed="rId3"/>
          <a:stretch>
            <a:fillRect/>
          </a:stretch>
        </p:blipFill>
        <p:spPr>
          <a:xfrm>
            <a:off x="868680" y="2871216"/>
            <a:ext cx="237744" cy="237744"/>
          </a:xfrm>
          <a:prstGeom prst="rect">
            <a:avLst/>
          </a:prstGeom>
        </p:spPr>
      </p:pic>
      <p:sp>
        <p:nvSpPr>
          <p:cNvPr id="15" name="today item 1"/>
          <p:cNvSpPr txBox="1"/>
          <p:nvPr/>
        </p:nvSpPr>
        <p:spPr>
          <a:xfrm>
            <a:off x="1280160" y="2834640"/>
            <a:ext cx="4224528" cy="512064"/>
          </a:xfrm>
          <a:prstGeom prst="rect">
            <a:avLst/>
          </a:prstGeom>
          <a:noFill/>
          <a:ln/>
        </p:spPr>
        <p:txBody>
          <a:bodyPr wrap="square" lIns="0" tIns="0" rIns="0" bIns="0" rtlCol="0" anchor="t"/>
          <a:lstStyle/>
          <a:p>
            <a:pPr indent="0" marL="0">
              <a:buNone/>
            </a:pPr>
            <a:r>
              <a:rPr lang="en-US" sz="1500" dirty="0">
                <a:solidFill>
                  <a:schemeClr val="tx1"/>
                </a:solidFill>
              </a:rPr>
              <a:t>Case tracking spread across branches, files and spreadsheets</a:t>
            </a:r>
            <a:endParaRPr lang="en-US" sz="1500" dirty="0"/>
          </a:p>
        </p:txBody>
      </p:sp>
      <p:pic>
        <p:nvPicPr>
          <p:cNvPr id="16" name="lms item 1 icon" descr="circle check icon">    </p:cNvPr>
          <p:cNvPicPr>
            <a:picLocks noChangeAspect="1"/>
          </p:cNvPicPr>
          <p:nvPr/>
        </p:nvPicPr>
        <p:blipFill>
          <a:blip r:embed="rId4"/>
          <a:stretch>
            <a:fillRect/>
          </a:stretch>
        </p:blipFill>
        <p:spPr>
          <a:xfrm>
            <a:off x="6732727" y="2871216"/>
            <a:ext cx="237744" cy="237744"/>
          </a:xfrm>
          <a:prstGeom prst="rect">
            <a:avLst/>
          </a:prstGeom>
        </p:spPr>
      </p:pic>
      <p:sp>
        <p:nvSpPr>
          <p:cNvPr id="17" name="lms item 1"/>
          <p:cNvSpPr txBox="1"/>
          <p:nvPr/>
        </p:nvSpPr>
        <p:spPr>
          <a:xfrm>
            <a:off x="7144207" y="2834640"/>
            <a:ext cx="4224528" cy="512064"/>
          </a:xfrm>
          <a:prstGeom prst="rect">
            <a:avLst/>
          </a:prstGeom>
          <a:noFill/>
          <a:ln/>
        </p:spPr>
        <p:txBody>
          <a:bodyPr wrap="square" lIns="0" tIns="0" rIns="0" bIns="0" rtlCol="0" anchor="t"/>
          <a:lstStyle/>
          <a:p>
            <a:pPr indent="0" marL="0">
              <a:buNone/>
            </a:pPr>
            <a:r>
              <a:rPr lang="en-US" sz="1500" dirty="0">
                <a:solidFill>
                  <a:schemeClr val="tx1"/>
                </a:solidFill>
              </a:rPr>
              <a:t>One platform with a 360° view of every account and case</a:t>
            </a:r>
            <a:endParaRPr lang="en-US" sz="1500" dirty="0"/>
          </a:p>
        </p:txBody>
      </p:sp>
      <p:pic>
        <p:nvPicPr>
          <p:cNvPr id="18" name="today item 2 icon" descr="circle x icon">    </p:cNvPr>
          <p:cNvPicPr>
            <a:picLocks noChangeAspect="1"/>
          </p:cNvPicPr>
          <p:nvPr/>
        </p:nvPicPr>
        <p:blipFill>
          <a:blip r:embed="rId5"/>
          <a:stretch>
            <a:fillRect/>
          </a:stretch>
        </p:blipFill>
        <p:spPr>
          <a:xfrm>
            <a:off x="868680" y="3474720"/>
            <a:ext cx="237744" cy="237744"/>
          </a:xfrm>
          <a:prstGeom prst="rect">
            <a:avLst/>
          </a:prstGeom>
        </p:spPr>
      </p:pic>
      <p:sp>
        <p:nvSpPr>
          <p:cNvPr id="19" name="today item 2"/>
          <p:cNvSpPr txBox="1"/>
          <p:nvPr/>
        </p:nvSpPr>
        <p:spPr>
          <a:xfrm>
            <a:off x="1280160" y="3438144"/>
            <a:ext cx="4224528" cy="512064"/>
          </a:xfrm>
          <a:prstGeom prst="rect">
            <a:avLst/>
          </a:prstGeom>
          <a:noFill/>
          <a:ln/>
        </p:spPr>
        <p:txBody>
          <a:bodyPr wrap="square" lIns="0" tIns="0" rIns="0" bIns="0" rtlCol="0" anchor="t"/>
          <a:lstStyle/>
          <a:p>
            <a:pPr indent="0" marL="0">
              <a:buNone/>
            </a:pPr>
            <a:r>
              <a:rPr lang="en-US" sz="1500" dirty="0">
                <a:solidFill>
                  <a:schemeClr val="tx1"/>
                </a:solidFill>
              </a:rPr>
              <a:t>Risk of missed hearings, limitation dates and dormant cases</a:t>
            </a:r>
            <a:endParaRPr lang="en-US" sz="1500" dirty="0"/>
          </a:p>
        </p:txBody>
      </p:sp>
      <p:pic>
        <p:nvPicPr>
          <p:cNvPr id="20" name="lms item 2 icon" descr="circle check icon">    </p:cNvPr>
          <p:cNvPicPr>
            <a:picLocks noChangeAspect="1"/>
          </p:cNvPicPr>
          <p:nvPr/>
        </p:nvPicPr>
        <p:blipFill>
          <a:blip r:embed="rId6"/>
          <a:stretch>
            <a:fillRect/>
          </a:stretch>
        </p:blipFill>
        <p:spPr>
          <a:xfrm>
            <a:off x="6732727" y="3474720"/>
            <a:ext cx="237744" cy="237744"/>
          </a:xfrm>
          <a:prstGeom prst="rect">
            <a:avLst/>
          </a:prstGeom>
        </p:spPr>
      </p:pic>
      <p:sp>
        <p:nvSpPr>
          <p:cNvPr id="21" name="lms item 2"/>
          <p:cNvSpPr txBox="1"/>
          <p:nvPr/>
        </p:nvSpPr>
        <p:spPr>
          <a:xfrm>
            <a:off x="7144207" y="3438144"/>
            <a:ext cx="4224528" cy="512064"/>
          </a:xfrm>
          <a:prstGeom prst="rect">
            <a:avLst/>
          </a:prstGeom>
          <a:noFill/>
          <a:ln/>
        </p:spPr>
        <p:txBody>
          <a:bodyPr wrap="square" lIns="0" tIns="0" rIns="0" bIns="0" rtlCol="0" anchor="t"/>
          <a:lstStyle/>
          <a:p>
            <a:pPr indent="0" marL="0">
              <a:buNone/>
            </a:pPr>
            <a:r>
              <a:rPr lang="en-US" sz="1500" dirty="0">
                <a:solidFill>
                  <a:schemeClr val="tx1"/>
                </a:solidFill>
              </a:rPr>
              <a:t>Automated alerts for hearings, limitation, filing and appeals</a:t>
            </a:r>
            <a:endParaRPr lang="en-US" sz="1500" dirty="0"/>
          </a:p>
        </p:txBody>
      </p:sp>
      <p:pic>
        <p:nvPicPr>
          <p:cNvPr id="22" name="today item 3 icon" descr="circle x icon">    </p:cNvPr>
          <p:cNvPicPr>
            <a:picLocks noChangeAspect="1"/>
          </p:cNvPicPr>
          <p:nvPr/>
        </p:nvPicPr>
        <p:blipFill>
          <a:blip r:embed="rId7"/>
          <a:stretch>
            <a:fillRect/>
          </a:stretch>
        </p:blipFill>
        <p:spPr>
          <a:xfrm>
            <a:off x="868680" y="4078224"/>
            <a:ext cx="237744" cy="237744"/>
          </a:xfrm>
          <a:prstGeom prst="rect">
            <a:avLst/>
          </a:prstGeom>
        </p:spPr>
      </p:pic>
      <p:sp>
        <p:nvSpPr>
          <p:cNvPr id="23" name="today item 3"/>
          <p:cNvSpPr txBox="1"/>
          <p:nvPr/>
        </p:nvSpPr>
        <p:spPr>
          <a:xfrm>
            <a:off x="1280160" y="4041648"/>
            <a:ext cx="4224528" cy="512064"/>
          </a:xfrm>
          <a:prstGeom prst="rect">
            <a:avLst/>
          </a:prstGeom>
          <a:noFill/>
          <a:ln/>
        </p:spPr>
        <p:txBody>
          <a:bodyPr wrap="square" lIns="0" tIns="0" rIns="0" bIns="0" rtlCol="0" anchor="t"/>
          <a:lstStyle/>
          <a:p>
            <a:pPr indent="0" marL="0">
              <a:buNone/>
            </a:pPr>
            <a:r>
              <a:rPr lang="en-US" sz="1500" dirty="0">
                <a:solidFill>
                  <a:schemeClr val="tx1"/>
                </a:solidFill>
              </a:rPr>
              <a:t>Limited visibility of exposure and recovery per account</a:t>
            </a:r>
            <a:endParaRPr lang="en-US" sz="1500" dirty="0"/>
          </a:p>
        </p:txBody>
      </p:sp>
      <p:pic>
        <p:nvPicPr>
          <p:cNvPr id="24" name="lms item 3 icon" descr="circle check icon">    </p:cNvPr>
          <p:cNvPicPr>
            <a:picLocks noChangeAspect="1"/>
          </p:cNvPicPr>
          <p:nvPr/>
        </p:nvPicPr>
        <p:blipFill>
          <a:blip r:embed="rId8"/>
          <a:stretch>
            <a:fillRect/>
          </a:stretch>
        </p:blipFill>
        <p:spPr>
          <a:xfrm>
            <a:off x="6732727" y="4078224"/>
            <a:ext cx="237744" cy="237744"/>
          </a:xfrm>
          <a:prstGeom prst="rect">
            <a:avLst/>
          </a:prstGeom>
        </p:spPr>
      </p:pic>
      <p:sp>
        <p:nvSpPr>
          <p:cNvPr id="25" name="lms item 3"/>
          <p:cNvSpPr txBox="1"/>
          <p:nvPr/>
        </p:nvSpPr>
        <p:spPr>
          <a:xfrm>
            <a:off x="7144207" y="4041648"/>
            <a:ext cx="4224528" cy="512064"/>
          </a:xfrm>
          <a:prstGeom prst="rect">
            <a:avLst/>
          </a:prstGeom>
          <a:noFill/>
          <a:ln/>
        </p:spPr>
        <p:txBody>
          <a:bodyPr wrap="square" lIns="0" tIns="0" rIns="0" bIns="0" rtlCol="0" anchor="t"/>
          <a:lstStyle/>
          <a:p>
            <a:pPr indent="0" marL="0">
              <a:buNone/>
            </a:pPr>
            <a:r>
              <a:rPr lang="en-US" sz="1500" dirty="0">
                <a:solidFill>
                  <a:schemeClr val="tx1"/>
                </a:solidFill>
              </a:rPr>
              <a:t>CBS-linked balances, statements and recovery tracking</a:t>
            </a:r>
            <a:endParaRPr lang="en-US" sz="1500" dirty="0"/>
          </a:p>
        </p:txBody>
      </p:sp>
      <p:pic>
        <p:nvPicPr>
          <p:cNvPr id="26" name="today item 4 icon" descr="circle x icon">    </p:cNvPr>
          <p:cNvPicPr>
            <a:picLocks noChangeAspect="1"/>
          </p:cNvPicPr>
          <p:nvPr/>
        </p:nvPicPr>
        <p:blipFill>
          <a:blip r:embed="rId9"/>
          <a:stretch>
            <a:fillRect/>
          </a:stretch>
        </p:blipFill>
        <p:spPr>
          <a:xfrm>
            <a:off x="868680" y="4681728"/>
            <a:ext cx="237744" cy="237744"/>
          </a:xfrm>
          <a:prstGeom prst="rect">
            <a:avLst/>
          </a:prstGeom>
        </p:spPr>
      </p:pic>
      <p:sp>
        <p:nvSpPr>
          <p:cNvPr id="27" name="today item 4"/>
          <p:cNvSpPr txBox="1"/>
          <p:nvPr/>
        </p:nvSpPr>
        <p:spPr>
          <a:xfrm>
            <a:off x="1280160" y="4645152"/>
            <a:ext cx="4224528" cy="512064"/>
          </a:xfrm>
          <a:prstGeom prst="rect">
            <a:avLst/>
          </a:prstGeom>
          <a:noFill/>
          <a:ln/>
        </p:spPr>
        <p:txBody>
          <a:bodyPr wrap="square" lIns="0" tIns="0" rIns="0" bIns="0" rtlCol="0" anchor="t"/>
          <a:lstStyle/>
          <a:p>
            <a:pPr indent="0" marL="0">
              <a:buNone/>
            </a:pPr>
            <a:r>
              <a:rPr lang="en-US" sz="1500" dirty="0">
                <a:solidFill>
                  <a:schemeClr val="tx1"/>
                </a:solidFill>
              </a:rPr>
              <a:t>Notices, opinions, documents and lawyer bills held manually</a:t>
            </a:r>
            <a:endParaRPr lang="en-US" sz="1500" dirty="0"/>
          </a:p>
        </p:txBody>
      </p:sp>
      <p:pic>
        <p:nvPicPr>
          <p:cNvPr id="28" name="lms item 4 icon" descr="circle check icon">    </p:cNvPr>
          <p:cNvPicPr>
            <a:picLocks noChangeAspect="1"/>
          </p:cNvPicPr>
          <p:nvPr/>
        </p:nvPicPr>
        <p:blipFill>
          <a:blip r:embed="rId10"/>
          <a:stretch>
            <a:fillRect/>
          </a:stretch>
        </p:blipFill>
        <p:spPr>
          <a:xfrm>
            <a:off x="6732727" y="4681728"/>
            <a:ext cx="237744" cy="237744"/>
          </a:xfrm>
          <a:prstGeom prst="rect">
            <a:avLst/>
          </a:prstGeom>
        </p:spPr>
      </p:pic>
      <p:sp>
        <p:nvSpPr>
          <p:cNvPr id="29" name="lms item 4"/>
          <p:cNvSpPr txBox="1"/>
          <p:nvPr/>
        </p:nvSpPr>
        <p:spPr>
          <a:xfrm>
            <a:off x="7144207" y="4645152"/>
            <a:ext cx="4224528" cy="512064"/>
          </a:xfrm>
          <a:prstGeom prst="rect">
            <a:avLst/>
          </a:prstGeom>
          <a:noFill/>
          <a:ln/>
        </p:spPr>
        <p:txBody>
          <a:bodyPr wrap="square" lIns="0" tIns="0" rIns="0" bIns="0" rtlCol="0" anchor="t"/>
          <a:lstStyle/>
          <a:p>
            <a:pPr indent="0" marL="0">
              <a:buNone/>
            </a:pPr>
            <a:r>
              <a:rPr lang="en-US" sz="1500" dirty="0">
                <a:solidFill>
                  <a:schemeClr val="tx1"/>
                </a:solidFill>
              </a:rPr>
              <a:t>Central repository with maker–checker approval and audit trail</a:t>
            </a:r>
            <a:endParaRPr lang="en-US" sz="1500" dirty="0"/>
          </a:p>
        </p:txBody>
      </p:sp>
      <p:pic>
        <p:nvPicPr>
          <p:cNvPr id="30" name="today item 5 icon" descr="circle x icon">    </p:cNvPr>
          <p:cNvPicPr>
            <a:picLocks noChangeAspect="1"/>
          </p:cNvPicPr>
          <p:nvPr/>
        </p:nvPicPr>
        <p:blipFill>
          <a:blip r:embed="rId11"/>
          <a:stretch>
            <a:fillRect/>
          </a:stretch>
        </p:blipFill>
        <p:spPr>
          <a:xfrm>
            <a:off x="868680" y="5285232"/>
            <a:ext cx="237744" cy="237744"/>
          </a:xfrm>
          <a:prstGeom prst="rect">
            <a:avLst/>
          </a:prstGeom>
        </p:spPr>
      </p:pic>
      <p:sp>
        <p:nvSpPr>
          <p:cNvPr id="31" name="today item 5"/>
          <p:cNvSpPr txBox="1"/>
          <p:nvPr/>
        </p:nvSpPr>
        <p:spPr>
          <a:xfrm>
            <a:off x="1280160" y="5248656"/>
            <a:ext cx="4224528" cy="512064"/>
          </a:xfrm>
          <a:prstGeom prst="rect">
            <a:avLst/>
          </a:prstGeom>
          <a:noFill/>
          <a:ln/>
        </p:spPr>
        <p:txBody>
          <a:bodyPr wrap="square" lIns="0" tIns="0" rIns="0" bIns="0" rtlCol="0" anchor="t"/>
          <a:lstStyle/>
          <a:p>
            <a:pPr indent="0" marL="0">
              <a:buNone/>
            </a:pPr>
            <a:r>
              <a:rPr lang="en-US" sz="1500" dirty="0">
                <a:solidFill>
                  <a:schemeClr val="tx1"/>
                </a:solidFill>
              </a:rPr>
              <a:t>Heavy manual effort to compile Bangladesh Bank reports</a:t>
            </a:r>
            <a:endParaRPr lang="en-US" sz="1500" dirty="0"/>
          </a:p>
        </p:txBody>
      </p:sp>
      <p:pic>
        <p:nvPicPr>
          <p:cNvPr id="32" name="lms item 5 icon" descr="circle check icon">    </p:cNvPr>
          <p:cNvPicPr>
            <a:picLocks noChangeAspect="1"/>
          </p:cNvPicPr>
          <p:nvPr/>
        </p:nvPicPr>
        <p:blipFill>
          <a:blip r:embed="rId12"/>
          <a:stretch>
            <a:fillRect/>
          </a:stretch>
        </p:blipFill>
        <p:spPr>
          <a:xfrm>
            <a:off x="6732727" y="5285232"/>
            <a:ext cx="237744" cy="237744"/>
          </a:xfrm>
          <a:prstGeom prst="rect">
            <a:avLst/>
          </a:prstGeom>
        </p:spPr>
      </p:pic>
      <p:sp>
        <p:nvSpPr>
          <p:cNvPr id="33" name="lms item 5"/>
          <p:cNvSpPr txBox="1"/>
          <p:nvPr/>
        </p:nvSpPr>
        <p:spPr>
          <a:xfrm>
            <a:off x="7144207" y="5248656"/>
            <a:ext cx="4224528" cy="512064"/>
          </a:xfrm>
          <a:prstGeom prst="rect">
            <a:avLst/>
          </a:prstGeom>
          <a:noFill/>
          <a:ln/>
        </p:spPr>
        <p:txBody>
          <a:bodyPr wrap="square" lIns="0" tIns="0" rIns="0" bIns="0" rtlCol="0" anchor="t"/>
          <a:lstStyle/>
          <a:p>
            <a:pPr indent="0" marL="0">
              <a:buNone/>
            </a:pPr>
            <a:r>
              <a:rPr lang="en-US" sz="1500" dirty="0">
                <a:solidFill>
                  <a:schemeClr val="tx1"/>
                </a:solidFill>
              </a:rPr>
              <a:t>Real-time dashboards and 48 MIS &amp; regulatory reports</a:t>
            </a:r>
            <a:endParaRPr lang="en-US" sz="1500" dirty="0"/>
          </a:p>
        </p:txBody>
      </p:sp>
      <p:sp>
        <p:nvSpPr>
          <p:cNvPr id="34" name="transition arrow circle"/>
          <p:cNvSpPr/>
          <p:nvPr/>
        </p:nvSpPr>
        <p:spPr>
          <a:xfrm>
            <a:off x="5867248" y="3611880"/>
            <a:ext cx="457200" cy="457200"/>
          </a:xfrm>
          <a:prstGeom prst="ellipse">
            <a:avLst/>
          </a:prstGeom>
          <a:solidFill>
            <a:schemeClr val="accent1"/>
          </a:solidFill>
          <a:ln/>
        </p:spPr>
      </p:sp>
      <p:pic>
        <p:nvPicPr>
          <p:cNvPr id="35" name="transition arrow glyph" descr="arrow right icon">    </p:cNvPr>
          <p:cNvPicPr>
            <a:picLocks noChangeAspect="1"/>
          </p:cNvPicPr>
          <p:nvPr/>
        </p:nvPicPr>
        <p:blipFill>
          <a:blip r:embed="rId13"/>
          <a:stretch>
            <a:fillRect/>
          </a:stretch>
        </p:blipFill>
        <p:spPr>
          <a:xfrm>
            <a:off x="5976976" y="3721608"/>
            <a:ext cx="237744" cy="237744"/>
          </a:xfrm>
          <a:prstGeom prst="rect">
            <a:avLst/>
          </a:prstGeom>
        </p:spPr>
      </p:pic>
      <p:sp>
        <p:nvSpPr>
          <p:cNvPr id="36" name="source"/>
          <p:cNvSpPr txBox="1"/>
          <p:nvPr/>
        </p:nvSpPr>
        <p:spPr>
          <a:xfrm>
            <a:off x="548640" y="6035040"/>
            <a:ext cx="11094415" cy="219456"/>
          </a:xfrm>
          <a:prstGeom prst="rect">
            <a:avLst/>
          </a:prstGeom>
          <a:noFill/>
          <a:ln/>
        </p:spPr>
        <p:txBody>
          <a:bodyPr wrap="square" lIns="0" tIns="0" rIns="0" bIns="0" rtlCol="0" anchor="t"/>
          <a:lstStyle/>
          <a:p>
            <a:pPr indent="0" marL="0">
              <a:buNone/>
            </a:pPr>
            <a:r>
              <a:rPr lang="en-US" sz="1000" i="1" dirty="0">
                <a:solidFill>
                  <a:schemeClr val="accent6"/>
                </a:solidFill>
              </a:rPr>
              <a:t>Source: Bank Asia RFP v0.3 — Executive Summary (Section 2) and Objectives (Section 3)</a:t>
            </a:r>
            <a:endParaRPr lang="en-US" sz="10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76656"/>
          </a:xfrm>
          <a:prstGeom prst="rect">
            <a:avLst/>
          </a:prstGeom>
          <a:noFill/>
          <a:ln/>
        </p:spPr>
        <p:txBody>
          <a:bodyPr wrap="square" lIns="0" tIns="0" rIns="0" bIns="0" rtlCol="0" anchor="ctr"/>
          <a:lstStyle/>
          <a:p>
            <a:pPr algn="l" indent="0" marL="0">
              <a:buNone/>
            </a:pPr>
            <a:r>
              <a:rPr lang="en-US" sz="3600" b="1" dirty="0">
                <a:solidFill>
                  <a:schemeClr val="tx2"/>
                </a:solidFill>
              </a:rPr>
              <a:t>The Solution at a Glance</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algn="l" indent="0" marL="0">
              <a:buNone/>
            </a:pPr>
            <a:r>
              <a:rPr lang="en-US" sz="1600" dirty="0">
                <a:solidFill>
                  <a:schemeClr val="accent6"/>
                </a:solidFill>
              </a:rPr>
              <a:t>One integrated platform covering the complete legal and recovery lifecycle</a:t>
            </a:r>
            <a:endParaRPr lang="en-US" sz="1600" dirty="0"/>
          </a:p>
        </p:txBody>
      </p:sp>
      <p:sp>
        <p:nvSpPr>
          <p:cNvPr id="4" name="stat card 1"/>
          <p:cNvSpPr/>
          <p:nvPr/>
        </p:nvSpPr>
        <p:spPr>
          <a:xfrm>
            <a:off x="548640" y="1737360"/>
            <a:ext cx="2532888" cy="1828800"/>
          </a:xfrm>
          <a:prstGeom prst="roundRect">
            <a:avLst>
              <a:gd name="adj" fmla="val 7000"/>
            </a:avLst>
          </a:prstGeom>
          <a:solidFill>
            <a:schemeClr val="bg2"/>
          </a:solidFill>
          <a:ln/>
        </p:spPr>
      </p:sp>
      <p:sp>
        <p:nvSpPr>
          <p:cNvPr id="5" name="stat value 1"/>
          <p:cNvSpPr txBox="1"/>
          <p:nvPr/>
        </p:nvSpPr>
        <p:spPr>
          <a:xfrm>
            <a:off x="822960" y="1901952"/>
            <a:ext cx="2075688" cy="822960"/>
          </a:xfrm>
          <a:prstGeom prst="rect">
            <a:avLst/>
          </a:prstGeom>
          <a:noFill/>
          <a:ln/>
        </p:spPr>
        <p:txBody>
          <a:bodyPr wrap="square" lIns="0" tIns="0" rIns="0" bIns="0" rtlCol="0" anchor="ctr"/>
          <a:lstStyle/>
          <a:p>
            <a:pPr indent="0" marL="0">
              <a:buNone/>
            </a:pPr>
            <a:r>
              <a:rPr lang="en-US" sz="5400" b="1" dirty="0">
                <a:solidFill>
                  <a:schemeClr val="accent1"/>
                </a:solidFill>
                <a:latin typeface="+mj-lt" pitchFamily="34" charset="0"/>
                <a:ea typeface="+mj-lt" pitchFamily="34" charset="-122"/>
                <a:cs typeface="+mj-lt" pitchFamily="34" charset="-120"/>
              </a:rPr>
              <a:t>31</a:t>
            </a:r>
            <a:endParaRPr lang="en-US" sz="5400" dirty="0"/>
          </a:p>
        </p:txBody>
      </p:sp>
      <p:sp>
        <p:nvSpPr>
          <p:cNvPr id="6" name="stat label 1"/>
          <p:cNvSpPr txBox="1"/>
          <p:nvPr/>
        </p:nvSpPr>
        <p:spPr>
          <a:xfrm>
            <a:off x="822960" y="2761488"/>
            <a:ext cx="2075688" cy="274320"/>
          </a:xfrm>
          <a:prstGeom prst="rect">
            <a:avLst/>
          </a:prstGeom>
          <a:noFill/>
          <a:ln/>
        </p:spPr>
        <p:txBody>
          <a:bodyPr wrap="square" lIns="0" tIns="0" rIns="0" bIns="0" rtlCol="0" anchor="t"/>
          <a:lstStyle/>
          <a:p>
            <a:pPr indent="0" marL="0">
              <a:buNone/>
            </a:pPr>
            <a:r>
              <a:rPr lang="en-US" sz="1600" b="1" dirty="0">
                <a:solidFill>
                  <a:schemeClr val="tx1"/>
                </a:solidFill>
              </a:rPr>
              <a:t>Functional modules</a:t>
            </a:r>
            <a:endParaRPr lang="en-US" sz="1600" dirty="0"/>
          </a:p>
        </p:txBody>
      </p:sp>
      <p:sp>
        <p:nvSpPr>
          <p:cNvPr id="7" name="stat desc 1"/>
          <p:cNvSpPr txBox="1"/>
          <p:nvPr/>
        </p:nvSpPr>
        <p:spPr>
          <a:xfrm>
            <a:off x="822960" y="3054096"/>
            <a:ext cx="2121408" cy="438912"/>
          </a:xfrm>
          <a:prstGeom prst="rect">
            <a:avLst/>
          </a:prstGeom>
          <a:noFill/>
          <a:ln/>
        </p:spPr>
        <p:txBody>
          <a:bodyPr wrap="square" lIns="0" tIns="0" rIns="0" bIns="0" rtlCol="0" anchor="t"/>
          <a:lstStyle/>
          <a:p>
            <a:pPr indent="0" marL="0">
              <a:buNone/>
            </a:pPr>
            <a:r>
              <a:rPr lang="en-US" sz="1300" dirty="0">
                <a:solidFill>
                  <a:schemeClr val="accent6"/>
                </a:solidFill>
              </a:rPr>
              <a:t>Every RFP Section 8 requirement</a:t>
            </a:r>
            <a:endParaRPr lang="en-US" sz="1300" dirty="0"/>
          </a:p>
        </p:txBody>
      </p:sp>
      <p:sp>
        <p:nvSpPr>
          <p:cNvPr id="8" name="stat card 2"/>
          <p:cNvSpPr/>
          <p:nvPr/>
        </p:nvSpPr>
        <p:spPr>
          <a:xfrm>
            <a:off x="3402482" y="1737360"/>
            <a:ext cx="2532888" cy="1828800"/>
          </a:xfrm>
          <a:prstGeom prst="roundRect">
            <a:avLst>
              <a:gd name="adj" fmla="val 7000"/>
            </a:avLst>
          </a:prstGeom>
          <a:solidFill>
            <a:schemeClr val="bg2"/>
          </a:solidFill>
          <a:ln/>
        </p:spPr>
      </p:sp>
      <p:sp>
        <p:nvSpPr>
          <p:cNvPr id="9" name="stat value 2"/>
          <p:cNvSpPr txBox="1"/>
          <p:nvPr/>
        </p:nvSpPr>
        <p:spPr>
          <a:xfrm>
            <a:off x="3676802" y="1901952"/>
            <a:ext cx="2075688" cy="822960"/>
          </a:xfrm>
          <a:prstGeom prst="rect">
            <a:avLst/>
          </a:prstGeom>
          <a:noFill/>
          <a:ln/>
        </p:spPr>
        <p:txBody>
          <a:bodyPr wrap="square" lIns="0" tIns="0" rIns="0" bIns="0" rtlCol="0" anchor="ctr"/>
          <a:lstStyle/>
          <a:p>
            <a:pPr indent="0" marL="0">
              <a:buNone/>
            </a:pPr>
            <a:r>
              <a:rPr lang="en-US" sz="5400" b="1" dirty="0">
                <a:solidFill>
                  <a:schemeClr val="accent1"/>
                </a:solidFill>
                <a:latin typeface="+mj-lt" pitchFamily="34" charset="0"/>
                <a:ea typeface="+mj-lt" pitchFamily="34" charset="-122"/>
                <a:cs typeface="+mj-lt" pitchFamily="34" charset="-120"/>
              </a:rPr>
              <a:t>48</a:t>
            </a:r>
            <a:endParaRPr lang="en-US" sz="5400" dirty="0"/>
          </a:p>
        </p:txBody>
      </p:sp>
      <p:sp>
        <p:nvSpPr>
          <p:cNvPr id="10" name="stat label 2"/>
          <p:cNvSpPr txBox="1"/>
          <p:nvPr/>
        </p:nvSpPr>
        <p:spPr>
          <a:xfrm>
            <a:off x="3676802" y="2761488"/>
            <a:ext cx="2075688" cy="274320"/>
          </a:xfrm>
          <a:prstGeom prst="rect">
            <a:avLst/>
          </a:prstGeom>
          <a:noFill/>
          <a:ln/>
        </p:spPr>
        <p:txBody>
          <a:bodyPr wrap="square" lIns="0" tIns="0" rIns="0" bIns="0" rtlCol="0" anchor="t"/>
          <a:lstStyle/>
          <a:p>
            <a:pPr indent="0" marL="0">
              <a:buNone/>
            </a:pPr>
            <a:r>
              <a:rPr lang="en-US" sz="1600" b="1" dirty="0">
                <a:solidFill>
                  <a:schemeClr val="tx1"/>
                </a:solidFill>
              </a:rPr>
              <a:t>Reports &amp; MIS</a:t>
            </a:r>
            <a:endParaRPr lang="en-US" sz="1600" dirty="0"/>
          </a:p>
        </p:txBody>
      </p:sp>
      <p:sp>
        <p:nvSpPr>
          <p:cNvPr id="11" name="stat desc 2"/>
          <p:cNvSpPr txBox="1"/>
          <p:nvPr/>
        </p:nvSpPr>
        <p:spPr>
          <a:xfrm>
            <a:off x="3676802" y="3054096"/>
            <a:ext cx="2121408" cy="438912"/>
          </a:xfrm>
          <a:prstGeom prst="rect">
            <a:avLst/>
          </a:prstGeom>
          <a:noFill/>
          <a:ln/>
        </p:spPr>
        <p:txBody>
          <a:bodyPr wrap="square" lIns="0" tIns="0" rIns="0" bIns="0" rtlCol="0" anchor="t"/>
          <a:lstStyle/>
          <a:p>
            <a:pPr indent="0" marL="0">
              <a:buNone/>
            </a:pPr>
            <a:r>
              <a:rPr lang="en-US" sz="1300" dirty="0">
                <a:solidFill>
                  <a:schemeClr val="accent6"/>
                </a:solidFill>
              </a:rPr>
              <a:t>Including Bangladesh Bank formats</a:t>
            </a:r>
            <a:endParaRPr lang="en-US" sz="1300" dirty="0"/>
          </a:p>
        </p:txBody>
      </p:sp>
      <p:sp>
        <p:nvSpPr>
          <p:cNvPr id="12" name="stat card 3"/>
          <p:cNvSpPr/>
          <p:nvPr/>
        </p:nvSpPr>
        <p:spPr>
          <a:xfrm>
            <a:off x="6256325" y="1737360"/>
            <a:ext cx="2532888" cy="1828800"/>
          </a:xfrm>
          <a:prstGeom prst="roundRect">
            <a:avLst>
              <a:gd name="adj" fmla="val 7000"/>
            </a:avLst>
          </a:prstGeom>
          <a:solidFill>
            <a:schemeClr val="bg2"/>
          </a:solidFill>
          <a:ln/>
        </p:spPr>
      </p:sp>
      <p:sp>
        <p:nvSpPr>
          <p:cNvPr id="13" name="stat value 3"/>
          <p:cNvSpPr txBox="1"/>
          <p:nvPr/>
        </p:nvSpPr>
        <p:spPr>
          <a:xfrm>
            <a:off x="6530645" y="1901952"/>
            <a:ext cx="2075688" cy="822960"/>
          </a:xfrm>
          <a:prstGeom prst="rect">
            <a:avLst/>
          </a:prstGeom>
          <a:noFill/>
          <a:ln/>
        </p:spPr>
        <p:txBody>
          <a:bodyPr wrap="square" lIns="0" tIns="0" rIns="0" bIns="0" rtlCol="0" anchor="ctr"/>
          <a:lstStyle/>
          <a:p>
            <a:pPr indent="0" marL="0">
              <a:buNone/>
            </a:pPr>
            <a:r>
              <a:rPr lang="en-US" sz="5400" b="1" dirty="0">
                <a:solidFill>
                  <a:schemeClr val="accent1"/>
                </a:solidFill>
                <a:latin typeface="+mj-lt" pitchFamily="34" charset="0"/>
                <a:ea typeface="+mj-lt" pitchFamily="34" charset="-122"/>
                <a:cs typeface="+mj-lt" pitchFamily="34" charset="-120"/>
              </a:rPr>
              <a:t>6</a:t>
            </a:r>
            <a:endParaRPr lang="en-US" sz="5400" dirty="0"/>
          </a:p>
        </p:txBody>
      </p:sp>
      <p:sp>
        <p:nvSpPr>
          <p:cNvPr id="14" name="stat label 3"/>
          <p:cNvSpPr txBox="1"/>
          <p:nvPr/>
        </p:nvSpPr>
        <p:spPr>
          <a:xfrm>
            <a:off x="6530645" y="2761488"/>
            <a:ext cx="2075688" cy="274320"/>
          </a:xfrm>
          <a:prstGeom prst="rect">
            <a:avLst/>
          </a:prstGeom>
          <a:noFill/>
          <a:ln/>
        </p:spPr>
        <p:txBody>
          <a:bodyPr wrap="square" lIns="0" tIns="0" rIns="0" bIns="0" rtlCol="0" anchor="t"/>
          <a:lstStyle/>
          <a:p>
            <a:pPr indent="0" marL="0">
              <a:buNone/>
            </a:pPr>
            <a:r>
              <a:rPr lang="en-US" sz="1600" b="1" dirty="0">
                <a:solidFill>
                  <a:schemeClr val="tx1"/>
                </a:solidFill>
              </a:rPr>
              <a:t>Role profiles</a:t>
            </a:r>
            <a:endParaRPr lang="en-US" sz="1600" dirty="0"/>
          </a:p>
        </p:txBody>
      </p:sp>
      <p:sp>
        <p:nvSpPr>
          <p:cNvPr id="15" name="stat desc 3"/>
          <p:cNvSpPr txBox="1"/>
          <p:nvPr/>
        </p:nvSpPr>
        <p:spPr>
          <a:xfrm>
            <a:off x="6530645" y="3054096"/>
            <a:ext cx="2121408" cy="438912"/>
          </a:xfrm>
          <a:prstGeom prst="rect">
            <a:avLst/>
          </a:prstGeom>
          <a:noFill/>
          <a:ln/>
        </p:spPr>
        <p:txBody>
          <a:bodyPr wrap="square" lIns="0" tIns="0" rIns="0" bIns="0" rtlCol="0" anchor="t"/>
          <a:lstStyle/>
          <a:p>
            <a:pPr indent="0" marL="0">
              <a:buNone/>
            </a:pPr>
            <a:r>
              <a:rPr lang="en-US" sz="1300" dirty="0">
                <a:solidFill>
                  <a:schemeClr val="accent6"/>
                </a:solidFill>
              </a:rPr>
              <a:t>Maker–checker segregation</a:t>
            </a:r>
            <a:endParaRPr lang="en-US" sz="1300" dirty="0"/>
          </a:p>
        </p:txBody>
      </p:sp>
      <p:sp>
        <p:nvSpPr>
          <p:cNvPr id="16" name="stat card 4"/>
          <p:cNvSpPr/>
          <p:nvPr/>
        </p:nvSpPr>
        <p:spPr>
          <a:xfrm>
            <a:off x="9110167" y="1737360"/>
            <a:ext cx="2532888" cy="1828800"/>
          </a:xfrm>
          <a:prstGeom prst="roundRect">
            <a:avLst>
              <a:gd name="adj" fmla="val 7000"/>
            </a:avLst>
          </a:prstGeom>
          <a:solidFill>
            <a:schemeClr val="bg2"/>
          </a:solidFill>
          <a:ln/>
        </p:spPr>
      </p:sp>
      <p:sp>
        <p:nvSpPr>
          <p:cNvPr id="17" name="stat value 4"/>
          <p:cNvSpPr txBox="1"/>
          <p:nvPr/>
        </p:nvSpPr>
        <p:spPr>
          <a:xfrm>
            <a:off x="9384487" y="1901952"/>
            <a:ext cx="2075688" cy="822960"/>
          </a:xfrm>
          <a:prstGeom prst="rect">
            <a:avLst/>
          </a:prstGeom>
          <a:noFill/>
          <a:ln/>
        </p:spPr>
        <p:txBody>
          <a:bodyPr wrap="square" lIns="0" tIns="0" rIns="0" bIns="0" rtlCol="0" anchor="ctr"/>
          <a:lstStyle/>
          <a:p>
            <a:pPr indent="0" marL="0">
              <a:buNone/>
            </a:pPr>
            <a:r>
              <a:rPr lang="en-US" sz="5400" b="1" dirty="0">
                <a:solidFill>
                  <a:schemeClr val="accent1"/>
                </a:solidFill>
                <a:latin typeface="+mj-lt" pitchFamily="34" charset="0"/>
                <a:ea typeface="+mj-lt" pitchFamily="34" charset="-122"/>
                <a:cs typeface="+mj-lt" pitchFamily="34" charset="-120"/>
              </a:rPr>
              <a:t>360°</a:t>
            </a:r>
            <a:endParaRPr lang="en-US" sz="5400" dirty="0"/>
          </a:p>
        </p:txBody>
      </p:sp>
      <p:sp>
        <p:nvSpPr>
          <p:cNvPr id="18" name="stat label 4"/>
          <p:cNvSpPr txBox="1"/>
          <p:nvPr/>
        </p:nvSpPr>
        <p:spPr>
          <a:xfrm>
            <a:off x="9384487" y="2761488"/>
            <a:ext cx="2075688" cy="274320"/>
          </a:xfrm>
          <a:prstGeom prst="rect">
            <a:avLst/>
          </a:prstGeom>
          <a:noFill/>
          <a:ln/>
        </p:spPr>
        <p:txBody>
          <a:bodyPr wrap="square" lIns="0" tIns="0" rIns="0" bIns="0" rtlCol="0" anchor="t"/>
          <a:lstStyle/>
          <a:p>
            <a:pPr indent="0" marL="0">
              <a:buNone/>
            </a:pPr>
            <a:r>
              <a:rPr lang="en-US" sz="1600" b="1" dirty="0">
                <a:solidFill>
                  <a:schemeClr val="tx1"/>
                </a:solidFill>
              </a:rPr>
              <a:t>Customer &amp; case view</a:t>
            </a:r>
            <a:endParaRPr lang="en-US" sz="1600" dirty="0"/>
          </a:p>
        </p:txBody>
      </p:sp>
      <p:sp>
        <p:nvSpPr>
          <p:cNvPr id="19" name="stat desc 4"/>
          <p:cNvSpPr txBox="1"/>
          <p:nvPr/>
        </p:nvSpPr>
        <p:spPr>
          <a:xfrm>
            <a:off x="9384487" y="3054096"/>
            <a:ext cx="2121408" cy="438912"/>
          </a:xfrm>
          <a:prstGeom prst="rect">
            <a:avLst/>
          </a:prstGeom>
          <a:noFill/>
          <a:ln/>
        </p:spPr>
        <p:txBody>
          <a:bodyPr wrap="square" lIns="0" tIns="0" rIns="0" bIns="0" rtlCol="0" anchor="t"/>
          <a:lstStyle/>
          <a:p>
            <a:pPr indent="0" marL="0">
              <a:buNone/>
            </a:pPr>
            <a:r>
              <a:rPr lang="en-US" sz="1300" dirty="0">
                <a:solidFill>
                  <a:schemeClr val="accent6"/>
                </a:solidFill>
              </a:rPr>
              <a:t>Cases, documents and payments</a:t>
            </a:r>
            <a:endParaRPr lang="en-US" sz="1300" dirty="0"/>
          </a:p>
        </p:txBody>
      </p:sp>
      <p:sp>
        <p:nvSpPr>
          <p:cNvPr id="20" name="lifecycle heading"/>
          <p:cNvSpPr txBox="1"/>
          <p:nvPr/>
        </p:nvSpPr>
        <p:spPr>
          <a:xfrm>
            <a:off x="548640" y="3858768"/>
            <a:ext cx="11094415" cy="310896"/>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The legal and recovery lifecycle, end to end</a:t>
            </a:r>
            <a:endParaRPr lang="en-US" sz="1600" dirty="0"/>
          </a:p>
        </p:txBody>
      </p:sp>
      <p:sp>
        <p:nvSpPr>
          <p:cNvPr id="21" name="stage 1"/>
          <p:cNvSpPr txBox="1"/>
          <p:nvPr/>
        </p:nvSpPr>
        <p:spPr>
          <a:xfrm>
            <a:off x="548640" y="4297680"/>
            <a:ext cx="2467600" cy="731520"/>
          </a:xfrm>
          <a:prstGeom prst="homePlate">
            <a:avLst/>
          </a:prstGeom>
          <a:solidFill>
            <a:schemeClr val="accent1"/>
          </a:solidFill>
          <a:ln/>
        </p:spPr>
        <p:txBody>
          <a:bodyPr wrap="square" lIns="0" tIns="0" rIns="0" bIns="0" rtlCol="0" anchor="ctr"/>
          <a:lstStyle/>
          <a:p>
            <a:pPr algn="ctr" indent="0" marL="0">
              <a:buNone/>
            </a:pPr>
            <a:r>
              <a:rPr lang="en-US" sz="1500" b="1" dirty="0">
                <a:solidFill>
                  <a:schemeClr val="bg1"/>
                </a:solidFill>
              </a:rPr>
              <a:t>Pre-Litigation</a:t>
            </a:r>
            <a:endParaRPr lang="en-US" sz="1500" dirty="0"/>
          </a:p>
        </p:txBody>
      </p:sp>
      <p:sp>
        <p:nvSpPr>
          <p:cNvPr id="22" name="stage 1 detail"/>
          <p:cNvSpPr txBox="1"/>
          <p:nvPr/>
        </p:nvSpPr>
        <p:spPr>
          <a:xfrm>
            <a:off x="685160" y="5138928"/>
            <a:ext cx="2011680" cy="731520"/>
          </a:xfrm>
          <a:prstGeom prst="rect">
            <a:avLst/>
          </a:prstGeom>
          <a:noFill/>
          <a:ln/>
        </p:spPr>
        <p:txBody>
          <a:bodyPr wrap="square" lIns="0" tIns="0" rIns="0" bIns="0" rtlCol="0" anchor="t"/>
          <a:lstStyle/>
          <a:p>
            <a:pPr algn="ctr" indent="0" marL="0">
              <a:buNone/>
            </a:pPr>
            <a:r>
              <a:rPr lang="en-US" sz="1300" dirty="0">
                <a:solidFill>
                  <a:schemeClr val="accent6"/>
                </a:solidFill>
              </a:rPr>
              <a:t>Legal &amp; reminder notices</a:t>
            </a:r>
            <a:endParaRPr lang="en-US" sz="1300" dirty="0"/>
          </a:p>
          <a:p>
            <a:pPr algn="ctr" indent="0" marL="0">
              <a:buNone/>
            </a:pPr>
            <a:r>
              <a:rPr lang="en-US" sz="1300" dirty="0">
                <a:solidFill>
                  <a:schemeClr val="accent6"/>
                </a:solidFill>
              </a:rPr>
              <a:t>Case merit analysis</a:t>
            </a:r>
            <a:endParaRPr lang="en-US" sz="1300" dirty="0"/>
          </a:p>
          <a:p>
            <a:pPr algn="ctr" indent="0" marL="0">
              <a:buNone/>
            </a:pPr>
            <a:r>
              <a:rPr lang="en-US" sz="1300" dirty="0">
                <a:solidFill>
                  <a:schemeClr val="accent6"/>
                </a:solidFill>
              </a:rPr>
              <a:t>Property vetting</a:t>
            </a:r>
            <a:endParaRPr lang="en-US" sz="1300" dirty="0"/>
          </a:p>
        </p:txBody>
      </p:sp>
      <p:sp>
        <p:nvSpPr>
          <p:cNvPr id="23" name="stage 2"/>
          <p:cNvSpPr txBox="1"/>
          <p:nvPr/>
        </p:nvSpPr>
        <p:spPr>
          <a:xfrm>
            <a:off x="2705344" y="4297680"/>
            <a:ext cx="2467600" cy="731520"/>
          </a:xfrm>
          <a:prstGeom prst="chevron">
            <a:avLst/>
          </a:prstGeom>
          <a:solidFill>
            <a:schemeClr val="accent1"/>
          </a:solidFill>
          <a:ln/>
        </p:spPr>
        <p:txBody>
          <a:bodyPr wrap="square" lIns="0" tIns="0" rIns="0" bIns="0" rtlCol="0" anchor="ctr"/>
          <a:lstStyle/>
          <a:p>
            <a:pPr algn="ctr" indent="0" marL="0">
              <a:buNone/>
            </a:pPr>
            <a:r>
              <a:rPr lang="en-US" sz="1500" b="1" dirty="0">
                <a:solidFill>
                  <a:schemeClr val="bg1"/>
                </a:solidFill>
              </a:rPr>
              <a:t>Litigation</a:t>
            </a:r>
            <a:endParaRPr lang="en-US" sz="1500" dirty="0"/>
          </a:p>
        </p:txBody>
      </p:sp>
      <p:sp>
        <p:nvSpPr>
          <p:cNvPr id="24" name="stage 2 detail"/>
          <p:cNvSpPr txBox="1"/>
          <p:nvPr/>
        </p:nvSpPr>
        <p:spPr>
          <a:xfrm>
            <a:off x="2933304" y="5138928"/>
            <a:ext cx="2011680" cy="731520"/>
          </a:xfrm>
          <a:prstGeom prst="rect">
            <a:avLst/>
          </a:prstGeom>
          <a:noFill/>
          <a:ln/>
        </p:spPr>
        <p:txBody>
          <a:bodyPr wrap="square" lIns="0" tIns="0" rIns="0" bIns="0" rtlCol="0" anchor="t"/>
          <a:lstStyle/>
          <a:p>
            <a:pPr algn="ctr" indent="0" marL="0">
              <a:buNone/>
            </a:pPr>
            <a:r>
              <a:rPr lang="en-US" sz="1300" dirty="0">
                <a:solidFill>
                  <a:schemeClr val="accent6"/>
                </a:solidFill>
              </a:rPr>
              <a:t>Lower court suits</a:t>
            </a:r>
            <a:endParaRPr lang="en-US" sz="1300" dirty="0"/>
          </a:p>
          <a:p>
            <a:pPr algn="ctr" indent="0" marL="0">
              <a:buNone/>
            </a:pPr>
            <a:r>
              <a:rPr lang="en-US" sz="1300" dirty="0">
                <a:solidFill>
                  <a:schemeClr val="accent6"/>
                </a:solidFill>
              </a:rPr>
              <a:t>Case steps &amp; hearings</a:t>
            </a:r>
            <a:endParaRPr lang="en-US" sz="1300" dirty="0"/>
          </a:p>
          <a:p>
            <a:pPr algn="ctr" indent="0" marL="0">
              <a:buNone/>
            </a:pPr>
            <a:r>
              <a:rPr lang="en-US" sz="1300" dirty="0">
                <a:solidFill>
                  <a:schemeClr val="accent6"/>
                </a:solidFill>
              </a:rPr>
              <a:t>HC &amp; AD matters</a:t>
            </a:r>
            <a:endParaRPr lang="en-US" sz="1300" dirty="0"/>
          </a:p>
        </p:txBody>
      </p:sp>
      <p:sp>
        <p:nvSpPr>
          <p:cNvPr id="25" name="stage 3"/>
          <p:cNvSpPr txBox="1"/>
          <p:nvPr/>
        </p:nvSpPr>
        <p:spPr>
          <a:xfrm>
            <a:off x="4862048" y="4297680"/>
            <a:ext cx="2467600" cy="731520"/>
          </a:xfrm>
          <a:prstGeom prst="chevron">
            <a:avLst/>
          </a:prstGeom>
          <a:solidFill>
            <a:schemeClr val="accent1"/>
          </a:solidFill>
          <a:ln/>
        </p:spPr>
        <p:txBody>
          <a:bodyPr wrap="square" lIns="0" tIns="0" rIns="0" bIns="0" rtlCol="0" anchor="ctr"/>
          <a:lstStyle/>
          <a:p>
            <a:pPr algn="ctr" indent="0" marL="0">
              <a:buNone/>
            </a:pPr>
            <a:r>
              <a:rPr lang="en-US" sz="1500" b="1" dirty="0">
                <a:solidFill>
                  <a:schemeClr val="bg1"/>
                </a:solidFill>
              </a:rPr>
              <a:t>Auction</a:t>
            </a:r>
            <a:endParaRPr lang="en-US" sz="1500" dirty="0"/>
          </a:p>
        </p:txBody>
      </p:sp>
      <p:sp>
        <p:nvSpPr>
          <p:cNvPr id="26" name="stage 3 detail"/>
          <p:cNvSpPr txBox="1"/>
          <p:nvPr/>
        </p:nvSpPr>
        <p:spPr>
          <a:xfrm>
            <a:off x="5090008" y="5138928"/>
            <a:ext cx="2011680" cy="731520"/>
          </a:xfrm>
          <a:prstGeom prst="rect">
            <a:avLst/>
          </a:prstGeom>
          <a:noFill/>
          <a:ln/>
        </p:spPr>
        <p:txBody>
          <a:bodyPr wrap="square" lIns="0" tIns="0" rIns="0" bIns="0" rtlCol="0" anchor="t"/>
          <a:lstStyle/>
          <a:p>
            <a:pPr algn="ctr" indent="0" marL="0">
              <a:buNone/>
            </a:pPr>
            <a:r>
              <a:rPr lang="en-US" sz="1300" dirty="0">
                <a:solidFill>
                  <a:schemeClr val="accent6"/>
                </a:solidFill>
              </a:rPr>
              <a:t>Publication copies</a:t>
            </a:r>
            <a:endParaRPr lang="en-US" sz="1300" dirty="0"/>
          </a:p>
          <a:p>
            <a:pPr algn="ctr" indent="0" marL="0">
              <a:buNone/>
            </a:pPr>
            <a:r>
              <a:rPr lang="en-US" sz="1300" dirty="0">
                <a:solidFill>
                  <a:schemeClr val="accent6"/>
                </a:solidFill>
              </a:rPr>
              <a:t>Bidder details</a:t>
            </a:r>
            <a:endParaRPr lang="en-US" sz="1300" dirty="0"/>
          </a:p>
          <a:p>
            <a:pPr algn="ctr" indent="0" marL="0">
              <a:buNone/>
            </a:pPr>
            <a:r>
              <a:rPr lang="en-US" sz="1300" dirty="0">
                <a:solidFill>
                  <a:schemeClr val="accent6"/>
                </a:solidFill>
              </a:rPr>
              <a:t>Final auction memo</a:t>
            </a:r>
            <a:endParaRPr lang="en-US" sz="1300" dirty="0"/>
          </a:p>
        </p:txBody>
      </p:sp>
      <p:sp>
        <p:nvSpPr>
          <p:cNvPr id="27" name="stage 4"/>
          <p:cNvSpPr txBox="1"/>
          <p:nvPr/>
        </p:nvSpPr>
        <p:spPr>
          <a:xfrm>
            <a:off x="7018752" y="4297680"/>
            <a:ext cx="2467600" cy="731520"/>
          </a:xfrm>
          <a:prstGeom prst="chevron">
            <a:avLst/>
          </a:prstGeom>
          <a:solidFill>
            <a:schemeClr val="accent1"/>
          </a:solidFill>
          <a:ln/>
        </p:spPr>
        <p:txBody>
          <a:bodyPr wrap="square" lIns="0" tIns="0" rIns="0" bIns="0" rtlCol="0" anchor="ctr"/>
          <a:lstStyle/>
          <a:p>
            <a:pPr algn="ctr" indent="0" marL="0">
              <a:buNone/>
            </a:pPr>
            <a:r>
              <a:rPr lang="en-US" sz="1500" b="1" dirty="0">
                <a:solidFill>
                  <a:schemeClr val="bg1"/>
                </a:solidFill>
              </a:rPr>
              <a:t>Recovery</a:t>
            </a:r>
            <a:endParaRPr lang="en-US" sz="1500" dirty="0"/>
          </a:p>
        </p:txBody>
      </p:sp>
      <p:sp>
        <p:nvSpPr>
          <p:cNvPr id="28" name="stage 4 detail"/>
          <p:cNvSpPr txBox="1"/>
          <p:nvPr/>
        </p:nvSpPr>
        <p:spPr>
          <a:xfrm>
            <a:off x="7246711" y="5138928"/>
            <a:ext cx="2011680" cy="731520"/>
          </a:xfrm>
          <a:prstGeom prst="rect">
            <a:avLst/>
          </a:prstGeom>
          <a:noFill/>
          <a:ln/>
        </p:spPr>
        <p:txBody>
          <a:bodyPr wrap="square" lIns="0" tIns="0" rIns="0" bIns="0" rtlCol="0" anchor="t"/>
          <a:lstStyle/>
          <a:p>
            <a:pPr algn="ctr" indent="0" marL="0">
              <a:buNone/>
            </a:pPr>
            <a:r>
              <a:rPr lang="en-US" sz="1300" dirty="0">
                <a:solidFill>
                  <a:schemeClr val="accent6"/>
                </a:solidFill>
              </a:rPr>
              <a:t>Account statements</a:t>
            </a:r>
            <a:endParaRPr lang="en-US" sz="1300" dirty="0"/>
          </a:p>
          <a:p>
            <a:pPr algn="ctr" indent="0" marL="0">
              <a:buNone/>
            </a:pPr>
            <a:r>
              <a:rPr lang="en-US" sz="1300" dirty="0">
                <a:solidFill>
                  <a:schemeClr val="accent6"/>
                </a:solidFill>
              </a:rPr>
              <a:t>Jari certificates</a:t>
            </a:r>
            <a:endParaRPr lang="en-US" sz="1300" dirty="0"/>
          </a:p>
          <a:p>
            <a:pPr algn="ctr" indent="0" marL="0">
              <a:buNone/>
            </a:pPr>
            <a:r>
              <a:rPr lang="en-US" sz="1300" dirty="0">
                <a:solidFill>
                  <a:schemeClr val="accent6"/>
                </a:solidFill>
              </a:rPr>
              <a:t>Bill disbursement</a:t>
            </a:r>
            <a:endParaRPr lang="en-US" sz="1300" dirty="0"/>
          </a:p>
        </p:txBody>
      </p:sp>
      <p:sp>
        <p:nvSpPr>
          <p:cNvPr id="29" name="stage 5"/>
          <p:cNvSpPr txBox="1"/>
          <p:nvPr/>
        </p:nvSpPr>
        <p:spPr>
          <a:xfrm>
            <a:off x="9175455" y="4297680"/>
            <a:ext cx="2467600" cy="731520"/>
          </a:xfrm>
          <a:prstGeom prst="chevron">
            <a:avLst/>
          </a:prstGeom>
          <a:solidFill>
            <a:schemeClr val="tx2"/>
          </a:solidFill>
          <a:ln/>
        </p:spPr>
        <p:txBody>
          <a:bodyPr wrap="square" lIns="0" tIns="0" rIns="0" bIns="0" rtlCol="0" anchor="ctr"/>
          <a:lstStyle/>
          <a:p>
            <a:pPr algn="ctr" indent="0" marL="0">
              <a:buNone/>
            </a:pPr>
            <a:r>
              <a:rPr lang="en-US" sz="1500" b="1" dirty="0">
                <a:solidFill>
                  <a:schemeClr val="bg1"/>
                </a:solidFill>
              </a:rPr>
              <a:t>Settlement</a:t>
            </a:r>
            <a:endParaRPr lang="en-US" sz="1500" dirty="0"/>
          </a:p>
        </p:txBody>
      </p:sp>
      <p:sp>
        <p:nvSpPr>
          <p:cNvPr id="30" name="stage 5 detail"/>
          <p:cNvSpPr txBox="1"/>
          <p:nvPr/>
        </p:nvSpPr>
        <p:spPr>
          <a:xfrm>
            <a:off x="9403415" y="5138928"/>
            <a:ext cx="2011680" cy="731520"/>
          </a:xfrm>
          <a:prstGeom prst="rect">
            <a:avLst/>
          </a:prstGeom>
          <a:noFill/>
          <a:ln/>
        </p:spPr>
        <p:txBody>
          <a:bodyPr wrap="square" lIns="0" tIns="0" rIns="0" bIns="0" rtlCol="0" anchor="t"/>
          <a:lstStyle/>
          <a:p>
            <a:pPr algn="ctr" indent="0" marL="0">
              <a:buNone/>
            </a:pPr>
            <a:r>
              <a:rPr lang="en-US" sz="1300" dirty="0">
                <a:solidFill>
                  <a:schemeClr val="accent6"/>
                </a:solidFill>
              </a:rPr>
              <a:t>Compromise &amp; solenama</a:t>
            </a:r>
            <a:endParaRPr lang="en-US" sz="1300" dirty="0"/>
          </a:p>
          <a:p>
            <a:pPr algn="ctr" indent="0" marL="0">
              <a:buNone/>
            </a:pPr>
            <a:r>
              <a:rPr lang="en-US" sz="1300" dirty="0">
                <a:solidFill>
                  <a:schemeClr val="accent6"/>
                </a:solidFill>
              </a:rPr>
              <a:t>CBS reconciliation</a:t>
            </a:r>
            <a:endParaRPr lang="en-US" sz="1300" dirty="0"/>
          </a:p>
          <a:p>
            <a:pPr algn="ctr" indent="0" marL="0">
              <a:buNone/>
            </a:pPr>
            <a:r>
              <a:rPr lang="en-US" sz="1300" dirty="0">
                <a:solidFill>
                  <a:schemeClr val="accent6"/>
                </a:solidFill>
              </a:rPr>
              <a:t>Case closure</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76656"/>
          </a:xfrm>
          <a:prstGeom prst="rect">
            <a:avLst/>
          </a:prstGeom>
          <a:noFill/>
          <a:ln/>
        </p:spPr>
        <p:txBody>
          <a:bodyPr wrap="square" lIns="0" tIns="0" rIns="0" bIns="0" rtlCol="0" anchor="ctr"/>
          <a:lstStyle/>
          <a:p>
            <a:pPr algn="l" indent="0" marL="0">
              <a:buNone/>
            </a:pPr>
            <a:r>
              <a:rPr lang="en-US" sz="3600" b="1" dirty="0">
                <a:solidFill>
                  <a:schemeClr val="tx2"/>
                </a:solidFill>
              </a:rPr>
              <a:t>31 Modules Across Six Domains</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algn="l" indent="0" marL="0">
              <a:buNone/>
            </a:pPr>
            <a:r>
              <a:rPr lang="en-US" sz="1600" dirty="0">
                <a:solidFill>
                  <a:schemeClr val="accent6"/>
                </a:solidFill>
              </a:rPr>
              <a:t>Every functional requirement in RFP Section 8 has a working screen in the live system</a:t>
            </a:r>
            <a:endParaRPr lang="en-US" sz="1600" dirty="0"/>
          </a:p>
        </p:txBody>
      </p:sp>
      <p:sp>
        <p:nvSpPr>
          <p:cNvPr id="4" name="domain card Administration"/>
          <p:cNvSpPr/>
          <p:nvPr/>
        </p:nvSpPr>
        <p:spPr>
          <a:xfrm>
            <a:off x="548640" y="1737360"/>
            <a:ext cx="3483864" cy="2057400"/>
          </a:xfrm>
          <a:prstGeom prst="roundRect">
            <a:avLst>
              <a:gd name="adj" fmla="val 5333"/>
            </a:avLst>
          </a:prstGeom>
          <a:solidFill>
            <a:schemeClr val="bg1"/>
          </a:solidFill>
          <a:ln w="9525">
            <a:solidFill>
              <a:schemeClr val="accent6">
                <a:alpha val="30000"/>
              </a:schemeClr>
            </a:solidFill>
            <a:prstDash val="solid"/>
          </a:ln>
          <a:effectLst>
            <a:outerShdw sx="100000" sy="100000" kx="0" ky="0" algn="bl" rotWithShape="0" blurRad="127000" dist="25400" dir="5400000">
              <a:srgbClr val="0B1F3A">
                <a:alpha val="10000"/>
              </a:srgbClr>
            </a:outerShdw>
          </a:effectLst>
        </p:spPr>
      </p:sp>
      <p:sp>
        <p:nvSpPr>
          <p:cNvPr id="5" name="domain icon Administration circle"/>
          <p:cNvSpPr/>
          <p:nvPr/>
        </p:nvSpPr>
        <p:spPr>
          <a:xfrm>
            <a:off x="777240" y="1938528"/>
            <a:ext cx="438912" cy="438912"/>
          </a:xfrm>
          <a:prstGeom prst="ellipse">
            <a:avLst/>
          </a:prstGeom>
          <a:solidFill>
            <a:schemeClr val="accent1"/>
          </a:solidFill>
          <a:ln/>
        </p:spPr>
      </p:sp>
      <p:pic>
        <p:nvPicPr>
          <p:cNvPr id="6" name="domain icon Administration glyph" descr="settings 2 icon">    </p:cNvPr>
          <p:cNvPicPr>
            <a:picLocks noChangeAspect="1"/>
          </p:cNvPicPr>
          <p:nvPr/>
        </p:nvPicPr>
        <p:blipFill>
          <a:blip r:embed="rId1"/>
          <a:stretch>
            <a:fillRect/>
          </a:stretch>
        </p:blipFill>
        <p:spPr>
          <a:xfrm>
            <a:off x="882579" y="2043867"/>
            <a:ext cx="228234" cy="228234"/>
          </a:xfrm>
          <a:prstGeom prst="rect">
            <a:avLst/>
          </a:prstGeom>
        </p:spPr>
      </p:pic>
      <p:sp>
        <p:nvSpPr>
          <p:cNvPr id="7" name="domain title Administration"/>
          <p:cNvSpPr txBox="1"/>
          <p:nvPr/>
        </p:nvSpPr>
        <p:spPr>
          <a:xfrm>
            <a:off x="1353312" y="1920240"/>
            <a:ext cx="2523744" cy="274320"/>
          </a:xfrm>
          <a:prstGeom prst="rect">
            <a:avLst/>
          </a:prstGeom>
          <a:noFill/>
          <a:ln/>
        </p:spPr>
        <p:txBody>
          <a:bodyPr wrap="square" lIns="0" tIns="0" rIns="0" bIns="0" rtlCol="0" anchor="t"/>
          <a:lstStyle/>
          <a:p>
            <a:pPr indent="0" marL="0">
              <a:buNone/>
            </a:pPr>
            <a:r>
              <a:rPr lang="en-US" sz="1600" b="1" dirty="0">
                <a:solidFill>
                  <a:schemeClr val="tx1"/>
                </a:solidFill>
              </a:rPr>
              <a:t>Administration</a:t>
            </a:r>
            <a:endParaRPr lang="en-US" sz="1600" dirty="0"/>
          </a:p>
        </p:txBody>
      </p:sp>
      <p:sp>
        <p:nvSpPr>
          <p:cNvPr id="8" name="domain count Administration"/>
          <p:cNvSpPr txBox="1"/>
          <p:nvPr/>
        </p:nvSpPr>
        <p:spPr>
          <a:xfrm>
            <a:off x="1353312" y="2194560"/>
            <a:ext cx="2523744" cy="219456"/>
          </a:xfrm>
          <a:prstGeom prst="rect">
            <a:avLst/>
          </a:prstGeom>
          <a:noFill/>
          <a:ln/>
        </p:spPr>
        <p:txBody>
          <a:bodyPr wrap="square" lIns="0" tIns="0" rIns="0" bIns="0" rtlCol="0" anchor="t"/>
          <a:lstStyle/>
          <a:p>
            <a:pPr indent="0" marL="0">
              <a:buNone/>
            </a:pPr>
            <a:r>
              <a:rPr lang="en-US" sz="1200" b="1" dirty="0">
                <a:solidFill>
                  <a:schemeClr val="accent2"/>
                </a:solidFill>
              </a:rPr>
              <a:t>7 modules</a:t>
            </a:r>
            <a:endParaRPr lang="en-US" sz="1200" dirty="0"/>
          </a:p>
        </p:txBody>
      </p:sp>
      <p:sp>
        <p:nvSpPr>
          <p:cNvPr id="9" name="domain list A Administration"/>
          <p:cNvSpPr txBox="1"/>
          <p:nvPr/>
        </p:nvSpPr>
        <p:spPr>
          <a:xfrm>
            <a:off x="777240" y="2542032"/>
            <a:ext cx="1554480" cy="1143000"/>
          </a:xfrm>
          <a:prstGeom prst="rect">
            <a:avLst/>
          </a:prstGeom>
          <a:noFill/>
          <a:ln/>
        </p:spPr>
        <p:txBody>
          <a:bodyPr wrap="square" lIns="0" tIns="0" rIns="0" bIns="0" rtlCol="0" anchor="t"/>
          <a:lstStyle/>
          <a:p>
            <a:pPr marL="152400" indent="-152400">
              <a:spcAft>
                <a:spcPts val="200"/>
              </a:spcAft>
              <a:buSzPct val="100000"/>
              <a:buChar char="•"/>
            </a:pPr>
            <a:r>
              <a:rPr lang="en-US" sz="1300" dirty="0">
                <a:solidFill>
                  <a:schemeClr val="tx1"/>
                </a:solidFill>
              </a:rPr>
              <a:t>User Groups</a:t>
            </a:r>
            <a:endParaRPr lang="en-US" sz="1300" dirty="0"/>
          </a:p>
          <a:p>
            <a:pPr marL="152400" indent="-152400">
              <a:spcAft>
                <a:spcPts val="200"/>
              </a:spcAft>
              <a:buSzPct val="100000"/>
              <a:buChar char="•"/>
            </a:pPr>
            <a:r>
              <a:rPr lang="en-US" sz="1300" dirty="0">
                <a:solidFill>
                  <a:schemeClr val="tx1"/>
                </a:solidFill>
              </a:rPr>
              <a:t>Users</a:t>
            </a:r>
            <a:endParaRPr lang="en-US" sz="1300" dirty="0"/>
          </a:p>
          <a:p>
            <a:pPr marL="152400" indent="-152400">
              <a:spcAft>
                <a:spcPts val="200"/>
              </a:spcAft>
              <a:buSzPct val="100000"/>
              <a:buChar char="•"/>
            </a:pPr>
            <a:r>
              <a:rPr lang="en-US" sz="1300" dirty="0">
                <a:solidFill>
                  <a:schemeClr val="tx1"/>
                </a:solidFill>
              </a:rPr>
              <a:t>Login &amp; Access</a:t>
            </a:r>
            <a:endParaRPr lang="en-US" sz="1300" dirty="0"/>
          </a:p>
          <a:p>
            <a:pPr marL="152400" indent="-152400">
              <a:spcAft>
                <a:spcPts val="200"/>
              </a:spcAft>
              <a:buSzPct val="100000"/>
              <a:buChar char="•"/>
            </a:pPr>
            <a:r>
              <a:rPr lang="en-US" sz="1300" dirty="0">
                <a:solidFill>
                  <a:schemeClr val="tx1"/>
                </a:solidFill>
              </a:rPr>
              <a:t>Parameters</a:t>
            </a:r>
            <a:endParaRPr lang="en-US" sz="1300" dirty="0"/>
          </a:p>
        </p:txBody>
      </p:sp>
      <p:sp>
        <p:nvSpPr>
          <p:cNvPr id="10" name="domain list B Administration"/>
          <p:cNvSpPr txBox="1"/>
          <p:nvPr/>
        </p:nvSpPr>
        <p:spPr>
          <a:xfrm>
            <a:off x="2359152" y="2542032"/>
            <a:ext cx="1600200" cy="1143000"/>
          </a:xfrm>
          <a:prstGeom prst="rect">
            <a:avLst/>
          </a:prstGeom>
          <a:noFill/>
          <a:ln/>
        </p:spPr>
        <p:txBody>
          <a:bodyPr wrap="square" lIns="0" tIns="0" rIns="0" bIns="0" rtlCol="0" anchor="t"/>
          <a:lstStyle/>
          <a:p>
            <a:pPr marL="152400" indent="-152400">
              <a:spcAft>
                <a:spcPts val="200"/>
              </a:spcAft>
              <a:buSzPct val="100000"/>
              <a:buChar char="•"/>
            </a:pPr>
            <a:r>
              <a:rPr lang="en-US" sz="1300" dirty="0">
                <a:solidFill>
                  <a:schemeClr val="tx1"/>
                </a:solidFill>
              </a:rPr>
              <a:t>Court Holidays</a:t>
            </a:r>
            <a:endParaRPr lang="en-US" sz="1300" dirty="0"/>
          </a:p>
          <a:p>
            <a:pPr marL="152400" indent="-152400">
              <a:spcAft>
                <a:spcPts val="200"/>
              </a:spcAft>
              <a:buSzPct val="100000"/>
              <a:buChar char="•"/>
            </a:pPr>
            <a:r>
              <a:rPr lang="en-US" sz="1300" dirty="0">
                <a:solidFill>
                  <a:schemeClr val="tx1"/>
                </a:solidFill>
              </a:rPr>
              <a:t>Lawyer Packages</a:t>
            </a:r>
            <a:endParaRPr lang="en-US" sz="1300" dirty="0"/>
          </a:p>
          <a:p>
            <a:pPr marL="152400" indent="-152400">
              <a:spcAft>
                <a:spcPts val="200"/>
              </a:spcAft>
              <a:buSzPct val="100000"/>
              <a:buChar char="•"/>
            </a:pPr>
            <a:r>
              <a:rPr lang="en-US" sz="1300" dirty="0">
                <a:solidFill>
                  <a:schemeClr val="tx1"/>
                </a:solidFill>
              </a:rPr>
              <a:t>System Settings</a:t>
            </a:r>
            <a:endParaRPr lang="en-US" sz="1300" dirty="0"/>
          </a:p>
        </p:txBody>
      </p:sp>
      <p:sp>
        <p:nvSpPr>
          <p:cNvPr id="11" name="domain card Pre-Litigation"/>
          <p:cNvSpPr/>
          <p:nvPr/>
        </p:nvSpPr>
        <p:spPr>
          <a:xfrm>
            <a:off x="4352544" y="1737360"/>
            <a:ext cx="3483864" cy="2057400"/>
          </a:xfrm>
          <a:prstGeom prst="roundRect">
            <a:avLst>
              <a:gd name="adj" fmla="val 5333"/>
            </a:avLst>
          </a:prstGeom>
          <a:solidFill>
            <a:schemeClr val="bg1"/>
          </a:solidFill>
          <a:ln w="9525">
            <a:solidFill>
              <a:schemeClr val="accent6">
                <a:alpha val="30000"/>
              </a:schemeClr>
            </a:solidFill>
            <a:prstDash val="solid"/>
          </a:ln>
          <a:effectLst>
            <a:outerShdw sx="100000" sy="100000" kx="0" ky="0" algn="bl" rotWithShape="0" blurRad="127000" dist="25400" dir="5400000">
              <a:srgbClr val="0B1F3A">
                <a:alpha val="10000"/>
              </a:srgbClr>
            </a:outerShdw>
          </a:effectLst>
        </p:spPr>
      </p:sp>
      <p:sp>
        <p:nvSpPr>
          <p:cNvPr id="12" name="domain icon Pre-Litigation circle"/>
          <p:cNvSpPr/>
          <p:nvPr/>
        </p:nvSpPr>
        <p:spPr>
          <a:xfrm>
            <a:off x="4581144" y="1938528"/>
            <a:ext cx="438912" cy="438912"/>
          </a:xfrm>
          <a:prstGeom prst="ellipse">
            <a:avLst/>
          </a:prstGeom>
          <a:solidFill>
            <a:schemeClr val="accent1"/>
          </a:solidFill>
          <a:ln/>
        </p:spPr>
      </p:sp>
      <p:pic>
        <p:nvPicPr>
          <p:cNvPr id="13" name="domain icon Pre-Litigation glyph" descr="bell icon">    </p:cNvPr>
          <p:cNvPicPr>
            <a:picLocks noChangeAspect="1"/>
          </p:cNvPicPr>
          <p:nvPr/>
        </p:nvPicPr>
        <p:blipFill>
          <a:blip r:embed="rId2"/>
          <a:stretch>
            <a:fillRect/>
          </a:stretch>
        </p:blipFill>
        <p:spPr>
          <a:xfrm>
            <a:off x="4686483" y="2043867"/>
            <a:ext cx="228234" cy="228234"/>
          </a:xfrm>
          <a:prstGeom prst="rect">
            <a:avLst/>
          </a:prstGeom>
        </p:spPr>
      </p:pic>
      <p:sp>
        <p:nvSpPr>
          <p:cNvPr id="14" name="domain title Pre-Litigation"/>
          <p:cNvSpPr txBox="1"/>
          <p:nvPr/>
        </p:nvSpPr>
        <p:spPr>
          <a:xfrm>
            <a:off x="5157216" y="1920240"/>
            <a:ext cx="2523744" cy="274320"/>
          </a:xfrm>
          <a:prstGeom prst="rect">
            <a:avLst/>
          </a:prstGeom>
          <a:noFill/>
          <a:ln/>
        </p:spPr>
        <p:txBody>
          <a:bodyPr wrap="square" lIns="0" tIns="0" rIns="0" bIns="0" rtlCol="0" anchor="t"/>
          <a:lstStyle/>
          <a:p>
            <a:pPr indent="0" marL="0">
              <a:buNone/>
            </a:pPr>
            <a:r>
              <a:rPr lang="en-US" sz="1600" b="1" dirty="0">
                <a:solidFill>
                  <a:schemeClr val="tx1"/>
                </a:solidFill>
              </a:rPr>
              <a:t>Pre-Litigation</a:t>
            </a:r>
            <a:endParaRPr lang="en-US" sz="1600" dirty="0"/>
          </a:p>
        </p:txBody>
      </p:sp>
      <p:sp>
        <p:nvSpPr>
          <p:cNvPr id="15" name="domain count Pre-Litigation"/>
          <p:cNvSpPr txBox="1"/>
          <p:nvPr/>
        </p:nvSpPr>
        <p:spPr>
          <a:xfrm>
            <a:off x="5157216" y="2194560"/>
            <a:ext cx="2523744" cy="219456"/>
          </a:xfrm>
          <a:prstGeom prst="rect">
            <a:avLst/>
          </a:prstGeom>
          <a:noFill/>
          <a:ln/>
        </p:spPr>
        <p:txBody>
          <a:bodyPr wrap="square" lIns="0" tIns="0" rIns="0" bIns="0" rtlCol="0" anchor="t"/>
          <a:lstStyle/>
          <a:p>
            <a:pPr indent="0" marL="0">
              <a:buNone/>
            </a:pPr>
            <a:r>
              <a:rPr lang="en-US" sz="1200" b="1" dirty="0">
                <a:solidFill>
                  <a:schemeClr val="accent2"/>
                </a:solidFill>
              </a:rPr>
              <a:t>2 modules</a:t>
            </a:r>
            <a:endParaRPr lang="en-US" sz="1200" dirty="0"/>
          </a:p>
        </p:txBody>
      </p:sp>
      <p:sp>
        <p:nvSpPr>
          <p:cNvPr id="16" name="domain list Pre-Litigation"/>
          <p:cNvSpPr txBox="1"/>
          <p:nvPr/>
        </p:nvSpPr>
        <p:spPr>
          <a:xfrm>
            <a:off x="4581144" y="2542032"/>
            <a:ext cx="3072384" cy="1143000"/>
          </a:xfrm>
          <a:prstGeom prst="rect">
            <a:avLst/>
          </a:prstGeom>
          <a:noFill/>
          <a:ln/>
        </p:spPr>
        <p:txBody>
          <a:bodyPr wrap="square" lIns="0" tIns="0" rIns="0" bIns="0" rtlCol="0" anchor="t"/>
          <a:lstStyle/>
          <a:p>
            <a:pPr marL="152400" indent="-152400">
              <a:spcAft>
                <a:spcPts val="200"/>
              </a:spcAft>
              <a:buSzPct val="100000"/>
              <a:buChar char="•"/>
            </a:pPr>
            <a:r>
              <a:rPr lang="en-US" sz="1300" dirty="0">
                <a:solidFill>
                  <a:schemeClr val="tx1"/>
                </a:solidFill>
              </a:rPr>
              <a:t>1st Legal &amp; Reminder Notice</a:t>
            </a:r>
            <a:endParaRPr lang="en-US" sz="1300" dirty="0"/>
          </a:p>
          <a:p>
            <a:pPr marL="152400" indent="-152400">
              <a:spcAft>
                <a:spcPts val="200"/>
              </a:spcAft>
              <a:buSzPct val="100000"/>
              <a:buChar char="•"/>
            </a:pPr>
            <a:r>
              <a:rPr lang="en-US" sz="1300" dirty="0">
                <a:solidFill>
                  <a:schemeClr val="tx1"/>
                </a:solidFill>
              </a:rPr>
              <a:t>Case Merit Analysis (CMA)</a:t>
            </a:r>
            <a:endParaRPr lang="en-US" sz="1300" dirty="0"/>
          </a:p>
        </p:txBody>
      </p:sp>
      <p:sp>
        <p:nvSpPr>
          <p:cNvPr id="17" name="domain note Pre-Litigation"/>
          <p:cNvSpPr txBox="1"/>
          <p:nvPr/>
        </p:nvSpPr>
        <p:spPr>
          <a:xfrm>
            <a:off x="4581144" y="3154680"/>
            <a:ext cx="3026664" cy="457200"/>
          </a:xfrm>
          <a:prstGeom prst="rect">
            <a:avLst/>
          </a:prstGeom>
          <a:noFill/>
          <a:ln/>
        </p:spPr>
        <p:txBody>
          <a:bodyPr wrap="square" lIns="0" tIns="0" rIns="0" bIns="0" rtlCol="0" anchor="t"/>
          <a:lstStyle/>
          <a:p>
            <a:pPr indent="0" marL="0">
              <a:buNone/>
            </a:pPr>
            <a:r>
              <a:rPr lang="en-US" sz="1200" i="1" dirty="0">
                <a:solidFill>
                  <a:schemeClr val="accent6"/>
                </a:solidFill>
              </a:rPr>
              <a:t>Includes CBS customer lookup and land/property legal vetting</a:t>
            </a:r>
            <a:endParaRPr lang="en-US" sz="1200" dirty="0"/>
          </a:p>
        </p:txBody>
      </p:sp>
      <p:sp>
        <p:nvSpPr>
          <p:cNvPr id="18" name="domain card Litigation"/>
          <p:cNvSpPr/>
          <p:nvPr/>
        </p:nvSpPr>
        <p:spPr>
          <a:xfrm>
            <a:off x="8156448" y="1737360"/>
            <a:ext cx="3483864" cy="2057400"/>
          </a:xfrm>
          <a:prstGeom prst="roundRect">
            <a:avLst>
              <a:gd name="adj" fmla="val 5333"/>
            </a:avLst>
          </a:prstGeom>
          <a:solidFill>
            <a:schemeClr val="bg1"/>
          </a:solidFill>
          <a:ln w="9525">
            <a:solidFill>
              <a:schemeClr val="accent6">
                <a:alpha val="30000"/>
              </a:schemeClr>
            </a:solidFill>
            <a:prstDash val="solid"/>
          </a:ln>
          <a:effectLst>
            <a:outerShdw sx="100000" sy="100000" kx="0" ky="0" algn="bl" rotWithShape="0" blurRad="127000" dist="25400" dir="5400000">
              <a:srgbClr val="0B1F3A">
                <a:alpha val="10000"/>
              </a:srgbClr>
            </a:outerShdw>
          </a:effectLst>
        </p:spPr>
      </p:sp>
      <p:sp>
        <p:nvSpPr>
          <p:cNvPr id="19" name="domain icon Litigation circle"/>
          <p:cNvSpPr/>
          <p:nvPr/>
        </p:nvSpPr>
        <p:spPr>
          <a:xfrm>
            <a:off x="8385048" y="1938528"/>
            <a:ext cx="438912" cy="438912"/>
          </a:xfrm>
          <a:prstGeom prst="ellipse">
            <a:avLst/>
          </a:prstGeom>
          <a:solidFill>
            <a:schemeClr val="accent1"/>
          </a:solidFill>
          <a:ln/>
        </p:spPr>
      </p:sp>
      <p:pic>
        <p:nvPicPr>
          <p:cNvPr id="20" name="domain icon Litigation glyph" descr="scale icon">    </p:cNvPr>
          <p:cNvPicPr>
            <a:picLocks noChangeAspect="1"/>
          </p:cNvPicPr>
          <p:nvPr/>
        </p:nvPicPr>
        <p:blipFill>
          <a:blip r:embed="rId3"/>
          <a:stretch>
            <a:fillRect/>
          </a:stretch>
        </p:blipFill>
        <p:spPr>
          <a:xfrm>
            <a:off x="8490387" y="2043867"/>
            <a:ext cx="228234" cy="228234"/>
          </a:xfrm>
          <a:prstGeom prst="rect">
            <a:avLst/>
          </a:prstGeom>
        </p:spPr>
      </p:pic>
      <p:sp>
        <p:nvSpPr>
          <p:cNvPr id="21" name="domain title Litigation"/>
          <p:cNvSpPr txBox="1"/>
          <p:nvPr/>
        </p:nvSpPr>
        <p:spPr>
          <a:xfrm>
            <a:off x="8961120" y="1920240"/>
            <a:ext cx="2523744" cy="274320"/>
          </a:xfrm>
          <a:prstGeom prst="rect">
            <a:avLst/>
          </a:prstGeom>
          <a:noFill/>
          <a:ln/>
        </p:spPr>
        <p:txBody>
          <a:bodyPr wrap="square" lIns="0" tIns="0" rIns="0" bIns="0" rtlCol="0" anchor="t"/>
          <a:lstStyle/>
          <a:p>
            <a:pPr indent="0" marL="0">
              <a:buNone/>
            </a:pPr>
            <a:r>
              <a:rPr lang="en-US" sz="1600" b="1" dirty="0">
                <a:solidFill>
                  <a:schemeClr val="tx1"/>
                </a:solidFill>
              </a:rPr>
              <a:t>Litigation</a:t>
            </a:r>
            <a:endParaRPr lang="en-US" sz="1600" dirty="0"/>
          </a:p>
        </p:txBody>
      </p:sp>
      <p:sp>
        <p:nvSpPr>
          <p:cNvPr id="22" name="domain count Litigation"/>
          <p:cNvSpPr txBox="1"/>
          <p:nvPr/>
        </p:nvSpPr>
        <p:spPr>
          <a:xfrm>
            <a:off x="8961120" y="2194560"/>
            <a:ext cx="2523744" cy="219456"/>
          </a:xfrm>
          <a:prstGeom prst="rect">
            <a:avLst/>
          </a:prstGeom>
          <a:noFill/>
          <a:ln/>
        </p:spPr>
        <p:txBody>
          <a:bodyPr wrap="square" lIns="0" tIns="0" rIns="0" bIns="0" rtlCol="0" anchor="t"/>
          <a:lstStyle/>
          <a:p>
            <a:pPr indent="0" marL="0">
              <a:buNone/>
            </a:pPr>
            <a:r>
              <a:rPr lang="en-US" sz="1200" b="1" dirty="0">
                <a:solidFill>
                  <a:schemeClr val="accent2"/>
                </a:solidFill>
              </a:rPr>
              <a:t>8 modules</a:t>
            </a:r>
            <a:endParaRPr lang="en-US" sz="1200" dirty="0"/>
          </a:p>
        </p:txBody>
      </p:sp>
      <p:sp>
        <p:nvSpPr>
          <p:cNvPr id="23" name="domain list A Litigation"/>
          <p:cNvSpPr txBox="1"/>
          <p:nvPr/>
        </p:nvSpPr>
        <p:spPr>
          <a:xfrm>
            <a:off x="8385048" y="2542032"/>
            <a:ext cx="1554480" cy="1143000"/>
          </a:xfrm>
          <a:prstGeom prst="rect">
            <a:avLst/>
          </a:prstGeom>
          <a:noFill/>
          <a:ln/>
        </p:spPr>
        <p:txBody>
          <a:bodyPr wrap="square" lIns="0" tIns="0" rIns="0" bIns="0" rtlCol="0" anchor="t"/>
          <a:lstStyle/>
          <a:p>
            <a:pPr marL="152400" indent="-152400">
              <a:spcAft>
                <a:spcPts val="200"/>
              </a:spcAft>
              <a:buSzPct val="100000"/>
              <a:buChar char="•"/>
            </a:pPr>
            <a:r>
              <a:rPr lang="en-US" sz="1300" dirty="0">
                <a:solidFill>
                  <a:schemeClr val="tx1"/>
                </a:solidFill>
              </a:rPr>
              <a:t>Lower Court Suits</a:t>
            </a:r>
            <a:endParaRPr lang="en-US" sz="1300" dirty="0"/>
          </a:p>
          <a:p>
            <a:pPr marL="152400" indent="-152400">
              <a:spcAft>
                <a:spcPts val="200"/>
              </a:spcAft>
              <a:buSzPct val="100000"/>
              <a:buChar char="•"/>
            </a:pPr>
            <a:r>
              <a:rPr lang="en-US" sz="1300" dirty="0">
                <a:solidFill>
                  <a:schemeClr val="tx1"/>
                </a:solidFill>
              </a:rPr>
              <a:t>Case Steps</a:t>
            </a:r>
            <a:endParaRPr lang="en-US" sz="1300" dirty="0"/>
          </a:p>
          <a:p>
            <a:pPr marL="152400" indent="-152400">
              <a:spcAft>
                <a:spcPts val="200"/>
              </a:spcAft>
              <a:buSzPct val="100000"/>
              <a:buChar char="•"/>
            </a:pPr>
            <a:r>
              <a:rPr lang="en-US" sz="1300" dirty="0">
                <a:solidFill>
                  <a:schemeClr val="tx1"/>
                </a:solidFill>
              </a:rPr>
              <a:t>Arising Cases</a:t>
            </a:r>
            <a:endParaRPr lang="en-US" sz="1300" dirty="0"/>
          </a:p>
          <a:p>
            <a:pPr marL="152400" indent="-152400">
              <a:spcAft>
                <a:spcPts val="200"/>
              </a:spcAft>
              <a:buSzPct val="100000"/>
              <a:buChar char="•"/>
            </a:pPr>
            <a:r>
              <a:rPr lang="en-US" sz="1300" dirty="0">
                <a:solidFill>
                  <a:schemeClr val="tx1"/>
                </a:solidFill>
              </a:rPr>
              <a:t>HC &amp; AD Matters</a:t>
            </a:r>
            <a:endParaRPr lang="en-US" sz="1300" dirty="0"/>
          </a:p>
        </p:txBody>
      </p:sp>
      <p:sp>
        <p:nvSpPr>
          <p:cNvPr id="24" name="domain list B Litigation"/>
          <p:cNvSpPr txBox="1"/>
          <p:nvPr/>
        </p:nvSpPr>
        <p:spPr>
          <a:xfrm>
            <a:off x="9966960" y="2542032"/>
            <a:ext cx="1600200" cy="1143000"/>
          </a:xfrm>
          <a:prstGeom prst="rect">
            <a:avLst/>
          </a:prstGeom>
          <a:noFill/>
          <a:ln/>
        </p:spPr>
        <p:txBody>
          <a:bodyPr wrap="square" lIns="0" tIns="0" rIns="0" bIns="0" rtlCol="0" anchor="t"/>
          <a:lstStyle/>
          <a:p>
            <a:pPr marL="152400" indent="-152400">
              <a:spcAft>
                <a:spcPts val="200"/>
              </a:spcAft>
              <a:buSzPct val="100000"/>
              <a:buChar char="•"/>
            </a:pPr>
            <a:r>
              <a:rPr lang="en-US" sz="1300" dirty="0">
                <a:solidFill>
                  <a:schemeClr val="tx1"/>
                </a:solidFill>
              </a:rPr>
              <a:t>Cases vs. Bank</a:t>
            </a:r>
            <a:endParaRPr lang="en-US" sz="1300" dirty="0"/>
          </a:p>
          <a:p>
            <a:pPr marL="152400" indent="-152400">
              <a:spcAft>
                <a:spcPts val="200"/>
              </a:spcAft>
              <a:buSzPct val="100000"/>
              <a:buChar char="•"/>
            </a:pPr>
            <a:r>
              <a:rPr lang="en-US" sz="1300" dirty="0">
                <a:solidFill>
                  <a:schemeClr val="tx1"/>
                </a:solidFill>
              </a:rPr>
              <a:t>Employee Affairs</a:t>
            </a:r>
            <a:endParaRPr lang="en-US" sz="1300" dirty="0"/>
          </a:p>
          <a:p>
            <a:pPr marL="152400" indent="-152400">
              <a:spcAft>
                <a:spcPts val="200"/>
              </a:spcAft>
              <a:buSzPct val="100000"/>
              <a:buChar char="•"/>
            </a:pPr>
            <a:r>
              <a:rPr lang="en-US" sz="1300" dirty="0">
                <a:solidFill>
                  <a:schemeClr val="tx1"/>
                </a:solidFill>
              </a:rPr>
              <a:t>Warrant of Arrest</a:t>
            </a:r>
            <a:endParaRPr lang="en-US" sz="1300" dirty="0"/>
          </a:p>
          <a:p>
            <a:pPr marL="152400" indent="-152400">
              <a:spcAft>
                <a:spcPts val="200"/>
              </a:spcAft>
              <a:buSzPct val="100000"/>
              <a:buChar char="•"/>
            </a:pPr>
            <a:r>
              <a:rPr lang="en-US" sz="1300" dirty="0">
                <a:solidFill>
                  <a:schemeClr val="tx1"/>
                </a:solidFill>
              </a:rPr>
              <a:t>Appeal Bail Money</a:t>
            </a:r>
            <a:endParaRPr lang="en-US" sz="1300" dirty="0"/>
          </a:p>
        </p:txBody>
      </p:sp>
      <p:sp>
        <p:nvSpPr>
          <p:cNvPr id="25" name="domain card Recovery &amp; Finance"/>
          <p:cNvSpPr/>
          <p:nvPr/>
        </p:nvSpPr>
        <p:spPr>
          <a:xfrm>
            <a:off x="548640" y="4023360"/>
            <a:ext cx="3483864" cy="2057400"/>
          </a:xfrm>
          <a:prstGeom prst="roundRect">
            <a:avLst>
              <a:gd name="adj" fmla="val 5333"/>
            </a:avLst>
          </a:prstGeom>
          <a:solidFill>
            <a:schemeClr val="bg1"/>
          </a:solidFill>
          <a:ln w="9525">
            <a:solidFill>
              <a:schemeClr val="accent6">
                <a:alpha val="30000"/>
              </a:schemeClr>
            </a:solidFill>
            <a:prstDash val="solid"/>
          </a:ln>
          <a:effectLst>
            <a:outerShdw sx="100000" sy="100000" kx="0" ky="0" algn="bl" rotWithShape="0" blurRad="127000" dist="25400" dir="5400000">
              <a:srgbClr val="0B1F3A">
                <a:alpha val="10000"/>
              </a:srgbClr>
            </a:outerShdw>
          </a:effectLst>
        </p:spPr>
      </p:sp>
      <p:sp>
        <p:nvSpPr>
          <p:cNvPr id="26" name="domain icon Recovery &amp; Finance circle"/>
          <p:cNvSpPr/>
          <p:nvPr/>
        </p:nvSpPr>
        <p:spPr>
          <a:xfrm>
            <a:off x="777240" y="4224528"/>
            <a:ext cx="438912" cy="438912"/>
          </a:xfrm>
          <a:prstGeom prst="ellipse">
            <a:avLst/>
          </a:prstGeom>
          <a:solidFill>
            <a:schemeClr val="accent1"/>
          </a:solidFill>
          <a:ln/>
        </p:spPr>
      </p:sp>
      <p:pic>
        <p:nvPicPr>
          <p:cNvPr id="27" name="domain icon Recovery &amp; Finance glyph" descr="wallet icon">    </p:cNvPr>
          <p:cNvPicPr>
            <a:picLocks noChangeAspect="1"/>
          </p:cNvPicPr>
          <p:nvPr/>
        </p:nvPicPr>
        <p:blipFill>
          <a:blip r:embed="rId4"/>
          <a:stretch>
            <a:fillRect/>
          </a:stretch>
        </p:blipFill>
        <p:spPr>
          <a:xfrm>
            <a:off x="882579" y="4329867"/>
            <a:ext cx="228234" cy="228234"/>
          </a:xfrm>
          <a:prstGeom prst="rect">
            <a:avLst/>
          </a:prstGeom>
        </p:spPr>
      </p:pic>
      <p:sp>
        <p:nvSpPr>
          <p:cNvPr id="28" name="domain title Recovery &amp;amp; Finance"/>
          <p:cNvSpPr txBox="1"/>
          <p:nvPr/>
        </p:nvSpPr>
        <p:spPr>
          <a:xfrm>
            <a:off x="1353312" y="4206240"/>
            <a:ext cx="2523744" cy="274320"/>
          </a:xfrm>
          <a:prstGeom prst="rect">
            <a:avLst/>
          </a:prstGeom>
          <a:noFill/>
          <a:ln/>
        </p:spPr>
        <p:txBody>
          <a:bodyPr wrap="square" lIns="0" tIns="0" rIns="0" bIns="0" rtlCol="0" anchor="t"/>
          <a:lstStyle/>
          <a:p>
            <a:pPr indent="0" marL="0">
              <a:buNone/>
            </a:pPr>
            <a:r>
              <a:rPr lang="en-US" sz="1600" b="1" dirty="0">
                <a:solidFill>
                  <a:schemeClr val="tx1"/>
                </a:solidFill>
              </a:rPr>
              <a:t>Recovery &amp; Finance</a:t>
            </a:r>
            <a:endParaRPr lang="en-US" sz="1600" dirty="0"/>
          </a:p>
        </p:txBody>
      </p:sp>
      <p:sp>
        <p:nvSpPr>
          <p:cNvPr id="29" name="domain count Recovery &amp;amp; Finance"/>
          <p:cNvSpPr txBox="1"/>
          <p:nvPr/>
        </p:nvSpPr>
        <p:spPr>
          <a:xfrm>
            <a:off x="1353312" y="4480560"/>
            <a:ext cx="2523744" cy="219456"/>
          </a:xfrm>
          <a:prstGeom prst="rect">
            <a:avLst/>
          </a:prstGeom>
          <a:noFill/>
          <a:ln/>
        </p:spPr>
        <p:txBody>
          <a:bodyPr wrap="square" lIns="0" tIns="0" rIns="0" bIns="0" rtlCol="0" anchor="t"/>
          <a:lstStyle/>
          <a:p>
            <a:pPr indent="0" marL="0">
              <a:buNone/>
            </a:pPr>
            <a:r>
              <a:rPr lang="en-US" sz="1200" b="1" dirty="0">
                <a:solidFill>
                  <a:schemeClr val="accent2"/>
                </a:solidFill>
              </a:rPr>
              <a:t>5 modules</a:t>
            </a:r>
            <a:endParaRPr lang="en-US" sz="1200" dirty="0"/>
          </a:p>
        </p:txBody>
      </p:sp>
      <p:sp>
        <p:nvSpPr>
          <p:cNvPr id="30" name="domain list Recovery &amp; Finance"/>
          <p:cNvSpPr txBox="1"/>
          <p:nvPr/>
        </p:nvSpPr>
        <p:spPr>
          <a:xfrm>
            <a:off x="777240" y="4828032"/>
            <a:ext cx="3072384" cy="1143000"/>
          </a:xfrm>
          <a:prstGeom prst="rect">
            <a:avLst/>
          </a:prstGeom>
          <a:noFill/>
          <a:ln/>
        </p:spPr>
        <p:txBody>
          <a:bodyPr wrap="square" lIns="0" tIns="0" rIns="0" bIns="0" rtlCol="0" anchor="t"/>
          <a:lstStyle/>
          <a:p>
            <a:pPr marL="152400" indent="-152400">
              <a:spcAft>
                <a:spcPts val="200"/>
              </a:spcAft>
              <a:buSzPct val="100000"/>
              <a:buChar char="•"/>
            </a:pPr>
            <a:r>
              <a:rPr lang="en-US" sz="1300" dirty="0">
                <a:solidFill>
                  <a:schemeClr val="tx1"/>
                </a:solidFill>
              </a:rPr>
              <a:t>Auction Management</a:t>
            </a:r>
            <a:endParaRPr lang="en-US" sz="1300" dirty="0"/>
          </a:p>
          <a:p>
            <a:pPr marL="152400" indent="-152400">
              <a:spcAft>
                <a:spcPts val="200"/>
              </a:spcAft>
              <a:buSzPct val="100000"/>
              <a:buChar char="•"/>
            </a:pPr>
            <a:r>
              <a:rPr lang="en-US" sz="1300" dirty="0">
                <a:solidFill>
                  <a:schemeClr val="tx1"/>
                </a:solidFill>
              </a:rPr>
              <a:t>Account Statements</a:t>
            </a:r>
            <a:endParaRPr lang="en-US" sz="1300" dirty="0"/>
          </a:p>
          <a:p>
            <a:pPr marL="152400" indent="-152400">
              <a:spcAft>
                <a:spcPts val="200"/>
              </a:spcAft>
              <a:buSzPct val="100000"/>
              <a:buChar char="•"/>
            </a:pPr>
            <a:r>
              <a:rPr lang="en-US" sz="1300" dirty="0">
                <a:solidFill>
                  <a:schemeClr val="tx1"/>
                </a:solidFill>
              </a:rPr>
              <a:t>Jari Statement &amp; Certificate</a:t>
            </a:r>
            <a:endParaRPr lang="en-US" sz="1300" dirty="0"/>
          </a:p>
          <a:p>
            <a:pPr marL="152400" indent="-152400">
              <a:spcAft>
                <a:spcPts val="200"/>
              </a:spcAft>
              <a:buSzPct val="100000"/>
              <a:buChar char="•"/>
            </a:pPr>
            <a:r>
              <a:rPr lang="en-US" sz="1300" dirty="0">
                <a:solidFill>
                  <a:schemeClr val="tx1"/>
                </a:solidFill>
              </a:rPr>
              <a:t>Bill Processing &amp; Disbursement</a:t>
            </a:r>
            <a:endParaRPr lang="en-US" sz="1300" dirty="0"/>
          </a:p>
          <a:p>
            <a:pPr marL="152400" indent="-152400">
              <a:spcAft>
                <a:spcPts val="200"/>
              </a:spcAft>
              <a:buSzPct val="100000"/>
              <a:buChar char="•"/>
            </a:pPr>
            <a:r>
              <a:rPr lang="en-US" sz="1300" dirty="0">
                <a:solidFill>
                  <a:schemeClr val="tx1"/>
                </a:solidFill>
              </a:rPr>
              <a:t>Court Fee Return &amp; Adjustment</a:t>
            </a:r>
            <a:endParaRPr lang="en-US" sz="1300" dirty="0"/>
          </a:p>
        </p:txBody>
      </p:sp>
      <p:sp>
        <p:nvSpPr>
          <p:cNvPr id="31" name="domain card Insight &amp; Reporting"/>
          <p:cNvSpPr/>
          <p:nvPr/>
        </p:nvSpPr>
        <p:spPr>
          <a:xfrm>
            <a:off x="4352544" y="4023360"/>
            <a:ext cx="3483864" cy="2057400"/>
          </a:xfrm>
          <a:prstGeom prst="roundRect">
            <a:avLst>
              <a:gd name="adj" fmla="val 5333"/>
            </a:avLst>
          </a:prstGeom>
          <a:solidFill>
            <a:schemeClr val="bg1"/>
          </a:solidFill>
          <a:ln w="9525">
            <a:solidFill>
              <a:schemeClr val="accent6">
                <a:alpha val="30000"/>
              </a:schemeClr>
            </a:solidFill>
            <a:prstDash val="solid"/>
          </a:ln>
          <a:effectLst>
            <a:outerShdw sx="100000" sy="100000" kx="0" ky="0" algn="bl" rotWithShape="0" blurRad="127000" dist="25400" dir="5400000">
              <a:srgbClr val="0B1F3A">
                <a:alpha val="10000"/>
              </a:srgbClr>
            </a:outerShdw>
          </a:effectLst>
        </p:spPr>
      </p:sp>
      <p:sp>
        <p:nvSpPr>
          <p:cNvPr id="32" name="domain icon Insight &amp; Reporting circle"/>
          <p:cNvSpPr/>
          <p:nvPr/>
        </p:nvSpPr>
        <p:spPr>
          <a:xfrm>
            <a:off x="4581144" y="4224528"/>
            <a:ext cx="438912" cy="438912"/>
          </a:xfrm>
          <a:prstGeom prst="ellipse">
            <a:avLst/>
          </a:prstGeom>
          <a:solidFill>
            <a:schemeClr val="accent1"/>
          </a:solidFill>
          <a:ln/>
        </p:spPr>
      </p:sp>
      <p:pic>
        <p:nvPicPr>
          <p:cNvPr id="33" name="domain icon Insight &amp; Reporting glyph" descr="chart column icon">    </p:cNvPr>
          <p:cNvPicPr>
            <a:picLocks noChangeAspect="1"/>
          </p:cNvPicPr>
          <p:nvPr/>
        </p:nvPicPr>
        <p:blipFill>
          <a:blip r:embed="rId5"/>
          <a:stretch>
            <a:fillRect/>
          </a:stretch>
        </p:blipFill>
        <p:spPr>
          <a:xfrm>
            <a:off x="4686483" y="4329867"/>
            <a:ext cx="228234" cy="228234"/>
          </a:xfrm>
          <a:prstGeom prst="rect">
            <a:avLst/>
          </a:prstGeom>
        </p:spPr>
      </p:pic>
      <p:sp>
        <p:nvSpPr>
          <p:cNvPr id="34" name="domain title Insight &amp;amp; Reporting"/>
          <p:cNvSpPr txBox="1"/>
          <p:nvPr/>
        </p:nvSpPr>
        <p:spPr>
          <a:xfrm>
            <a:off x="5157216" y="4206240"/>
            <a:ext cx="2523744" cy="274320"/>
          </a:xfrm>
          <a:prstGeom prst="rect">
            <a:avLst/>
          </a:prstGeom>
          <a:noFill/>
          <a:ln/>
        </p:spPr>
        <p:txBody>
          <a:bodyPr wrap="square" lIns="0" tIns="0" rIns="0" bIns="0" rtlCol="0" anchor="t"/>
          <a:lstStyle/>
          <a:p>
            <a:pPr indent="0" marL="0">
              <a:buNone/>
            </a:pPr>
            <a:r>
              <a:rPr lang="en-US" sz="1600" b="1" dirty="0">
                <a:solidFill>
                  <a:schemeClr val="tx1"/>
                </a:solidFill>
              </a:rPr>
              <a:t>Insight &amp; Reporting</a:t>
            </a:r>
            <a:endParaRPr lang="en-US" sz="1600" dirty="0"/>
          </a:p>
        </p:txBody>
      </p:sp>
      <p:sp>
        <p:nvSpPr>
          <p:cNvPr id="35" name="domain count Insight &amp;amp; Reporting"/>
          <p:cNvSpPr txBox="1"/>
          <p:nvPr/>
        </p:nvSpPr>
        <p:spPr>
          <a:xfrm>
            <a:off x="5157216" y="4480560"/>
            <a:ext cx="2523744" cy="219456"/>
          </a:xfrm>
          <a:prstGeom prst="rect">
            <a:avLst/>
          </a:prstGeom>
          <a:noFill/>
          <a:ln/>
        </p:spPr>
        <p:txBody>
          <a:bodyPr wrap="square" lIns="0" tIns="0" rIns="0" bIns="0" rtlCol="0" anchor="t"/>
          <a:lstStyle/>
          <a:p>
            <a:pPr indent="0" marL="0">
              <a:buNone/>
            </a:pPr>
            <a:r>
              <a:rPr lang="en-US" sz="1200" b="1" dirty="0">
                <a:solidFill>
                  <a:schemeClr val="accent2"/>
                </a:solidFill>
              </a:rPr>
              <a:t>4 modules</a:t>
            </a:r>
            <a:endParaRPr lang="en-US" sz="1200" dirty="0"/>
          </a:p>
        </p:txBody>
      </p:sp>
      <p:sp>
        <p:nvSpPr>
          <p:cNvPr id="36" name="domain list Insight &amp; Reporting"/>
          <p:cNvSpPr txBox="1"/>
          <p:nvPr/>
        </p:nvSpPr>
        <p:spPr>
          <a:xfrm>
            <a:off x="4581144" y="4828032"/>
            <a:ext cx="3072384" cy="1143000"/>
          </a:xfrm>
          <a:prstGeom prst="rect">
            <a:avLst/>
          </a:prstGeom>
          <a:noFill/>
          <a:ln/>
        </p:spPr>
        <p:txBody>
          <a:bodyPr wrap="square" lIns="0" tIns="0" rIns="0" bIns="0" rtlCol="0" anchor="t"/>
          <a:lstStyle/>
          <a:p>
            <a:pPr marL="152400" indent="-152400">
              <a:spcAft>
                <a:spcPts val="200"/>
              </a:spcAft>
              <a:buSzPct val="100000"/>
              <a:buChar char="•"/>
            </a:pPr>
            <a:r>
              <a:rPr lang="en-US" sz="1300" dirty="0">
                <a:solidFill>
                  <a:schemeClr val="tx1"/>
                </a:solidFill>
              </a:rPr>
              <a:t>Real-Time Dashboard</a:t>
            </a:r>
            <a:endParaRPr lang="en-US" sz="1300" dirty="0"/>
          </a:p>
          <a:p>
            <a:pPr marL="152400" indent="-152400">
              <a:spcAft>
                <a:spcPts val="200"/>
              </a:spcAft>
              <a:buSzPct val="100000"/>
              <a:buChar char="•"/>
            </a:pPr>
            <a:r>
              <a:rPr lang="en-US" sz="1300" dirty="0">
                <a:solidFill>
                  <a:schemeClr val="tx1"/>
                </a:solidFill>
              </a:rPr>
              <a:t>Reports &amp; MIS (48)</a:t>
            </a:r>
            <a:endParaRPr lang="en-US" sz="1300" dirty="0"/>
          </a:p>
          <a:p>
            <a:pPr marL="152400" indent="-152400">
              <a:spcAft>
                <a:spcPts val="200"/>
              </a:spcAft>
              <a:buSzPct val="100000"/>
              <a:buChar char="•"/>
            </a:pPr>
            <a:r>
              <a:rPr lang="en-US" sz="1300" dirty="0">
                <a:solidFill>
                  <a:schemeClr val="tx1"/>
                </a:solidFill>
              </a:rPr>
              <a:t>Notifications &amp; Alerts</a:t>
            </a:r>
            <a:endParaRPr lang="en-US" sz="1300" dirty="0"/>
          </a:p>
          <a:p>
            <a:pPr marL="152400" indent="-152400">
              <a:spcAft>
                <a:spcPts val="200"/>
              </a:spcAft>
              <a:buSzPct val="100000"/>
              <a:buChar char="•"/>
            </a:pPr>
            <a:r>
              <a:rPr lang="en-US" sz="1300" dirty="0">
                <a:solidFill>
                  <a:schemeClr val="tx1"/>
                </a:solidFill>
              </a:rPr>
              <a:t>Customer 360° Search</a:t>
            </a:r>
            <a:endParaRPr lang="en-US" sz="1300" dirty="0"/>
          </a:p>
        </p:txBody>
      </p:sp>
      <p:sp>
        <p:nvSpPr>
          <p:cNvPr id="37" name="domain card Collaboration"/>
          <p:cNvSpPr/>
          <p:nvPr/>
        </p:nvSpPr>
        <p:spPr>
          <a:xfrm>
            <a:off x="8156448" y="4023360"/>
            <a:ext cx="3483864" cy="2057400"/>
          </a:xfrm>
          <a:prstGeom prst="roundRect">
            <a:avLst>
              <a:gd name="adj" fmla="val 5333"/>
            </a:avLst>
          </a:prstGeom>
          <a:solidFill>
            <a:schemeClr val="bg1"/>
          </a:solidFill>
          <a:ln w="9525">
            <a:solidFill>
              <a:schemeClr val="accent6">
                <a:alpha val="30000"/>
              </a:schemeClr>
            </a:solidFill>
            <a:prstDash val="solid"/>
          </a:ln>
          <a:effectLst>
            <a:outerShdw sx="100000" sy="100000" kx="0" ky="0" algn="bl" rotWithShape="0" blurRad="127000" dist="25400" dir="5400000">
              <a:srgbClr val="0B1F3A">
                <a:alpha val="10000"/>
              </a:srgbClr>
            </a:outerShdw>
          </a:effectLst>
        </p:spPr>
      </p:sp>
      <p:sp>
        <p:nvSpPr>
          <p:cNvPr id="38" name="domain icon Collaboration circle"/>
          <p:cNvSpPr/>
          <p:nvPr/>
        </p:nvSpPr>
        <p:spPr>
          <a:xfrm>
            <a:off x="8385048" y="4224528"/>
            <a:ext cx="438912" cy="438912"/>
          </a:xfrm>
          <a:prstGeom prst="ellipse">
            <a:avLst/>
          </a:prstGeom>
          <a:solidFill>
            <a:schemeClr val="accent1"/>
          </a:solidFill>
          <a:ln/>
        </p:spPr>
      </p:sp>
      <p:pic>
        <p:nvPicPr>
          <p:cNvPr id="39" name="domain icon Collaboration glyph" descr="messages square icon">    </p:cNvPr>
          <p:cNvPicPr>
            <a:picLocks noChangeAspect="1"/>
          </p:cNvPicPr>
          <p:nvPr/>
        </p:nvPicPr>
        <p:blipFill>
          <a:blip r:embed="rId6"/>
          <a:stretch>
            <a:fillRect/>
          </a:stretch>
        </p:blipFill>
        <p:spPr>
          <a:xfrm>
            <a:off x="8490387" y="4329867"/>
            <a:ext cx="228234" cy="228234"/>
          </a:xfrm>
          <a:prstGeom prst="rect">
            <a:avLst/>
          </a:prstGeom>
        </p:spPr>
      </p:pic>
      <p:sp>
        <p:nvSpPr>
          <p:cNvPr id="40" name="domain title Collaboration"/>
          <p:cNvSpPr txBox="1"/>
          <p:nvPr/>
        </p:nvSpPr>
        <p:spPr>
          <a:xfrm>
            <a:off x="8961120" y="4206240"/>
            <a:ext cx="2523744" cy="274320"/>
          </a:xfrm>
          <a:prstGeom prst="rect">
            <a:avLst/>
          </a:prstGeom>
          <a:noFill/>
          <a:ln/>
        </p:spPr>
        <p:txBody>
          <a:bodyPr wrap="square" lIns="0" tIns="0" rIns="0" bIns="0" rtlCol="0" anchor="t"/>
          <a:lstStyle/>
          <a:p>
            <a:pPr indent="0" marL="0">
              <a:buNone/>
            </a:pPr>
            <a:r>
              <a:rPr lang="en-US" sz="1600" b="1" dirty="0">
                <a:solidFill>
                  <a:schemeClr val="tx1"/>
                </a:solidFill>
              </a:rPr>
              <a:t>Collaboration</a:t>
            </a:r>
            <a:endParaRPr lang="en-US" sz="1600" dirty="0"/>
          </a:p>
        </p:txBody>
      </p:sp>
      <p:sp>
        <p:nvSpPr>
          <p:cNvPr id="41" name="domain count Collaboration"/>
          <p:cNvSpPr txBox="1"/>
          <p:nvPr/>
        </p:nvSpPr>
        <p:spPr>
          <a:xfrm>
            <a:off x="8961120" y="4480560"/>
            <a:ext cx="2523744" cy="219456"/>
          </a:xfrm>
          <a:prstGeom prst="rect">
            <a:avLst/>
          </a:prstGeom>
          <a:noFill/>
          <a:ln/>
        </p:spPr>
        <p:txBody>
          <a:bodyPr wrap="square" lIns="0" tIns="0" rIns="0" bIns="0" rtlCol="0" anchor="t"/>
          <a:lstStyle/>
          <a:p>
            <a:pPr indent="0" marL="0">
              <a:buNone/>
            </a:pPr>
            <a:r>
              <a:rPr lang="en-US" sz="1200" b="1" dirty="0">
                <a:solidFill>
                  <a:schemeClr val="accent2"/>
                </a:solidFill>
              </a:rPr>
              <a:t>5 modules</a:t>
            </a:r>
            <a:endParaRPr lang="en-US" sz="1200" dirty="0"/>
          </a:p>
        </p:txBody>
      </p:sp>
      <p:sp>
        <p:nvSpPr>
          <p:cNvPr id="42" name="domain list Collaboration"/>
          <p:cNvSpPr txBox="1"/>
          <p:nvPr/>
        </p:nvSpPr>
        <p:spPr>
          <a:xfrm>
            <a:off x="8385048" y="4828032"/>
            <a:ext cx="3072384" cy="1143000"/>
          </a:xfrm>
          <a:prstGeom prst="rect">
            <a:avLst/>
          </a:prstGeom>
          <a:noFill/>
          <a:ln/>
        </p:spPr>
        <p:txBody>
          <a:bodyPr wrap="square" lIns="0" tIns="0" rIns="0" bIns="0" rtlCol="0" anchor="t"/>
          <a:lstStyle/>
          <a:p>
            <a:pPr marL="152400" indent="-152400">
              <a:spcAft>
                <a:spcPts val="200"/>
              </a:spcAft>
              <a:buSzPct val="100000"/>
              <a:buChar char="•"/>
            </a:pPr>
            <a:r>
              <a:rPr lang="en-US" sz="1300" dirty="0">
                <a:solidFill>
                  <a:schemeClr val="tx1"/>
                </a:solidFill>
              </a:rPr>
              <a:t>Authorization Requests</a:t>
            </a:r>
            <a:endParaRPr lang="en-US" sz="1300" dirty="0"/>
          </a:p>
          <a:p>
            <a:pPr marL="152400" indent="-152400">
              <a:spcAft>
                <a:spcPts val="200"/>
              </a:spcAft>
              <a:buSzPct val="100000"/>
              <a:buChar char="•"/>
            </a:pPr>
            <a:r>
              <a:rPr lang="en-US" sz="1300" dirty="0">
                <a:solidFill>
                  <a:schemeClr val="tx1"/>
                </a:solidFill>
              </a:rPr>
              <a:t>Document Repository</a:t>
            </a:r>
            <a:endParaRPr lang="en-US" sz="1300" dirty="0"/>
          </a:p>
          <a:p>
            <a:pPr marL="152400" indent="-152400">
              <a:spcAft>
                <a:spcPts val="200"/>
              </a:spcAft>
              <a:buSzPct val="100000"/>
              <a:buChar char="•"/>
            </a:pPr>
            <a:r>
              <a:rPr lang="en-US" sz="1300" dirty="0">
                <a:solidFill>
                  <a:schemeClr val="tx1"/>
                </a:solidFill>
              </a:rPr>
              <a:t>Legal Memos &amp; Notices</a:t>
            </a:r>
            <a:endParaRPr lang="en-US" sz="1300" dirty="0"/>
          </a:p>
          <a:p>
            <a:pPr marL="152400" indent="-152400">
              <a:spcAft>
                <a:spcPts val="200"/>
              </a:spcAft>
              <a:buSzPct val="100000"/>
              <a:buChar char="•"/>
            </a:pPr>
            <a:r>
              <a:rPr lang="en-US" sz="1300" dirty="0">
                <a:solidFill>
                  <a:schemeClr val="tx1"/>
                </a:solidFill>
              </a:rPr>
              <a:t>Legal Opinions</a:t>
            </a:r>
            <a:endParaRPr lang="en-US" sz="1300" dirty="0"/>
          </a:p>
          <a:p>
            <a:pPr marL="152400" indent="-152400">
              <a:spcAft>
                <a:spcPts val="200"/>
              </a:spcAft>
              <a:buSzPct val="100000"/>
              <a:buChar char="•"/>
            </a:pPr>
            <a:r>
              <a:rPr lang="en-US" sz="1300" dirty="0">
                <a:solidFill>
                  <a:schemeClr val="tx1"/>
                </a:solidFill>
              </a:rPr>
              <a:t>Task Management</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76656"/>
          </a:xfrm>
          <a:prstGeom prst="rect">
            <a:avLst/>
          </a:prstGeom>
          <a:noFill/>
          <a:ln/>
        </p:spPr>
        <p:txBody>
          <a:bodyPr wrap="square" lIns="0" tIns="0" rIns="0" bIns="0" rtlCol="0" anchor="ctr"/>
          <a:lstStyle/>
          <a:p>
            <a:pPr algn="l" indent="0" marL="0">
              <a:buNone/>
            </a:pPr>
            <a:r>
              <a:rPr lang="en-US" sz="3600" b="1" dirty="0">
                <a:solidFill>
                  <a:schemeClr val="tx2"/>
                </a:solidFill>
              </a:rPr>
              <a:t>Architecture &amp; Integration</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algn="l" indent="0" marL="0">
              <a:buNone/>
            </a:pPr>
            <a:r>
              <a:rPr lang="en-US" sz="1600" dirty="0">
                <a:solidFill>
                  <a:schemeClr val="accent6"/>
                </a:solidFill>
              </a:rPr>
              <a:t>A modern N-tier platform, deployed on-premises at Bank Asia's DC and DR and integrated with core systems</a:t>
            </a:r>
            <a:endParaRPr lang="en-US" sz="1600" dirty="0"/>
          </a:p>
        </p:txBody>
      </p:sp>
      <p:sp>
        <p:nvSpPr>
          <p:cNvPr id="4" name="column label USERS"/>
          <p:cNvSpPr txBox="1"/>
          <p:nvPr/>
        </p:nvSpPr>
        <p:spPr>
          <a:xfrm>
            <a:off x="548640" y="1737360"/>
            <a:ext cx="224028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USERS</a:t>
            </a:r>
            <a:endParaRPr lang="en-US" sz="1200" dirty="0"/>
          </a:p>
        </p:txBody>
      </p:sp>
      <p:sp>
        <p:nvSpPr>
          <p:cNvPr id="5" name="user box 1"/>
          <p:cNvSpPr/>
          <p:nvPr/>
        </p:nvSpPr>
        <p:spPr>
          <a:xfrm>
            <a:off x="548640" y="2121408"/>
            <a:ext cx="2240280" cy="585216"/>
          </a:xfrm>
          <a:prstGeom prst="roundRect">
            <a:avLst>
              <a:gd name="adj" fmla="val 12500"/>
            </a:avLst>
          </a:prstGeom>
          <a:solidFill>
            <a:schemeClr val="bg2"/>
          </a:solidFill>
          <a:ln/>
        </p:spPr>
      </p:sp>
      <p:pic>
        <p:nvPicPr>
          <p:cNvPr id="6" name="user icon 1" descr="user icon">    </p:cNvPr>
          <p:cNvPicPr>
            <a:picLocks noChangeAspect="1"/>
          </p:cNvPicPr>
          <p:nvPr/>
        </p:nvPicPr>
        <p:blipFill>
          <a:blip r:embed="rId1"/>
          <a:stretch>
            <a:fillRect/>
          </a:stretch>
        </p:blipFill>
        <p:spPr>
          <a:xfrm>
            <a:off x="676656" y="2286000"/>
            <a:ext cx="256032" cy="256032"/>
          </a:xfrm>
          <a:prstGeom prst="rect">
            <a:avLst/>
          </a:prstGeom>
        </p:spPr>
      </p:pic>
      <p:sp>
        <p:nvSpPr>
          <p:cNvPr id="7" name="user label 1"/>
          <p:cNvSpPr txBox="1"/>
          <p:nvPr/>
        </p:nvSpPr>
        <p:spPr>
          <a:xfrm>
            <a:off x="1051560" y="2121408"/>
            <a:ext cx="1691640" cy="585216"/>
          </a:xfrm>
          <a:prstGeom prst="rect">
            <a:avLst/>
          </a:prstGeom>
          <a:noFill/>
          <a:ln/>
        </p:spPr>
        <p:txBody>
          <a:bodyPr wrap="square" lIns="0" tIns="0" rIns="0" bIns="0" rtlCol="0" anchor="ctr"/>
          <a:lstStyle/>
          <a:p>
            <a:pPr indent="0" marL="0">
              <a:buNone/>
            </a:pPr>
            <a:r>
              <a:rPr lang="en-US" sz="1300" b="1" dirty="0">
                <a:solidFill>
                  <a:schemeClr val="tx1"/>
                </a:solidFill>
              </a:rPr>
              <a:t>Branch Officers (Maker)</a:t>
            </a:r>
            <a:endParaRPr lang="en-US" sz="1300" dirty="0"/>
          </a:p>
        </p:txBody>
      </p:sp>
      <p:sp>
        <p:nvSpPr>
          <p:cNvPr id="8" name="user box 2"/>
          <p:cNvSpPr/>
          <p:nvPr/>
        </p:nvSpPr>
        <p:spPr>
          <a:xfrm>
            <a:off x="548640" y="2834640"/>
            <a:ext cx="2240280" cy="585216"/>
          </a:xfrm>
          <a:prstGeom prst="roundRect">
            <a:avLst>
              <a:gd name="adj" fmla="val 12500"/>
            </a:avLst>
          </a:prstGeom>
          <a:solidFill>
            <a:schemeClr val="bg2"/>
          </a:solidFill>
          <a:ln/>
        </p:spPr>
      </p:sp>
      <p:pic>
        <p:nvPicPr>
          <p:cNvPr id="9" name="user icon 2" descr="user cog icon">    </p:cNvPr>
          <p:cNvPicPr>
            <a:picLocks noChangeAspect="1"/>
          </p:cNvPicPr>
          <p:nvPr/>
        </p:nvPicPr>
        <p:blipFill>
          <a:blip r:embed="rId2"/>
          <a:stretch>
            <a:fillRect/>
          </a:stretch>
        </p:blipFill>
        <p:spPr>
          <a:xfrm>
            <a:off x="676656" y="2999232"/>
            <a:ext cx="256032" cy="256032"/>
          </a:xfrm>
          <a:prstGeom prst="rect">
            <a:avLst/>
          </a:prstGeom>
        </p:spPr>
      </p:pic>
      <p:sp>
        <p:nvSpPr>
          <p:cNvPr id="10" name="user label 2"/>
          <p:cNvSpPr txBox="1"/>
          <p:nvPr/>
        </p:nvSpPr>
        <p:spPr>
          <a:xfrm>
            <a:off x="1051560" y="2834640"/>
            <a:ext cx="1691640" cy="585216"/>
          </a:xfrm>
          <a:prstGeom prst="rect">
            <a:avLst/>
          </a:prstGeom>
          <a:noFill/>
          <a:ln/>
        </p:spPr>
        <p:txBody>
          <a:bodyPr wrap="square" lIns="0" tIns="0" rIns="0" bIns="0" rtlCol="0" anchor="ctr"/>
          <a:lstStyle/>
          <a:p>
            <a:pPr indent="0" marL="0">
              <a:buNone/>
            </a:pPr>
            <a:r>
              <a:rPr lang="en-US" sz="1300" b="1" dirty="0">
                <a:solidFill>
                  <a:schemeClr val="tx1"/>
                </a:solidFill>
              </a:rPr>
              <a:t>Branch Managers (Checker)</a:t>
            </a:r>
            <a:endParaRPr lang="en-US" sz="1300" dirty="0"/>
          </a:p>
        </p:txBody>
      </p:sp>
      <p:sp>
        <p:nvSpPr>
          <p:cNvPr id="11" name="user box 3"/>
          <p:cNvSpPr/>
          <p:nvPr/>
        </p:nvSpPr>
        <p:spPr>
          <a:xfrm>
            <a:off x="548640" y="3547872"/>
            <a:ext cx="2240280" cy="585216"/>
          </a:xfrm>
          <a:prstGeom prst="roundRect">
            <a:avLst>
              <a:gd name="adj" fmla="val 12500"/>
            </a:avLst>
          </a:prstGeom>
          <a:solidFill>
            <a:schemeClr val="bg2"/>
          </a:solidFill>
          <a:ln/>
        </p:spPr>
      </p:sp>
      <p:pic>
        <p:nvPicPr>
          <p:cNvPr id="12" name="user icon 3" descr="landmark icon">    </p:cNvPr>
          <p:cNvPicPr>
            <a:picLocks noChangeAspect="1"/>
          </p:cNvPicPr>
          <p:nvPr/>
        </p:nvPicPr>
        <p:blipFill>
          <a:blip r:embed="rId3"/>
          <a:stretch>
            <a:fillRect/>
          </a:stretch>
        </p:blipFill>
        <p:spPr>
          <a:xfrm>
            <a:off x="676656" y="3712464"/>
            <a:ext cx="256032" cy="256032"/>
          </a:xfrm>
          <a:prstGeom prst="rect">
            <a:avLst/>
          </a:prstGeom>
        </p:spPr>
      </p:pic>
      <p:sp>
        <p:nvSpPr>
          <p:cNvPr id="13" name="user label 3"/>
          <p:cNvSpPr txBox="1"/>
          <p:nvPr/>
        </p:nvSpPr>
        <p:spPr>
          <a:xfrm>
            <a:off x="1051560" y="3547872"/>
            <a:ext cx="1691640" cy="585216"/>
          </a:xfrm>
          <a:prstGeom prst="rect">
            <a:avLst/>
          </a:prstGeom>
          <a:noFill/>
          <a:ln/>
        </p:spPr>
        <p:txBody>
          <a:bodyPr wrap="square" lIns="0" tIns="0" rIns="0" bIns="0" rtlCol="0" anchor="ctr"/>
          <a:lstStyle/>
          <a:p>
            <a:pPr indent="0" marL="0">
              <a:buNone/>
            </a:pPr>
            <a:r>
              <a:rPr lang="en-US" sz="1300" b="1" dirty="0">
                <a:solidFill>
                  <a:schemeClr val="tx1"/>
                </a:solidFill>
              </a:rPr>
              <a:t>HO Legal Division</a:t>
            </a:r>
            <a:endParaRPr lang="en-US" sz="1300" dirty="0"/>
          </a:p>
        </p:txBody>
      </p:sp>
      <p:sp>
        <p:nvSpPr>
          <p:cNvPr id="14" name="user box 4"/>
          <p:cNvSpPr/>
          <p:nvPr/>
        </p:nvSpPr>
        <p:spPr>
          <a:xfrm>
            <a:off x="548640" y="4261104"/>
            <a:ext cx="2240280" cy="585216"/>
          </a:xfrm>
          <a:prstGeom prst="roundRect">
            <a:avLst>
              <a:gd name="adj" fmla="val 12500"/>
            </a:avLst>
          </a:prstGeom>
          <a:solidFill>
            <a:schemeClr val="bg2"/>
          </a:solidFill>
          <a:ln/>
        </p:spPr>
      </p:sp>
      <p:pic>
        <p:nvPicPr>
          <p:cNvPr id="15" name="user icon 4" descr="chart column icon">    </p:cNvPr>
          <p:cNvPicPr>
            <a:picLocks noChangeAspect="1"/>
          </p:cNvPicPr>
          <p:nvPr/>
        </p:nvPicPr>
        <p:blipFill>
          <a:blip r:embed="rId4"/>
          <a:stretch>
            <a:fillRect/>
          </a:stretch>
        </p:blipFill>
        <p:spPr>
          <a:xfrm>
            <a:off x="676656" y="4425696"/>
            <a:ext cx="256032" cy="256032"/>
          </a:xfrm>
          <a:prstGeom prst="rect">
            <a:avLst/>
          </a:prstGeom>
        </p:spPr>
      </p:pic>
      <p:sp>
        <p:nvSpPr>
          <p:cNvPr id="16" name="user label 4"/>
          <p:cNvSpPr txBox="1"/>
          <p:nvPr/>
        </p:nvSpPr>
        <p:spPr>
          <a:xfrm>
            <a:off x="1051560" y="4261104"/>
            <a:ext cx="1691640" cy="585216"/>
          </a:xfrm>
          <a:prstGeom prst="rect">
            <a:avLst/>
          </a:prstGeom>
          <a:noFill/>
          <a:ln/>
        </p:spPr>
        <p:txBody>
          <a:bodyPr wrap="square" lIns="0" tIns="0" rIns="0" bIns="0" rtlCol="0" anchor="ctr"/>
          <a:lstStyle/>
          <a:p>
            <a:pPr indent="0" marL="0">
              <a:buNone/>
            </a:pPr>
            <a:r>
              <a:rPr lang="en-US" sz="1300" b="1" dirty="0">
                <a:solidFill>
                  <a:schemeClr val="tx1"/>
                </a:solidFill>
              </a:rPr>
              <a:t>Management &amp; Audit</a:t>
            </a:r>
            <a:endParaRPr lang="en-US" sz="1300" dirty="0"/>
          </a:p>
        </p:txBody>
      </p:sp>
      <p:sp>
        <p:nvSpPr>
          <p:cNvPr id="17" name="browser note"/>
          <p:cNvSpPr txBox="1"/>
          <p:nvPr/>
        </p:nvSpPr>
        <p:spPr>
          <a:xfrm>
            <a:off x="548640" y="5029200"/>
            <a:ext cx="2240280" cy="457200"/>
          </a:xfrm>
          <a:prstGeom prst="rect">
            <a:avLst/>
          </a:prstGeom>
          <a:noFill/>
          <a:ln/>
        </p:spPr>
        <p:txBody>
          <a:bodyPr wrap="square" lIns="0" tIns="0" rIns="0" bIns="0" rtlCol="0" anchor="t"/>
          <a:lstStyle/>
          <a:p>
            <a:pPr indent="0" marL="0">
              <a:buNone/>
            </a:pPr>
            <a:r>
              <a:rPr lang="en-US" sz="1200" dirty="0">
                <a:solidFill>
                  <a:schemeClr val="accent6"/>
                </a:solidFill>
              </a:rPr>
              <a:t>Any modern browser — desktop, tablet or mobile</a:t>
            </a:r>
            <a:endParaRPr lang="en-US" sz="1200" dirty="0"/>
          </a:p>
        </p:txBody>
      </p:sp>
      <p:sp>
        <p:nvSpPr>
          <p:cNvPr id="18" name="column label PLATFORM"/>
          <p:cNvSpPr txBox="1"/>
          <p:nvPr/>
        </p:nvSpPr>
        <p:spPr>
          <a:xfrm>
            <a:off x="3246120" y="1737360"/>
            <a:ext cx="5074920"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PLATFORM</a:t>
            </a:r>
            <a:endParaRPr lang="en-US" sz="1200" dirty="0"/>
          </a:p>
        </p:txBody>
      </p:sp>
      <p:sp>
        <p:nvSpPr>
          <p:cNvPr id="19" name="users to app arrow"/>
          <p:cNvSpPr/>
          <p:nvPr/>
        </p:nvSpPr>
        <p:spPr>
          <a:xfrm>
            <a:off x="2834640" y="2414016"/>
            <a:ext cx="365760" cy="0"/>
          </a:xfrm>
          <a:prstGeom prst="line">
            <a:avLst/>
          </a:prstGeom>
          <a:noFill/>
          <a:ln w="25400">
            <a:solidFill>
              <a:schemeClr val="accent1"/>
            </a:solidFill>
            <a:prstDash val="solid"/>
            <a:tailEnd type="triangle"/>
          </a:ln>
        </p:spPr>
      </p:sp>
      <p:sp>
        <p:nvSpPr>
          <p:cNvPr id="20" name="presentation tier box"/>
          <p:cNvSpPr/>
          <p:nvPr/>
        </p:nvSpPr>
        <p:spPr>
          <a:xfrm>
            <a:off x="3246120" y="2103120"/>
            <a:ext cx="5074920" cy="960120"/>
          </a:xfrm>
          <a:prstGeom prst="roundRect">
            <a:avLst>
              <a:gd name="adj" fmla="val 9524"/>
            </a:avLst>
          </a:prstGeom>
          <a:solidFill>
            <a:schemeClr val="bg2"/>
          </a:solidFill>
          <a:ln/>
        </p:spPr>
      </p:sp>
      <p:sp>
        <p:nvSpPr>
          <p:cNvPr id="21" name="presentation tier icon circle"/>
          <p:cNvSpPr/>
          <p:nvPr/>
        </p:nvSpPr>
        <p:spPr>
          <a:xfrm>
            <a:off x="3447288" y="2286000"/>
            <a:ext cx="457200" cy="457200"/>
          </a:xfrm>
          <a:prstGeom prst="ellipse">
            <a:avLst/>
          </a:prstGeom>
          <a:solidFill>
            <a:schemeClr val="accent1"/>
          </a:solidFill>
          <a:ln/>
        </p:spPr>
      </p:sp>
      <p:pic>
        <p:nvPicPr>
          <p:cNvPr id="22" name="presentation tier icon glyph" descr="monitor icon">    </p:cNvPr>
          <p:cNvPicPr>
            <a:picLocks noChangeAspect="1"/>
          </p:cNvPicPr>
          <p:nvPr/>
        </p:nvPicPr>
        <p:blipFill>
          <a:blip r:embed="rId5"/>
          <a:stretch>
            <a:fillRect/>
          </a:stretch>
        </p:blipFill>
        <p:spPr>
          <a:xfrm>
            <a:off x="3557016" y="2395728"/>
            <a:ext cx="237744" cy="237744"/>
          </a:xfrm>
          <a:prstGeom prst="rect">
            <a:avLst/>
          </a:prstGeom>
        </p:spPr>
      </p:pic>
      <p:sp>
        <p:nvSpPr>
          <p:cNvPr id="23" name="presentation tier title"/>
          <p:cNvSpPr txBox="1"/>
          <p:nvPr/>
        </p:nvSpPr>
        <p:spPr>
          <a:xfrm>
            <a:off x="4050792" y="2249424"/>
            <a:ext cx="4114800" cy="274320"/>
          </a:xfrm>
          <a:prstGeom prst="rect">
            <a:avLst/>
          </a:prstGeom>
          <a:noFill/>
          <a:ln/>
        </p:spPr>
        <p:txBody>
          <a:bodyPr wrap="square" lIns="0" tIns="0" rIns="0" bIns="0" rtlCol="0" anchor="t"/>
          <a:lstStyle/>
          <a:p>
            <a:pPr indent="0" marL="0">
              <a:buNone/>
            </a:pPr>
            <a:r>
              <a:rPr lang="en-US" sz="1500" b="1" dirty="0">
                <a:solidFill>
                  <a:schemeClr val="tx1"/>
                </a:solidFill>
              </a:rPr>
              <a:t>Web Application</a:t>
            </a:r>
            <a:endParaRPr lang="en-US" sz="1500" dirty="0"/>
          </a:p>
        </p:txBody>
      </p:sp>
      <p:sp>
        <p:nvSpPr>
          <p:cNvPr id="24" name="presentation tier detail"/>
          <p:cNvSpPr txBox="1"/>
          <p:nvPr/>
        </p:nvSpPr>
        <p:spPr>
          <a:xfrm>
            <a:off x="4050792" y="2542032"/>
            <a:ext cx="4114800" cy="457200"/>
          </a:xfrm>
          <a:prstGeom prst="rect">
            <a:avLst/>
          </a:prstGeom>
          <a:noFill/>
          <a:ln/>
        </p:spPr>
        <p:txBody>
          <a:bodyPr wrap="square" lIns="0" tIns="0" rIns="0" bIns="0" rtlCol="0" anchor="t"/>
          <a:lstStyle/>
          <a:p>
            <a:pPr indent="0" marL="0">
              <a:buNone/>
            </a:pPr>
            <a:r>
              <a:rPr lang="en-US" sz="1200" dirty="0">
                <a:solidFill>
                  <a:schemeClr val="accent6"/>
                </a:solidFill>
              </a:rPr>
              <a:t>Responsive Next.js interface · role-aware menus · Bank Asia branding</a:t>
            </a:r>
            <a:endParaRPr lang="en-US" sz="1200" dirty="0"/>
          </a:p>
        </p:txBody>
      </p:sp>
      <p:sp>
        <p:nvSpPr>
          <p:cNvPr id="25" name="application tier box"/>
          <p:cNvSpPr/>
          <p:nvPr/>
        </p:nvSpPr>
        <p:spPr>
          <a:xfrm>
            <a:off x="3246120" y="3310128"/>
            <a:ext cx="5074920" cy="1417320"/>
          </a:xfrm>
          <a:prstGeom prst="roundRect">
            <a:avLst>
              <a:gd name="adj" fmla="val 6452"/>
            </a:avLst>
          </a:prstGeom>
          <a:solidFill>
            <a:schemeClr val="accent1"/>
          </a:solidFill>
          <a:ln/>
        </p:spPr>
      </p:sp>
      <p:sp>
        <p:nvSpPr>
          <p:cNvPr id="26" name="application tier icon circle"/>
          <p:cNvSpPr/>
          <p:nvPr/>
        </p:nvSpPr>
        <p:spPr>
          <a:xfrm>
            <a:off x="3447288" y="3493008"/>
            <a:ext cx="457200" cy="457200"/>
          </a:xfrm>
          <a:prstGeom prst="ellipse">
            <a:avLst/>
          </a:prstGeom>
          <a:solidFill>
            <a:schemeClr val="tx2"/>
          </a:solidFill>
          <a:ln/>
        </p:spPr>
      </p:sp>
      <p:pic>
        <p:nvPicPr>
          <p:cNvPr id="27" name="application tier icon glyph" descr="server icon">    </p:cNvPr>
          <p:cNvPicPr>
            <a:picLocks noChangeAspect="1"/>
          </p:cNvPicPr>
          <p:nvPr/>
        </p:nvPicPr>
        <p:blipFill>
          <a:blip r:embed="rId6"/>
          <a:stretch>
            <a:fillRect/>
          </a:stretch>
        </p:blipFill>
        <p:spPr>
          <a:xfrm>
            <a:off x="3557016" y="3602736"/>
            <a:ext cx="237744" cy="237744"/>
          </a:xfrm>
          <a:prstGeom prst="rect">
            <a:avLst/>
          </a:prstGeom>
        </p:spPr>
      </p:pic>
      <p:sp>
        <p:nvSpPr>
          <p:cNvPr id="28" name="application tier title"/>
          <p:cNvSpPr txBox="1"/>
          <p:nvPr/>
        </p:nvSpPr>
        <p:spPr>
          <a:xfrm>
            <a:off x="4050792" y="3456432"/>
            <a:ext cx="4114800" cy="274320"/>
          </a:xfrm>
          <a:prstGeom prst="rect">
            <a:avLst/>
          </a:prstGeom>
          <a:noFill/>
          <a:ln/>
        </p:spPr>
        <p:txBody>
          <a:bodyPr wrap="square" lIns="0" tIns="0" rIns="0" bIns="0" rtlCol="0" anchor="t"/>
          <a:lstStyle/>
          <a:p>
            <a:pPr indent="0" marL="0">
              <a:buNone/>
            </a:pPr>
            <a:r>
              <a:rPr lang="en-US" sz="1500" b="1" dirty="0">
                <a:solidFill>
                  <a:schemeClr val="bg1"/>
                </a:solidFill>
              </a:rPr>
              <a:t>Application Services (REST API)</a:t>
            </a:r>
            <a:endParaRPr lang="en-US" sz="1500" dirty="0"/>
          </a:p>
        </p:txBody>
      </p:sp>
      <p:sp>
        <p:nvSpPr>
          <p:cNvPr id="29" name="service chip Workflow engine"/>
          <p:cNvSpPr txBox="1"/>
          <p:nvPr/>
        </p:nvSpPr>
        <p:spPr>
          <a:xfrm>
            <a:off x="4050792" y="3776472"/>
            <a:ext cx="132588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100" dirty="0">
                <a:solidFill>
                  <a:schemeClr val="bg1"/>
                </a:solidFill>
              </a:rPr>
              <a:t>Workflow engine</a:t>
            </a:r>
            <a:endParaRPr lang="en-US" sz="1100" dirty="0"/>
          </a:p>
        </p:txBody>
      </p:sp>
      <p:sp>
        <p:nvSpPr>
          <p:cNvPr id="30" name="service chip Business rules"/>
          <p:cNvSpPr txBox="1"/>
          <p:nvPr/>
        </p:nvSpPr>
        <p:spPr>
          <a:xfrm>
            <a:off x="5449824" y="3776472"/>
            <a:ext cx="132588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100" dirty="0">
                <a:solidFill>
                  <a:schemeClr val="bg1"/>
                </a:solidFill>
              </a:rPr>
              <a:t>Business rules</a:t>
            </a:r>
            <a:endParaRPr lang="en-US" sz="1100" dirty="0"/>
          </a:p>
        </p:txBody>
      </p:sp>
      <p:sp>
        <p:nvSpPr>
          <p:cNvPr id="31" name="service chip Role-based access"/>
          <p:cNvSpPr txBox="1"/>
          <p:nvPr/>
        </p:nvSpPr>
        <p:spPr>
          <a:xfrm>
            <a:off x="6848856" y="3776472"/>
            <a:ext cx="132588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100" dirty="0">
                <a:solidFill>
                  <a:schemeClr val="bg1"/>
                </a:solidFill>
              </a:rPr>
              <a:t>Role-based access</a:t>
            </a:r>
            <a:endParaRPr lang="en-US" sz="1100" dirty="0"/>
          </a:p>
        </p:txBody>
      </p:sp>
      <p:sp>
        <p:nvSpPr>
          <p:cNvPr id="32" name="service chip Audit trail"/>
          <p:cNvSpPr txBox="1"/>
          <p:nvPr/>
        </p:nvSpPr>
        <p:spPr>
          <a:xfrm>
            <a:off x="4050792" y="4178808"/>
            <a:ext cx="132588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100" dirty="0">
                <a:solidFill>
                  <a:schemeClr val="bg1"/>
                </a:solidFill>
              </a:rPr>
              <a:t>Audit trail</a:t>
            </a:r>
            <a:endParaRPr lang="en-US" sz="1100" dirty="0"/>
          </a:p>
        </p:txBody>
      </p:sp>
      <p:sp>
        <p:nvSpPr>
          <p:cNvPr id="33" name="service chip Alerts &amp;amp; scheduler"/>
          <p:cNvSpPr txBox="1"/>
          <p:nvPr/>
        </p:nvSpPr>
        <p:spPr>
          <a:xfrm>
            <a:off x="5449824" y="4178808"/>
            <a:ext cx="132588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100" dirty="0">
                <a:solidFill>
                  <a:schemeClr val="bg1"/>
                </a:solidFill>
              </a:rPr>
              <a:t>Alerts &amp; scheduler</a:t>
            </a:r>
            <a:endParaRPr lang="en-US" sz="1100" dirty="0"/>
          </a:p>
        </p:txBody>
      </p:sp>
      <p:sp>
        <p:nvSpPr>
          <p:cNvPr id="34" name="service chip Report engine"/>
          <p:cNvSpPr txBox="1"/>
          <p:nvPr/>
        </p:nvSpPr>
        <p:spPr>
          <a:xfrm>
            <a:off x="6848856" y="4178808"/>
            <a:ext cx="1325880" cy="310896"/>
          </a:xfrm>
          <a:prstGeom prst="roundRect">
            <a:avLst>
              <a:gd name="adj" fmla="val 50000"/>
            </a:avLst>
          </a:prstGeom>
          <a:solidFill>
            <a:schemeClr val="tx2"/>
          </a:solidFill>
          <a:ln/>
        </p:spPr>
        <p:txBody>
          <a:bodyPr wrap="square" lIns="0" tIns="0" rIns="0" bIns="0" rtlCol="0" anchor="ctr"/>
          <a:lstStyle/>
          <a:p>
            <a:pPr algn="ctr" indent="0" marL="0">
              <a:buNone/>
            </a:pPr>
            <a:r>
              <a:rPr lang="en-US" sz="1100" dirty="0">
                <a:solidFill>
                  <a:schemeClr val="bg1"/>
                </a:solidFill>
              </a:rPr>
              <a:t>Report engine</a:t>
            </a:r>
            <a:endParaRPr lang="en-US" sz="1100" dirty="0"/>
          </a:p>
        </p:txBody>
      </p:sp>
      <p:sp>
        <p:nvSpPr>
          <p:cNvPr id="35" name="data tier box"/>
          <p:cNvSpPr/>
          <p:nvPr/>
        </p:nvSpPr>
        <p:spPr>
          <a:xfrm>
            <a:off x="3246120" y="4974336"/>
            <a:ext cx="5074920" cy="960120"/>
          </a:xfrm>
          <a:prstGeom prst="roundRect">
            <a:avLst>
              <a:gd name="adj" fmla="val 9524"/>
            </a:avLst>
          </a:prstGeom>
          <a:solidFill>
            <a:schemeClr val="bg2"/>
          </a:solidFill>
          <a:ln/>
        </p:spPr>
      </p:sp>
      <p:sp>
        <p:nvSpPr>
          <p:cNvPr id="36" name="data tier icon circle"/>
          <p:cNvSpPr/>
          <p:nvPr/>
        </p:nvSpPr>
        <p:spPr>
          <a:xfrm>
            <a:off x="3447288" y="5157216"/>
            <a:ext cx="457200" cy="457200"/>
          </a:xfrm>
          <a:prstGeom prst="ellipse">
            <a:avLst/>
          </a:prstGeom>
          <a:solidFill>
            <a:schemeClr val="accent1"/>
          </a:solidFill>
          <a:ln/>
        </p:spPr>
      </p:sp>
      <p:pic>
        <p:nvPicPr>
          <p:cNvPr id="37" name="data tier icon glyph" descr="database icon">    </p:cNvPr>
          <p:cNvPicPr>
            <a:picLocks noChangeAspect="1"/>
          </p:cNvPicPr>
          <p:nvPr/>
        </p:nvPicPr>
        <p:blipFill>
          <a:blip r:embed="rId7"/>
          <a:stretch>
            <a:fillRect/>
          </a:stretch>
        </p:blipFill>
        <p:spPr>
          <a:xfrm>
            <a:off x="3557016" y="5266944"/>
            <a:ext cx="237744" cy="237744"/>
          </a:xfrm>
          <a:prstGeom prst="rect">
            <a:avLst/>
          </a:prstGeom>
        </p:spPr>
      </p:pic>
      <p:sp>
        <p:nvSpPr>
          <p:cNvPr id="38" name="data tier title"/>
          <p:cNvSpPr txBox="1"/>
          <p:nvPr/>
        </p:nvSpPr>
        <p:spPr>
          <a:xfrm>
            <a:off x="4050792" y="5120640"/>
            <a:ext cx="4114800" cy="274320"/>
          </a:xfrm>
          <a:prstGeom prst="rect">
            <a:avLst/>
          </a:prstGeom>
          <a:noFill/>
          <a:ln/>
        </p:spPr>
        <p:txBody>
          <a:bodyPr wrap="square" lIns="0" tIns="0" rIns="0" bIns="0" rtlCol="0" anchor="t"/>
          <a:lstStyle/>
          <a:p>
            <a:pPr indent="0" marL="0">
              <a:buNone/>
            </a:pPr>
            <a:r>
              <a:rPr lang="en-US" sz="1500" b="1" dirty="0">
                <a:solidFill>
                  <a:schemeClr val="tx1"/>
                </a:solidFill>
              </a:rPr>
              <a:t>PostgreSQL Database</a:t>
            </a:r>
            <a:endParaRPr lang="en-US" sz="1500" dirty="0"/>
          </a:p>
        </p:txBody>
      </p:sp>
      <p:sp>
        <p:nvSpPr>
          <p:cNvPr id="39" name="data tier detail"/>
          <p:cNvSpPr txBox="1"/>
          <p:nvPr/>
        </p:nvSpPr>
        <p:spPr>
          <a:xfrm>
            <a:off x="4050792" y="5413248"/>
            <a:ext cx="4114800" cy="457200"/>
          </a:xfrm>
          <a:prstGeom prst="rect">
            <a:avLst/>
          </a:prstGeom>
          <a:noFill/>
          <a:ln/>
        </p:spPr>
        <p:txBody>
          <a:bodyPr wrap="square" lIns="0" tIns="0" rIns="0" bIns="0" rtlCol="0" anchor="t"/>
          <a:lstStyle/>
          <a:p>
            <a:pPr indent="0" marL="0">
              <a:buNone/>
            </a:pPr>
            <a:r>
              <a:rPr lang="en-US" sz="1200" dirty="0">
                <a:solidFill>
                  <a:schemeClr val="accent6"/>
                </a:solidFill>
              </a:rPr>
              <a:t>Cases, financials, documents and audit logs · DC → DR replication</a:t>
            </a:r>
            <a:endParaRPr lang="en-US" sz="1200" dirty="0"/>
          </a:p>
        </p:txBody>
      </p:sp>
      <p:sp>
        <p:nvSpPr>
          <p:cNvPr id="40" name="tier connector"/>
          <p:cNvSpPr/>
          <p:nvPr/>
        </p:nvSpPr>
        <p:spPr>
          <a:xfrm>
            <a:off x="5783580" y="3081528"/>
            <a:ext cx="0" cy="210312"/>
          </a:xfrm>
          <a:prstGeom prst="line">
            <a:avLst/>
          </a:prstGeom>
          <a:noFill/>
          <a:ln w="22225">
            <a:solidFill>
              <a:schemeClr val="accent1"/>
            </a:solidFill>
            <a:prstDash val="solid"/>
            <a:headEnd type="triangle"/>
            <a:tailEnd type="triangle"/>
          </a:ln>
        </p:spPr>
      </p:sp>
      <p:sp>
        <p:nvSpPr>
          <p:cNvPr id="41" name="tier connector"/>
          <p:cNvSpPr/>
          <p:nvPr/>
        </p:nvSpPr>
        <p:spPr>
          <a:xfrm>
            <a:off x="5783580" y="4745736"/>
            <a:ext cx="0" cy="210312"/>
          </a:xfrm>
          <a:prstGeom prst="line">
            <a:avLst/>
          </a:prstGeom>
          <a:noFill/>
          <a:ln w="22225">
            <a:solidFill>
              <a:schemeClr val="accent1"/>
            </a:solidFill>
            <a:prstDash val="solid"/>
            <a:headEnd type="triangle"/>
            <a:tailEnd type="triangle"/>
          </a:ln>
        </p:spPr>
      </p:sp>
      <p:sp>
        <p:nvSpPr>
          <p:cNvPr id="42" name="column label INTEGRATIONS"/>
          <p:cNvSpPr txBox="1"/>
          <p:nvPr/>
        </p:nvSpPr>
        <p:spPr>
          <a:xfrm>
            <a:off x="8823960" y="1737360"/>
            <a:ext cx="2819095" cy="256032"/>
          </a:xfrm>
          <a:prstGeom prst="rect">
            <a:avLst/>
          </a:prstGeom>
          <a:noFill/>
          <a:ln/>
        </p:spPr>
        <p:txBody>
          <a:bodyPr wrap="square" lIns="0" tIns="0" rIns="0" bIns="0" rtlCol="0" anchor="t"/>
          <a:lstStyle/>
          <a:p>
            <a:pPr indent="0" marL="0">
              <a:buNone/>
            </a:pPr>
            <a:r>
              <a:rPr lang="en-US" sz="1200" b="1" spc="150" kern="0" dirty="0">
                <a:solidFill>
                  <a:schemeClr val="accent1"/>
                </a:solidFill>
              </a:rPr>
              <a:t>INTEGRATIONS</a:t>
            </a:r>
            <a:endParaRPr lang="en-US" sz="1200" dirty="0"/>
          </a:p>
        </p:txBody>
      </p:sp>
      <p:sp>
        <p:nvSpPr>
          <p:cNvPr id="43" name="app to integrations arrow"/>
          <p:cNvSpPr/>
          <p:nvPr/>
        </p:nvSpPr>
        <p:spPr>
          <a:xfrm>
            <a:off x="8357616" y="4023360"/>
            <a:ext cx="429768" cy="0"/>
          </a:xfrm>
          <a:prstGeom prst="line">
            <a:avLst/>
          </a:prstGeom>
          <a:noFill/>
          <a:ln w="25400">
            <a:solidFill>
              <a:schemeClr val="accent1"/>
            </a:solidFill>
            <a:prstDash val="solid"/>
            <a:headEnd type="triangle"/>
            <a:tailEnd type="triangle"/>
          </a:ln>
        </p:spPr>
      </p:sp>
      <p:sp>
        <p:nvSpPr>
          <p:cNvPr id="44" name="integration box 1"/>
          <p:cNvSpPr/>
          <p:nvPr/>
        </p:nvSpPr>
        <p:spPr>
          <a:xfrm>
            <a:off x="8823960" y="2103120"/>
            <a:ext cx="2819095" cy="548640"/>
          </a:xfrm>
          <a:prstGeom prst="roundRect">
            <a:avLst>
              <a:gd name="adj" fmla="val 13333"/>
            </a:avLst>
          </a:prstGeom>
          <a:solidFill>
            <a:schemeClr val="bg1"/>
          </a:solidFill>
          <a:ln w="9525">
            <a:solidFill>
              <a:schemeClr val="accent6">
                <a:alpha val="40000"/>
              </a:schemeClr>
            </a:solidFill>
            <a:prstDash val="solid"/>
          </a:ln>
        </p:spPr>
      </p:sp>
      <p:pic>
        <p:nvPicPr>
          <p:cNvPr id="45" name="integration icon 1" descr="landmark icon">    </p:cNvPr>
          <p:cNvPicPr>
            <a:picLocks noChangeAspect="1"/>
          </p:cNvPicPr>
          <p:nvPr/>
        </p:nvPicPr>
        <p:blipFill>
          <a:blip r:embed="rId8"/>
          <a:stretch>
            <a:fillRect/>
          </a:stretch>
        </p:blipFill>
        <p:spPr>
          <a:xfrm>
            <a:off x="8942832" y="2249424"/>
            <a:ext cx="256032" cy="256032"/>
          </a:xfrm>
          <a:prstGeom prst="rect">
            <a:avLst/>
          </a:prstGeom>
        </p:spPr>
      </p:pic>
      <p:sp>
        <p:nvSpPr>
          <p:cNvPr id="46" name="integration name 1"/>
          <p:cNvSpPr txBox="1"/>
          <p:nvPr/>
        </p:nvSpPr>
        <p:spPr>
          <a:xfrm>
            <a:off x="9326880" y="2148840"/>
            <a:ext cx="2224735" cy="246888"/>
          </a:xfrm>
          <a:prstGeom prst="rect">
            <a:avLst/>
          </a:prstGeom>
          <a:noFill/>
          <a:ln/>
        </p:spPr>
        <p:txBody>
          <a:bodyPr wrap="square" lIns="0" tIns="0" rIns="0" bIns="0" rtlCol="0" anchor="t"/>
          <a:lstStyle/>
          <a:p>
            <a:pPr indent="0" marL="0">
              <a:buNone/>
            </a:pPr>
            <a:r>
              <a:rPr lang="en-US" sz="1300" b="1" dirty="0">
                <a:solidFill>
                  <a:schemeClr val="tx1"/>
                </a:solidFill>
              </a:rPr>
              <a:t>Core Banking System</a:t>
            </a:r>
            <a:endParaRPr lang="en-US" sz="1300" dirty="0"/>
          </a:p>
        </p:txBody>
      </p:sp>
      <p:sp>
        <p:nvSpPr>
          <p:cNvPr id="47" name="integration detail 1"/>
          <p:cNvSpPr txBox="1"/>
          <p:nvPr/>
        </p:nvSpPr>
        <p:spPr>
          <a:xfrm>
            <a:off x="9326880" y="2395728"/>
            <a:ext cx="2224735" cy="219456"/>
          </a:xfrm>
          <a:prstGeom prst="rect">
            <a:avLst/>
          </a:prstGeom>
          <a:noFill/>
          <a:ln/>
        </p:spPr>
        <p:txBody>
          <a:bodyPr wrap="square" lIns="0" tIns="0" rIns="0" bIns="0" rtlCol="0" anchor="t"/>
          <a:lstStyle/>
          <a:p>
            <a:pPr indent="0" marL="0">
              <a:buNone/>
            </a:pPr>
            <a:r>
              <a:rPr lang="en-US" sz="1100" dirty="0">
                <a:solidFill>
                  <a:schemeClr val="accent6"/>
                </a:solidFill>
              </a:rPr>
              <a:t>Conventional, Islamic &amp; offshore</a:t>
            </a:r>
            <a:endParaRPr lang="en-US" sz="1100" dirty="0"/>
          </a:p>
        </p:txBody>
      </p:sp>
      <p:sp>
        <p:nvSpPr>
          <p:cNvPr id="48" name="integration box 2"/>
          <p:cNvSpPr/>
          <p:nvPr/>
        </p:nvSpPr>
        <p:spPr>
          <a:xfrm>
            <a:off x="8823960" y="2743200"/>
            <a:ext cx="2819095" cy="548640"/>
          </a:xfrm>
          <a:prstGeom prst="roundRect">
            <a:avLst>
              <a:gd name="adj" fmla="val 13333"/>
            </a:avLst>
          </a:prstGeom>
          <a:solidFill>
            <a:schemeClr val="bg1"/>
          </a:solidFill>
          <a:ln w="9525">
            <a:solidFill>
              <a:schemeClr val="accent6">
                <a:alpha val="40000"/>
              </a:schemeClr>
            </a:solidFill>
            <a:prstDash val="solid"/>
          </a:ln>
        </p:spPr>
      </p:sp>
      <p:pic>
        <p:nvPicPr>
          <p:cNvPr id="49" name="integration icon 2" descr="mail icon">    </p:cNvPr>
          <p:cNvPicPr>
            <a:picLocks noChangeAspect="1"/>
          </p:cNvPicPr>
          <p:nvPr/>
        </p:nvPicPr>
        <p:blipFill>
          <a:blip r:embed="rId9"/>
          <a:stretch>
            <a:fillRect/>
          </a:stretch>
        </p:blipFill>
        <p:spPr>
          <a:xfrm>
            <a:off x="8942832" y="2889504"/>
            <a:ext cx="256032" cy="256032"/>
          </a:xfrm>
          <a:prstGeom prst="rect">
            <a:avLst/>
          </a:prstGeom>
        </p:spPr>
      </p:pic>
      <p:sp>
        <p:nvSpPr>
          <p:cNvPr id="50" name="integration name 2"/>
          <p:cNvSpPr txBox="1"/>
          <p:nvPr/>
        </p:nvSpPr>
        <p:spPr>
          <a:xfrm>
            <a:off x="9326880" y="2788920"/>
            <a:ext cx="2224735" cy="246888"/>
          </a:xfrm>
          <a:prstGeom prst="rect">
            <a:avLst/>
          </a:prstGeom>
          <a:noFill/>
          <a:ln/>
        </p:spPr>
        <p:txBody>
          <a:bodyPr wrap="square" lIns="0" tIns="0" rIns="0" bIns="0" rtlCol="0" anchor="t"/>
          <a:lstStyle/>
          <a:p>
            <a:pPr indent="0" marL="0">
              <a:buNone/>
            </a:pPr>
            <a:r>
              <a:rPr lang="en-US" sz="1300" b="1" dirty="0">
                <a:solidFill>
                  <a:schemeClr val="tx1"/>
                </a:solidFill>
              </a:rPr>
              <a:t>SMS &amp; Email Gateway</a:t>
            </a:r>
            <a:endParaRPr lang="en-US" sz="1300" dirty="0"/>
          </a:p>
        </p:txBody>
      </p:sp>
      <p:sp>
        <p:nvSpPr>
          <p:cNvPr id="51" name="integration detail 2"/>
          <p:cNvSpPr txBox="1"/>
          <p:nvPr/>
        </p:nvSpPr>
        <p:spPr>
          <a:xfrm>
            <a:off x="9326880" y="3035808"/>
            <a:ext cx="2224735" cy="219456"/>
          </a:xfrm>
          <a:prstGeom prst="rect">
            <a:avLst/>
          </a:prstGeom>
          <a:noFill/>
          <a:ln/>
        </p:spPr>
        <p:txBody>
          <a:bodyPr wrap="square" lIns="0" tIns="0" rIns="0" bIns="0" rtlCol="0" anchor="t"/>
          <a:lstStyle/>
          <a:p>
            <a:pPr indent="0" marL="0">
              <a:buNone/>
            </a:pPr>
            <a:r>
              <a:rPr lang="en-US" sz="1100" dirty="0">
                <a:solidFill>
                  <a:schemeClr val="accent6"/>
                </a:solidFill>
              </a:rPr>
              <a:t>Alerts, reminders &amp; notices</a:t>
            </a:r>
            <a:endParaRPr lang="en-US" sz="1100" dirty="0"/>
          </a:p>
        </p:txBody>
      </p:sp>
      <p:sp>
        <p:nvSpPr>
          <p:cNvPr id="52" name="integration box 3"/>
          <p:cNvSpPr/>
          <p:nvPr/>
        </p:nvSpPr>
        <p:spPr>
          <a:xfrm>
            <a:off x="8823960" y="3383280"/>
            <a:ext cx="2819095" cy="548640"/>
          </a:xfrm>
          <a:prstGeom prst="roundRect">
            <a:avLst>
              <a:gd name="adj" fmla="val 13333"/>
            </a:avLst>
          </a:prstGeom>
          <a:solidFill>
            <a:schemeClr val="bg1"/>
          </a:solidFill>
          <a:ln w="9525">
            <a:solidFill>
              <a:schemeClr val="accent6">
                <a:alpha val="40000"/>
              </a:schemeClr>
            </a:solidFill>
            <a:prstDash val="solid"/>
          </a:ln>
        </p:spPr>
      </p:sp>
      <p:pic>
        <p:nvPicPr>
          <p:cNvPr id="53" name="integration icon 3" descr="hand coins icon">    </p:cNvPr>
          <p:cNvPicPr>
            <a:picLocks noChangeAspect="1"/>
          </p:cNvPicPr>
          <p:nvPr/>
        </p:nvPicPr>
        <p:blipFill>
          <a:blip r:embed="rId10"/>
          <a:stretch>
            <a:fillRect/>
          </a:stretch>
        </p:blipFill>
        <p:spPr>
          <a:xfrm>
            <a:off x="8942832" y="3529584"/>
            <a:ext cx="256032" cy="256032"/>
          </a:xfrm>
          <a:prstGeom prst="rect">
            <a:avLst/>
          </a:prstGeom>
        </p:spPr>
      </p:pic>
      <p:sp>
        <p:nvSpPr>
          <p:cNvPr id="54" name="integration name 3"/>
          <p:cNvSpPr txBox="1"/>
          <p:nvPr/>
        </p:nvSpPr>
        <p:spPr>
          <a:xfrm>
            <a:off x="9326880" y="3429000"/>
            <a:ext cx="2224735" cy="246888"/>
          </a:xfrm>
          <a:prstGeom prst="rect">
            <a:avLst/>
          </a:prstGeom>
          <a:noFill/>
          <a:ln/>
        </p:spPr>
        <p:txBody>
          <a:bodyPr wrap="square" lIns="0" tIns="0" rIns="0" bIns="0" rtlCol="0" anchor="t"/>
          <a:lstStyle/>
          <a:p>
            <a:pPr indent="0" marL="0">
              <a:buNone/>
            </a:pPr>
            <a:r>
              <a:rPr lang="en-US" sz="1300" b="1" dirty="0">
                <a:solidFill>
                  <a:schemeClr val="tx1"/>
                </a:solidFill>
              </a:rPr>
              <a:t>Finance System</a:t>
            </a:r>
            <a:endParaRPr lang="en-US" sz="1300" dirty="0"/>
          </a:p>
        </p:txBody>
      </p:sp>
      <p:sp>
        <p:nvSpPr>
          <p:cNvPr id="55" name="integration detail 3"/>
          <p:cNvSpPr txBox="1"/>
          <p:nvPr/>
        </p:nvSpPr>
        <p:spPr>
          <a:xfrm>
            <a:off x="9326880" y="3675888"/>
            <a:ext cx="2224735" cy="219456"/>
          </a:xfrm>
          <a:prstGeom prst="rect">
            <a:avLst/>
          </a:prstGeom>
          <a:noFill/>
          <a:ln/>
        </p:spPr>
        <p:txBody>
          <a:bodyPr wrap="square" lIns="0" tIns="0" rIns="0" bIns="0" rtlCol="0" anchor="t"/>
          <a:lstStyle/>
          <a:p>
            <a:pPr indent="0" marL="0">
              <a:buNone/>
            </a:pPr>
            <a:r>
              <a:rPr lang="en-US" sz="1100" dirty="0">
                <a:solidFill>
                  <a:schemeClr val="accent6"/>
                </a:solidFill>
              </a:rPr>
              <a:t>Bill payment &amp; reconciliation</a:t>
            </a:r>
            <a:endParaRPr lang="en-US" sz="1100" dirty="0"/>
          </a:p>
        </p:txBody>
      </p:sp>
      <p:sp>
        <p:nvSpPr>
          <p:cNvPr id="56" name="integration box 4"/>
          <p:cNvSpPr/>
          <p:nvPr/>
        </p:nvSpPr>
        <p:spPr>
          <a:xfrm>
            <a:off x="8823960" y="4023360"/>
            <a:ext cx="2819095" cy="548640"/>
          </a:xfrm>
          <a:prstGeom prst="roundRect">
            <a:avLst>
              <a:gd name="adj" fmla="val 13333"/>
            </a:avLst>
          </a:prstGeom>
          <a:solidFill>
            <a:schemeClr val="bg1"/>
          </a:solidFill>
          <a:ln w="9525">
            <a:solidFill>
              <a:schemeClr val="accent6">
                <a:alpha val="40000"/>
              </a:schemeClr>
            </a:solidFill>
            <a:prstDash val="solid"/>
          </a:ln>
        </p:spPr>
      </p:sp>
      <p:pic>
        <p:nvPicPr>
          <p:cNvPr id="57" name="integration icon 4" descr="chart column icon">    </p:cNvPr>
          <p:cNvPicPr>
            <a:picLocks noChangeAspect="1"/>
          </p:cNvPicPr>
          <p:nvPr/>
        </p:nvPicPr>
        <p:blipFill>
          <a:blip r:embed="rId11"/>
          <a:stretch>
            <a:fillRect/>
          </a:stretch>
        </p:blipFill>
        <p:spPr>
          <a:xfrm>
            <a:off x="8942832" y="4169664"/>
            <a:ext cx="256032" cy="256032"/>
          </a:xfrm>
          <a:prstGeom prst="rect">
            <a:avLst/>
          </a:prstGeom>
        </p:spPr>
      </p:pic>
      <p:sp>
        <p:nvSpPr>
          <p:cNvPr id="58" name="integration name 4"/>
          <p:cNvSpPr txBox="1"/>
          <p:nvPr/>
        </p:nvSpPr>
        <p:spPr>
          <a:xfrm>
            <a:off x="9326880" y="4069080"/>
            <a:ext cx="2224735" cy="246888"/>
          </a:xfrm>
          <a:prstGeom prst="rect">
            <a:avLst/>
          </a:prstGeom>
          <a:noFill/>
          <a:ln/>
        </p:spPr>
        <p:txBody>
          <a:bodyPr wrap="square" lIns="0" tIns="0" rIns="0" bIns="0" rtlCol="0" anchor="t"/>
          <a:lstStyle/>
          <a:p>
            <a:pPr indent="0" marL="0">
              <a:buNone/>
            </a:pPr>
            <a:r>
              <a:rPr lang="en-US" sz="1300" b="1" dirty="0">
                <a:solidFill>
                  <a:schemeClr val="tx1"/>
                </a:solidFill>
              </a:rPr>
              <a:t>EDW / MIS</a:t>
            </a:r>
            <a:endParaRPr lang="en-US" sz="1300" dirty="0"/>
          </a:p>
        </p:txBody>
      </p:sp>
      <p:sp>
        <p:nvSpPr>
          <p:cNvPr id="59" name="integration detail 4"/>
          <p:cNvSpPr txBox="1"/>
          <p:nvPr/>
        </p:nvSpPr>
        <p:spPr>
          <a:xfrm>
            <a:off x="9326880" y="4315968"/>
            <a:ext cx="2224735" cy="219456"/>
          </a:xfrm>
          <a:prstGeom prst="rect">
            <a:avLst/>
          </a:prstGeom>
          <a:noFill/>
          <a:ln/>
        </p:spPr>
        <p:txBody>
          <a:bodyPr wrap="square" lIns="0" tIns="0" rIns="0" bIns="0" rtlCol="0" anchor="t"/>
          <a:lstStyle/>
          <a:p>
            <a:pPr indent="0" marL="0">
              <a:buNone/>
            </a:pPr>
            <a:r>
              <a:rPr lang="en-US" sz="1100" dirty="0">
                <a:solidFill>
                  <a:schemeClr val="accent6"/>
                </a:solidFill>
              </a:rPr>
              <a:t>Dashboards &amp; regulatory data</a:t>
            </a:r>
            <a:endParaRPr lang="en-US" sz="1100" dirty="0"/>
          </a:p>
        </p:txBody>
      </p:sp>
      <p:sp>
        <p:nvSpPr>
          <p:cNvPr id="60" name="integration box 5"/>
          <p:cNvSpPr/>
          <p:nvPr/>
        </p:nvSpPr>
        <p:spPr>
          <a:xfrm>
            <a:off x="8823960" y="4663440"/>
            <a:ext cx="2819095" cy="548640"/>
          </a:xfrm>
          <a:prstGeom prst="roundRect">
            <a:avLst>
              <a:gd name="adj" fmla="val 13333"/>
            </a:avLst>
          </a:prstGeom>
          <a:solidFill>
            <a:schemeClr val="bg1"/>
          </a:solidFill>
          <a:ln w="9525">
            <a:solidFill>
              <a:schemeClr val="accent6">
                <a:alpha val="40000"/>
              </a:schemeClr>
            </a:solidFill>
            <a:prstDash val="solid"/>
          </a:ln>
        </p:spPr>
      </p:sp>
      <p:pic>
        <p:nvPicPr>
          <p:cNvPr id="61" name="integration icon 5" descr="key round icon">    </p:cNvPr>
          <p:cNvPicPr>
            <a:picLocks noChangeAspect="1"/>
          </p:cNvPicPr>
          <p:nvPr/>
        </p:nvPicPr>
        <p:blipFill>
          <a:blip r:embed="rId12"/>
          <a:stretch>
            <a:fillRect/>
          </a:stretch>
        </p:blipFill>
        <p:spPr>
          <a:xfrm>
            <a:off x="8942832" y="4809744"/>
            <a:ext cx="256032" cy="256032"/>
          </a:xfrm>
          <a:prstGeom prst="rect">
            <a:avLst/>
          </a:prstGeom>
        </p:spPr>
      </p:pic>
      <p:sp>
        <p:nvSpPr>
          <p:cNvPr id="62" name="integration name 5"/>
          <p:cNvSpPr txBox="1"/>
          <p:nvPr/>
        </p:nvSpPr>
        <p:spPr>
          <a:xfrm>
            <a:off x="9326880" y="4709160"/>
            <a:ext cx="2224735" cy="246888"/>
          </a:xfrm>
          <a:prstGeom prst="rect">
            <a:avLst/>
          </a:prstGeom>
          <a:noFill/>
          <a:ln/>
        </p:spPr>
        <p:txBody>
          <a:bodyPr wrap="square" lIns="0" tIns="0" rIns="0" bIns="0" rtlCol="0" anchor="t"/>
          <a:lstStyle/>
          <a:p>
            <a:pPr indent="0" marL="0">
              <a:buNone/>
            </a:pPr>
            <a:r>
              <a:rPr lang="en-US" sz="1300" b="1" dirty="0">
                <a:solidFill>
                  <a:schemeClr val="tx1"/>
                </a:solidFill>
              </a:rPr>
              <a:t>Active Directory / SSO</a:t>
            </a:r>
            <a:endParaRPr lang="en-US" sz="1300" dirty="0"/>
          </a:p>
        </p:txBody>
      </p:sp>
      <p:sp>
        <p:nvSpPr>
          <p:cNvPr id="63" name="integration detail 5"/>
          <p:cNvSpPr txBox="1"/>
          <p:nvPr/>
        </p:nvSpPr>
        <p:spPr>
          <a:xfrm>
            <a:off x="9326880" y="4956048"/>
            <a:ext cx="2224735" cy="219456"/>
          </a:xfrm>
          <a:prstGeom prst="rect">
            <a:avLst/>
          </a:prstGeom>
          <a:noFill/>
          <a:ln/>
        </p:spPr>
        <p:txBody>
          <a:bodyPr wrap="square" lIns="0" tIns="0" rIns="0" bIns="0" rtlCol="0" anchor="t"/>
          <a:lstStyle/>
          <a:p>
            <a:pPr indent="0" marL="0">
              <a:buNone/>
            </a:pPr>
            <a:r>
              <a:rPr lang="en-US" sz="1100" dirty="0">
                <a:solidFill>
                  <a:schemeClr val="accent6"/>
                </a:solidFill>
              </a:rPr>
              <a:t>Single sign-on &amp; user sync</a:t>
            </a:r>
            <a:endParaRPr lang="en-US" sz="1100" dirty="0"/>
          </a:p>
        </p:txBody>
      </p:sp>
      <p:sp>
        <p:nvSpPr>
          <p:cNvPr id="64" name="integration box 6"/>
          <p:cNvSpPr/>
          <p:nvPr/>
        </p:nvSpPr>
        <p:spPr>
          <a:xfrm>
            <a:off x="8823960" y="5303520"/>
            <a:ext cx="2819095" cy="548640"/>
          </a:xfrm>
          <a:prstGeom prst="roundRect">
            <a:avLst>
              <a:gd name="adj" fmla="val 13333"/>
            </a:avLst>
          </a:prstGeom>
          <a:solidFill>
            <a:schemeClr val="bg1"/>
          </a:solidFill>
          <a:ln w="9525">
            <a:solidFill>
              <a:schemeClr val="accent6">
                <a:alpha val="40000"/>
              </a:schemeClr>
            </a:solidFill>
            <a:prstDash val="solid"/>
          </a:ln>
        </p:spPr>
      </p:sp>
      <p:pic>
        <p:nvPicPr>
          <p:cNvPr id="65" name="integration icon 6" descr="folder open icon">    </p:cNvPr>
          <p:cNvPicPr>
            <a:picLocks noChangeAspect="1"/>
          </p:cNvPicPr>
          <p:nvPr/>
        </p:nvPicPr>
        <p:blipFill>
          <a:blip r:embed="rId13"/>
          <a:stretch>
            <a:fillRect/>
          </a:stretch>
        </p:blipFill>
        <p:spPr>
          <a:xfrm>
            <a:off x="8942832" y="5449824"/>
            <a:ext cx="256032" cy="256032"/>
          </a:xfrm>
          <a:prstGeom prst="rect">
            <a:avLst/>
          </a:prstGeom>
        </p:spPr>
      </p:pic>
      <p:sp>
        <p:nvSpPr>
          <p:cNvPr id="66" name="integration name 6"/>
          <p:cNvSpPr txBox="1"/>
          <p:nvPr/>
        </p:nvSpPr>
        <p:spPr>
          <a:xfrm>
            <a:off x="9326880" y="5349240"/>
            <a:ext cx="2224735" cy="246888"/>
          </a:xfrm>
          <a:prstGeom prst="rect">
            <a:avLst/>
          </a:prstGeom>
          <a:noFill/>
          <a:ln/>
        </p:spPr>
        <p:txBody>
          <a:bodyPr wrap="square" lIns="0" tIns="0" rIns="0" bIns="0" rtlCol="0" anchor="t"/>
          <a:lstStyle/>
          <a:p>
            <a:pPr indent="0" marL="0">
              <a:buNone/>
            </a:pPr>
            <a:r>
              <a:rPr lang="en-US" sz="1300" b="1" dirty="0">
                <a:solidFill>
                  <a:schemeClr val="tx1"/>
                </a:solidFill>
              </a:rPr>
              <a:t>Document Repository</a:t>
            </a:r>
            <a:endParaRPr lang="en-US" sz="1300" dirty="0"/>
          </a:p>
        </p:txBody>
      </p:sp>
      <p:sp>
        <p:nvSpPr>
          <p:cNvPr id="67" name="integration detail 6"/>
          <p:cNvSpPr txBox="1"/>
          <p:nvPr/>
        </p:nvSpPr>
        <p:spPr>
          <a:xfrm>
            <a:off x="9326880" y="5596128"/>
            <a:ext cx="2224735" cy="219456"/>
          </a:xfrm>
          <a:prstGeom prst="rect">
            <a:avLst/>
          </a:prstGeom>
          <a:noFill/>
          <a:ln/>
        </p:spPr>
        <p:txBody>
          <a:bodyPr wrap="square" lIns="0" tIns="0" rIns="0" bIns="0" rtlCol="0" anchor="t"/>
          <a:lstStyle/>
          <a:p>
            <a:pPr indent="0" marL="0">
              <a:buNone/>
            </a:pPr>
            <a:r>
              <a:rPr lang="en-US" sz="1100" dirty="0">
                <a:solidFill>
                  <a:schemeClr val="accent6"/>
                </a:solidFill>
              </a:rPr>
              <a:t>Archival &amp; retrieval</a:t>
            </a:r>
            <a:endParaRPr lang="en-US" sz="1100" dirty="0"/>
          </a:p>
        </p:txBody>
      </p:sp>
      <p:sp>
        <p:nvSpPr>
          <p:cNvPr id="68" name="deployment note"/>
          <p:cNvSpPr txBox="1"/>
          <p:nvPr/>
        </p:nvSpPr>
        <p:spPr>
          <a:xfrm>
            <a:off x="548640" y="6035040"/>
            <a:ext cx="11094415" cy="237744"/>
          </a:xfrm>
          <a:prstGeom prst="rect">
            <a:avLst/>
          </a:prstGeom>
          <a:noFill/>
          <a:ln/>
        </p:spPr>
        <p:txBody>
          <a:bodyPr wrap="square" lIns="0" tIns="0" rIns="0" bIns="0" rtlCol="0" anchor="t"/>
          <a:lstStyle/>
          <a:p>
            <a:pPr indent="0" marL="0">
              <a:buNone/>
            </a:pPr>
            <a:r>
              <a:rPr lang="en-US" sz="1100" dirty="0">
                <a:solidFill>
                  <a:schemeClr val="accent6"/>
                </a:solidFill>
              </a:rPr>
              <a:t>Deployed on-premises at Bank Asia DC &amp; DR  ·  Integrations via REST/SOAP APIs, batch/ETL, message queues and SFTP  ·  The live demo simulates CBS, SMS and email</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76656"/>
          </a:xfrm>
          <a:prstGeom prst="rect">
            <a:avLst/>
          </a:prstGeom>
          <a:noFill/>
          <a:ln/>
        </p:spPr>
        <p:txBody>
          <a:bodyPr wrap="square" lIns="0" tIns="0" rIns="0" bIns="0" rtlCol="0" anchor="ctr"/>
          <a:lstStyle/>
          <a:p>
            <a:pPr algn="l" indent="0" marL="0">
              <a:buNone/>
            </a:pPr>
            <a:r>
              <a:rPr lang="en-US" sz="3600" b="1" dirty="0">
                <a:solidFill>
                  <a:schemeClr val="tx2"/>
                </a:solidFill>
              </a:rPr>
              <a:t>Secure, Role-Based Access</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algn="l" indent="0" marL="0">
              <a:buNone/>
            </a:pPr>
            <a:r>
              <a:rPr lang="en-US" sz="1600" dirty="0">
                <a:solidFill>
                  <a:schemeClr val="accent6"/>
                </a:solidFill>
              </a:rPr>
              <a:t>Six role profiles with maker–checker segregation, applied to every screen and action</a:t>
            </a:r>
            <a:endParaRPr lang="en-US" sz="1600" dirty="0"/>
          </a:p>
        </p:txBody>
      </p:sp>
      <p:sp>
        <p:nvSpPr>
          <p:cNvPr id="4" name="login frame"/>
          <p:cNvSpPr/>
          <p:nvPr/>
        </p:nvSpPr>
        <p:spPr>
          <a:xfrm>
            <a:off x="548640" y="1737360"/>
            <a:ext cx="5989320" cy="4040505"/>
          </a:xfrm>
          <a:prstGeom prst="roundRect">
            <a:avLst>
              <a:gd name="adj" fmla="val 2263"/>
            </a:avLst>
          </a:prstGeom>
          <a:solidFill>
            <a:schemeClr val="bg2"/>
          </a:solidFill>
          <a:ln w="9525">
            <a:solidFill>
              <a:schemeClr val="accent6">
                <a:alpha val="30000"/>
              </a:schemeClr>
            </a:solidFill>
            <a:prstDash val="solid"/>
          </a:ln>
          <a:effectLst>
            <a:outerShdw sx="100000" sy="100000" kx="0" ky="0" algn="bl" rotWithShape="0" blurRad="203200" dist="50800" dir="5400000">
              <a:srgbClr val="0B1F3A">
                <a:alpha val="18000"/>
              </a:srgbClr>
            </a:outerShdw>
          </a:effectLst>
        </p:spPr>
      </p:sp>
      <p:sp>
        <p:nvSpPr>
          <p:cNvPr id="5" name="login dot 1"/>
          <p:cNvSpPr/>
          <p:nvPr/>
        </p:nvSpPr>
        <p:spPr>
          <a:xfrm>
            <a:off x="704088" y="1851660"/>
            <a:ext cx="82296" cy="82296"/>
          </a:xfrm>
          <a:prstGeom prst="ellipse">
            <a:avLst/>
          </a:prstGeom>
          <a:solidFill>
            <a:schemeClr val="accent6">
              <a:alpha val="55000"/>
            </a:schemeClr>
          </a:solidFill>
          <a:ln/>
        </p:spPr>
      </p:sp>
      <p:sp>
        <p:nvSpPr>
          <p:cNvPr id="6" name="login dot 2"/>
          <p:cNvSpPr/>
          <p:nvPr/>
        </p:nvSpPr>
        <p:spPr>
          <a:xfrm>
            <a:off x="841248" y="1851660"/>
            <a:ext cx="82296" cy="82296"/>
          </a:xfrm>
          <a:prstGeom prst="ellipse">
            <a:avLst/>
          </a:prstGeom>
          <a:solidFill>
            <a:schemeClr val="accent6">
              <a:alpha val="55000"/>
            </a:schemeClr>
          </a:solidFill>
          <a:ln/>
        </p:spPr>
      </p:sp>
      <p:sp>
        <p:nvSpPr>
          <p:cNvPr id="7" name="login dot 3"/>
          <p:cNvSpPr/>
          <p:nvPr/>
        </p:nvSpPr>
        <p:spPr>
          <a:xfrm>
            <a:off x="978408" y="1851660"/>
            <a:ext cx="82296" cy="82296"/>
          </a:xfrm>
          <a:prstGeom prst="ellipse">
            <a:avLst/>
          </a:prstGeom>
          <a:solidFill>
            <a:schemeClr val="accent6">
              <a:alpha val="55000"/>
            </a:schemeClr>
          </a:solidFill>
          <a:ln/>
        </p:spPr>
      </p:sp>
      <p:sp>
        <p:nvSpPr>
          <p:cNvPr id="8" name="login url"/>
          <p:cNvSpPr txBox="1"/>
          <p:nvPr/>
        </p:nvSpPr>
        <p:spPr>
          <a:xfrm>
            <a:off x="2165756" y="1792224"/>
            <a:ext cx="2755087" cy="201168"/>
          </a:xfrm>
          <a:prstGeom prst="roundRect">
            <a:avLst>
              <a:gd name="adj" fmla="val 50000"/>
            </a:avLst>
          </a:prstGeom>
          <a:solidFill>
            <a:schemeClr val="bg1"/>
          </a:solidFill>
          <a:ln/>
        </p:spPr>
        <p:txBody>
          <a:bodyPr wrap="square" lIns="0" tIns="0" rIns="0" bIns="0" rtlCol="0" anchor="ctr"/>
          <a:lstStyle/>
          <a:p>
            <a:pPr algn="ctr" indent="0" marL="0">
              <a:buNone/>
            </a:pPr>
            <a:r>
              <a:rPr lang="en-US" sz="1000" dirty="0">
                <a:solidFill>
                  <a:schemeClr val="accent6"/>
                </a:solidFill>
              </a:rPr>
              <a:t>lms.skoder.co/login</a:t>
            </a:r>
            <a:endParaRPr lang="en-US" sz="1000" dirty="0"/>
          </a:p>
        </p:txBody>
      </p:sp>
      <p:pic>
        <p:nvPicPr>
          <p:cNvPr id="9" name="login screenshot" descr="LMS login screen with role selection">    </p:cNvPr>
          <p:cNvPicPr>
            <a:picLocks noChangeAspect="1"/>
          </p:cNvPicPr>
          <p:nvPr/>
        </p:nvPicPr>
        <p:blipFill>
          <a:blip r:embed="rId1"/>
          <a:stretch>
            <a:fillRect/>
          </a:stretch>
        </p:blipFill>
        <p:spPr>
          <a:xfrm>
            <a:off x="603504" y="2048256"/>
            <a:ext cx="5879592" cy="3674745"/>
          </a:xfrm>
          <a:prstGeom prst="rect">
            <a:avLst/>
          </a:prstGeom>
        </p:spPr>
      </p:pic>
      <p:sp>
        <p:nvSpPr>
          <p:cNvPr id="10" name="login caption"/>
          <p:cNvSpPr txBox="1"/>
          <p:nvPr/>
        </p:nvSpPr>
        <p:spPr>
          <a:xfrm>
            <a:off x="548640" y="5869305"/>
            <a:ext cx="5989320" cy="237744"/>
          </a:xfrm>
          <a:prstGeom prst="rect">
            <a:avLst/>
          </a:prstGeom>
          <a:noFill/>
          <a:ln/>
        </p:spPr>
        <p:txBody>
          <a:bodyPr wrap="square" lIns="0" tIns="0" rIns="0" bIns="0" rtlCol="0" anchor="t"/>
          <a:lstStyle/>
          <a:p>
            <a:pPr indent="0" marL="0">
              <a:buNone/>
            </a:pPr>
            <a:r>
              <a:rPr lang="en-US" sz="1100" i="1" dirty="0">
                <a:solidFill>
                  <a:schemeClr val="accent6"/>
                </a:solidFill>
              </a:rPr>
              <a:t>Live system  ·  the demo uses quick role sign-in to switch between personas</a:t>
            </a:r>
            <a:endParaRPr lang="en-US" sz="1100" dirty="0"/>
          </a:p>
        </p:txBody>
      </p:sp>
      <p:sp>
        <p:nvSpPr>
          <p:cNvPr id="11" name="roles heading"/>
          <p:cNvSpPr txBox="1"/>
          <p:nvPr/>
        </p:nvSpPr>
        <p:spPr>
          <a:xfrm>
            <a:off x="6903720" y="1737360"/>
            <a:ext cx="4739335" cy="310896"/>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Role profiles</a:t>
            </a:r>
            <a:endParaRPr lang="en-US" sz="1600" dirty="0"/>
          </a:p>
        </p:txBody>
      </p:sp>
      <p:sp>
        <p:nvSpPr>
          <p:cNvPr id="12" name="role box 1"/>
          <p:cNvSpPr/>
          <p:nvPr/>
        </p:nvSpPr>
        <p:spPr>
          <a:xfrm>
            <a:off x="6903720" y="2148840"/>
            <a:ext cx="2287372" cy="512064"/>
          </a:xfrm>
          <a:prstGeom prst="roundRect">
            <a:avLst>
              <a:gd name="adj" fmla="val 14286"/>
            </a:avLst>
          </a:prstGeom>
          <a:solidFill>
            <a:schemeClr val="bg2"/>
          </a:solidFill>
          <a:ln/>
        </p:spPr>
      </p:sp>
      <p:pic>
        <p:nvPicPr>
          <p:cNvPr id="13" name="role icon 1" descr="user icon">    </p:cNvPr>
          <p:cNvPicPr>
            <a:picLocks noChangeAspect="1"/>
          </p:cNvPicPr>
          <p:nvPr/>
        </p:nvPicPr>
        <p:blipFill>
          <a:blip r:embed="rId2"/>
          <a:stretch>
            <a:fillRect/>
          </a:stretch>
        </p:blipFill>
        <p:spPr>
          <a:xfrm>
            <a:off x="7031736" y="2286000"/>
            <a:ext cx="237744" cy="237744"/>
          </a:xfrm>
          <a:prstGeom prst="rect">
            <a:avLst/>
          </a:prstGeom>
        </p:spPr>
      </p:pic>
      <p:sp>
        <p:nvSpPr>
          <p:cNvPr id="14" name="role label 1"/>
          <p:cNvSpPr txBox="1"/>
          <p:nvPr/>
        </p:nvSpPr>
        <p:spPr>
          <a:xfrm>
            <a:off x="7360920" y="2148840"/>
            <a:ext cx="1757020" cy="512064"/>
          </a:xfrm>
          <a:prstGeom prst="rect">
            <a:avLst/>
          </a:prstGeom>
          <a:noFill/>
          <a:ln/>
        </p:spPr>
        <p:txBody>
          <a:bodyPr wrap="square" lIns="0" tIns="0" rIns="0" bIns="0" rtlCol="0" anchor="ctr"/>
          <a:lstStyle/>
          <a:p>
            <a:pPr indent="0" marL="0">
              <a:buNone/>
            </a:pPr>
            <a:r>
              <a:rPr lang="en-US" sz="1300" b="1" dirty="0">
                <a:solidFill>
                  <a:schemeClr val="tx1"/>
                </a:solidFill>
              </a:rPr>
              <a:t>Branch Officer</a:t>
            </a:r>
            <a:endParaRPr lang="en-US" sz="1300" dirty="0"/>
          </a:p>
          <a:p>
            <a:pPr indent="0" marL="0">
              <a:buNone/>
            </a:pPr>
            <a:r>
              <a:rPr lang="en-US" sz="1100" dirty="0">
                <a:solidFill>
                  <a:schemeClr val="accent6"/>
                </a:solidFill>
              </a:rPr>
              <a:t>Maker</a:t>
            </a:r>
            <a:endParaRPr lang="en-US" sz="1300" dirty="0"/>
          </a:p>
        </p:txBody>
      </p:sp>
      <p:sp>
        <p:nvSpPr>
          <p:cNvPr id="15" name="role box 2"/>
          <p:cNvSpPr/>
          <p:nvPr/>
        </p:nvSpPr>
        <p:spPr>
          <a:xfrm>
            <a:off x="9355684" y="2148840"/>
            <a:ext cx="2287372" cy="512064"/>
          </a:xfrm>
          <a:prstGeom prst="roundRect">
            <a:avLst>
              <a:gd name="adj" fmla="val 14286"/>
            </a:avLst>
          </a:prstGeom>
          <a:solidFill>
            <a:schemeClr val="bg2"/>
          </a:solidFill>
          <a:ln/>
        </p:spPr>
      </p:sp>
      <p:pic>
        <p:nvPicPr>
          <p:cNvPr id="16" name="role icon 2" descr="shield check icon">    </p:cNvPr>
          <p:cNvPicPr>
            <a:picLocks noChangeAspect="1"/>
          </p:cNvPicPr>
          <p:nvPr/>
        </p:nvPicPr>
        <p:blipFill>
          <a:blip r:embed="rId3"/>
          <a:stretch>
            <a:fillRect/>
          </a:stretch>
        </p:blipFill>
        <p:spPr>
          <a:xfrm>
            <a:off x="9483700" y="2286000"/>
            <a:ext cx="237744" cy="237744"/>
          </a:xfrm>
          <a:prstGeom prst="rect">
            <a:avLst/>
          </a:prstGeom>
        </p:spPr>
      </p:pic>
      <p:sp>
        <p:nvSpPr>
          <p:cNvPr id="17" name="role label 2"/>
          <p:cNvSpPr txBox="1"/>
          <p:nvPr/>
        </p:nvSpPr>
        <p:spPr>
          <a:xfrm>
            <a:off x="9812884" y="2148840"/>
            <a:ext cx="1757020" cy="512064"/>
          </a:xfrm>
          <a:prstGeom prst="rect">
            <a:avLst/>
          </a:prstGeom>
          <a:noFill/>
          <a:ln/>
        </p:spPr>
        <p:txBody>
          <a:bodyPr wrap="square" lIns="0" tIns="0" rIns="0" bIns="0" rtlCol="0" anchor="ctr"/>
          <a:lstStyle/>
          <a:p>
            <a:pPr indent="0" marL="0">
              <a:buNone/>
            </a:pPr>
            <a:r>
              <a:rPr lang="en-US" sz="1300" b="1" dirty="0">
                <a:solidFill>
                  <a:schemeClr val="tx1"/>
                </a:solidFill>
              </a:rPr>
              <a:t>Branch Manager</a:t>
            </a:r>
            <a:endParaRPr lang="en-US" sz="1300" dirty="0"/>
          </a:p>
          <a:p>
            <a:pPr indent="0" marL="0">
              <a:buNone/>
            </a:pPr>
            <a:r>
              <a:rPr lang="en-US" sz="1100" dirty="0">
                <a:solidFill>
                  <a:schemeClr val="accent6"/>
                </a:solidFill>
              </a:rPr>
              <a:t>Checker</a:t>
            </a:r>
            <a:endParaRPr lang="en-US" sz="1300" dirty="0"/>
          </a:p>
        </p:txBody>
      </p:sp>
      <p:sp>
        <p:nvSpPr>
          <p:cNvPr id="18" name="role box 3"/>
          <p:cNvSpPr/>
          <p:nvPr/>
        </p:nvSpPr>
        <p:spPr>
          <a:xfrm>
            <a:off x="6903720" y="2770632"/>
            <a:ext cx="2287372" cy="512064"/>
          </a:xfrm>
          <a:prstGeom prst="roundRect">
            <a:avLst>
              <a:gd name="adj" fmla="val 14286"/>
            </a:avLst>
          </a:prstGeom>
          <a:solidFill>
            <a:schemeClr val="bg2"/>
          </a:solidFill>
          <a:ln/>
        </p:spPr>
      </p:sp>
      <p:pic>
        <p:nvPicPr>
          <p:cNvPr id="19" name="role icon 3" descr="user icon">    </p:cNvPr>
          <p:cNvPicPr>
            <a:picLocks noChangeAspect="1"/>
          </p:cNvPicPr>
          <p:nvPr/>
        </p:nvPicPr>
        <p:blipFill>
          <a:blip r:embed="rId4"/>
          <a:stretch>
            <a:fillRect/>
          </a:stretch>
        </p:blipFill>
        <p:spPr>
          <a:xfrm>
            <a:off x="7031736" y="2907792"/>
            <a:ext cx="237744" cy="237744"/>
          </a:xfrm>
          <a:prstGeom prst="rect">
            <a:avLst/>
          </a:prstGeom>
        </p:spPr>
      </p:pic>
      <p:sp>
        <p:nvSpPr>
          <p:cNvPr id="20" name="role label 3"/>
          <p:cNvSpPr txBox="1"/>
          <p:nvPr/>
        </p:nvSpPr>
        <p:spPr>
          <a:xfrm>
            <a:off x="7360920" y="2770632"/>
            <a:ext cx="1757020" cy="512064"/>
          </a:xfrm>
          <a:prstGeom prst="rect">
            <a:avLst/>
          </a:prstGeom>
          <a:noFill/>
          <a:ln/>
        </p:spPr>
        <p:txBody>
          <a:bodyPr wrap="square" lIns="0" tIns="0" rIns="0" bIns="0" rtlCol="0" anchor="ctr"/>
          <a:lstStyle/>
          <a:p>
            <a:pPr indent="0" marL="0">
              <a:buNone/>
            </a:pPr>
            <a:r>
              <a:rPr lang="en-US" sz="1300" b="1" dirty="0">
                <a:solidFill>
                  <a:schemeClr val="tx1"/>
                </a:solidFill>
              </a:rPr>
              <a:t>HO Legal Officer</a:t>
            </a:r>
            <a:endParaRPr lang="en-US" sz="1300" dirty="0"/>
          </a:p>
          <a:p>
            <a:pPr indent="0" marL="0">
              <a:buNone/>
            </a:pPr>
            <a:r>
              <a:rPr lang="en-US" sz="1100" dirty="0">
                <a:solidFill>
                  <a:schemeClr val="accent6"/>
                </a:solidFill>
              </a:rPr>
              <a:t>Maker</a:t>
            </a:r>
            <a:endParaRPr lang="en-US" sz="1300" dirty="0"/>
          </a:p>
        </p:txBody>
      </p:sp>
      <p:sp>
        <p:nvSpPr>
          <p:cNvPr id="21" name="role box 4"/>
          <p:cNvSpPr/>
          <p:nvPr/>
        </p:nvSpPr>
        <p:spPr>
          <a:xfrm>
            <a:off x="9355684" y="2770632"/>
            <a:ext cx="2287372" cy="512064"/>
          </a:xfrm>
          <a:prstGeom prst="roundRect">
            <a:avLst>
              <a:gd name="adj" fmla="val 14286"/>
            </a:avLst>
          </a:prstGeom>
          <a:solidFill>
            <a:schemeClr val="bg2"/>
          </a:solidFill>
          <a:ln/>
        </p:spPr>
      </p:sp>
      <p:pic>
        <p:nvPicPr>
          <p:cNvPr id="22" name="role icon 4" descr="shield check icon">    </p:cNvPr>
          <p:cNvPicPr>
            <a:picLocks noChangeAspect="1"/>
          </p:cNvPicPr>
          <p:nvPr/>
        </p:nvPicPr>
        <p:blipFill>
          <a:blip r:embed="rId5"/>
          <a:stretch>
            <a:fillRect/>
          </a:stretch>
        </p:blipFill>
        <p:spPr>
          <a:xfrm>
            <a:off x="9483700" y="2907792"/>
            <a:ext cx="237744" cy="237744"/>
          </a:xfrm>
          <a:prstGeom prst="rect">
            <a:avLst/>
          </a:prstGeom>
        </p:spPr>
      </p:pic>
      <p:sp>
        <p:nvSpPr>
          <p:cNvPr id="23" name="role label 4"/>
          <p:cNvSpPr txBox="1"/>
          <p:nvPr/>
        </p:nvSpPr>
        <p:spPr>
          <a:xfrm>
            <a:off x="9812884" y="2770632"/>
            <a:ext cx="1757020" cy="512064"/>
          </a:xfrm>
          <a:prstGeom prst="rect">
            <a:avLst/>
          </a:prstGeom>
          <a:noFill/>
          <a:ln/>
        </p:spPr>
        <p:txBody>
          <a:bodyPr wrap="square" lIns="0" tIns="0" rIns="0" bIns="0" rtlCol="0" anchor="ctr"/>
          <a:lstStyle/>
          <a:p>
            <a:pPr indent="0" marL="0">
              <a:buNone/>
            </a:pPr>
            <a:r>
              <a:rPr lang="en-US" sz="1300" b="1" dirty="0">
                <a:solidFill>
                  <a:schemeClr val="tx1"/>
                </a:solidFill>
              </a:rPr>
              <a:t>HO Legal Head</a:t>
            </a:r>
            <a:endParaRPr lang="en-US" sz="1300" dirty="0"/>
          </a:p>
          <a:p>
            <a:pPr indent="0" marL="0">
              <a:buNone/>
            </a:pPr>
            <a:r>
              <a:rPr lang="en-US" sz="1100" dirty="0">
                <a:solidFill>
                  <a:schemeClr val="accent6"/>
                </a:solidFill>
              </a:rPr>
              <a:t>Checker</a:t>
            </a:r>
            <a:endParaRPr lang="en-US" sz="1300" dirty="0"/>
          </a:p>
        </p:txBody>
      </p:sp>
      <p:sp>
        <p:nvSpPr>
          <p:cNvPr id="24" name="role box 5"/>
          <p:cNvSpPr/>
          <p:nvPr/>
        </p:nvSpPr>
        <p:spPr>
          <a:xfrm>
            <a:off x="6903720" y="3392424"/>
            <a:ext cx="2287372" cy="512064"/>
          </a:xfrm>
          <a:prstGeom prst="roundRect">
            <a:avLst>
              <a:gd name="adj" fmla="val 14286"/>
            </a:avLst>
          </a:prstGeom>
          <a:solidFill>
            <a:schemeClr val="bg2"/>
          </a:solidFill>
          <a:ln/>
        </p:spPr>
      </p:sp>
      <p:pic>
        <p:nvPicPr>
          <p:cNvPr id="25" name="role icon 5" descr="settings 2 icon">    </p:cNvPr>
          <p:cNvPicPr>
            <a:picLocks noChangeAspect="1"/>
          </p:cNvPicPr>
          <p:nvPr/>
        </p:nvPicPr>
        <p:blipFill>
          <a:blip r:embed="rId6"/>
          <a:stretch>
            <a:fillRect/>
          </a:stretch>
        </p:blipFill>
        <p:spPr>
          <a:xfrm>
            <a:off x="7031736" y="3529584"/>
            <a:ext cx="237744" cy="237744"/>
          </a:xfrm>
          <a:prstGeom prst="rect">
            <a:avLst/>
          </a:prstGeom>
        </p:spPr>
      </p:pic>
      <p:sp>
        <p:nvSpPr>
          <p:cNvPr id="26" name="role label 5"/>
          <p:cNvSpPr txBox="1"/>
          <p:nvPr/>
        </p:nvSpPr>
        <p:spPr>
          <a:xfrm>
            <a:off x="7360920" y="3392424"/>
            <a:ext cx="1757020" cy="512064"/>
          </a:xfrm>
          <a:prstGeom prst="rect">
            <a:avLst/>
          </a:prstGeom>
          <a:noFill/>
          <a:ln/>
        </p:spPr>
        <p:txBody>
          <a:bodyPr wrap="square" lIns="0" tIns="0" rIns="0" bIns="0" rtlCol="0" anchor="ctr"/>
          <a:lstStyle/>
          <a:p>
            <a:pPr indent="0" marL="0">
              <a:buNone/>
            </a:pPr>
            <a:r>
              <a:rPr lang="en-US" sz="1300" b="1" dirty="0">
                <a:solidFill>
                  <a:schemeClr val="tx1"/>
                </a:solidFill>
              </a:rPr>
              <a:t>Legal Division Admin</a:t>
            </a:r>
            <a:endParaRPr lang="en-US" sz="1300" dirty="0"/>
          </a:p>
          <a:p>
            <a:pPr indent="0" marL="0">
              <a:buNone/>
            </a:pPr>
            <a:r>
              <a:rPr lang="en-US" sz="1100" dirty="0">
                <a:solidFill>
                  <a:schemeClr val="accent6"/>
                </a:solidFill>
              </a:rPr>
              <a:t>Configuration</a:t>
            </a:r>
            <a:endParaRPr lang="en-US" sz="1300" dirty="0"/>
          </a:p>
        </p:txBody>
      </p:sp>
      <p:sp>
        <p:nvSpPr>
          <p:cNvPr id="27" name="role box 6"/>
          <p:cNvSpPr/>
          <p:nvPr/>
        </p:nvSpPr>
        <p:spPr>
          <a:xfrm>
            <a:off x="9355684" y="3392424"/>
            <a:ext cx="2287372" cy="512064"/>
          </a:xfrm>
          <a:prstGeom prst="roundRect">
            <a:avLst>
              <a:gd name="adj" fmla="val 14286"/>
            </a:avLst>
          </a:prstGeom>
          <a:solidFill>
            <a:schemeClr val="bg2"/>
          </a:solidFill>
          <a:ln/>
        </p:spPr>
      </p:sp>
      <p:pic>
        <p:nvPicPr>
          <p:cNvPr id="28" name="role icon 6" descr="key round icon">    </p:cNvPr>
          <p:cNvPicPr>
            <a:picLocks noChangeAspect="1"/>
          </p:cNvPicPr>
          <p:nvPr/>
        </p:nvPicPr>
        <p:blipFill>
          <a:blip r:embed="rId7"/>
          <a:stretch>
            <a:fillRect/>
          </a:stretch>
        </p:blipFill>
        <p:spPr>
          <a:xfrm>
            <a:off x="9483700" y="3529584"/>
            <a:ext cx="237744" cy="237744"/>
          </a:xfrm>
          <a:prstGeom prst="rect">
            <a:avLst/>
          </a:prstGeom>
        </p:spPr>
      </p:pic>
      <p:sp>
        <p:nvSpPr>
          <p:cNvPr id="29" name="role label 6"/>
          <p:cNvSpPr txBox="1"/>
          <p:nvPr/>
        </p:nvSpPr>
        <p:spPr>
          <a:xfrm>
            <a:off x="9812884" y="3392424"/>
            <a:ext cx="1757020" cy="512064"/>
          </a:xfrm>
          <a:prstGeom prst="rect">
            <a:avLst/>
          </a:prstGeom>
          <a:noFill/>
          <a:ln/>
        </p:spPr>
        <p:txBody>
          <a:bodyPr wrap="square" lIns="0" tIns="0" rIns="0" bIns="0" rtlCol="0" anchor="ctr"/>
          <a:lstStyle/>
          <a:p>
            <a:pPr indent="0" marL="0">
              <a:buNone/>
            </a:pPr>
            <a:r>
              <a:rPr lang="en-US" sz="1300" b="1" dirty="0">
                <a:solidFill>
                  <a:schemeClr val="tx1"/>
                </a:solidFill>
              </a:rPr>
              <a:t>System Administrator</a:t>
            </a:r>
            <a:endParaRPr lang="en-US" sz="1300" dirty="0"/>
          </a:p>
          <a:p>
            <a:pPr indent="0" marL="0">
              <a:buNone/>
            </a:pPr>
            <a:r>
              <a:rPr lang="en-US" sz="1100" dirty="0">
                <a:solidFill>
                  <a:schemeClr val="accent6"/>
                </a:solidFill>
              </a:rPr>
              <a:t>Security &amp; settings</a:t>
            </a:r>
            <a:endParaRPr lang="en-US" sz="1300" dirty="0"/>
          </a:p>
        </p:txBody>
      </p:sp>
      <p:sp>
        <p:nvSpPr>
          <p:cNvPr id="30" name="controls heading"/>
          <p:cNvSpPr txBox="1"/>
          <p:nvPr/>
        </p:nvSpPr>
        <p:spPr>
          <a:xfrm>
            <a:off x="6903720" y="4206240"/>
            <a:ext cx="4739335" cy="310896"/>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Access controls</a:t>
            </a:r>
            <a:endParaRPr lang="en-US" sz="1600" dirty="0"/>
          </a:p>
        </p:txBody>
      </p:sp>
      <p:pic>
        <p:nvPicPr>
          <p:cNvPr id="31" name="control icon 1" descr="circle check icon">    </p:cNvPr>
          <p:cNvPicPr>
            <a:picLocks noChangeAspect="1"/>
          </p:cNvPicPr>
          <p:nvPr/>
        </p:nvPicPr>
        <p:blipFill>
          <a:blip r:embed="rId8"/>
          <a:stretch>
            <a:fillRect/>
          </a:stretch>
        </p:blipFill>
        <p:spPr>
          <a:xfrm>
            <a:off x="6922008" y="4654296"/>
            <a:ext cx="219456" cy="219456"/>
          </a:xfrm>
          <a:prstGeom prst="rect">
            <a:avLst/>
          </a:prstGeom>
        </p:spPr>
      </p:pic>
      <p:sp>
        <p:nvSpPr>
          <p:cNvPr id="32" name="control 1"/>
          <p:cNvSpPr txBox="1"/>
          <p:nvPr/>
        </p:nvSpPr>
        <p:spPr>
          <a:xfrm>
            <a:off x="7269480" y="4617720"/>
            <a:ext cx="4373575" cy="329184"/>
          </a:xfrm>
          <a:prstGeom prst="rect">
            <a:avLst/>
          </a:prstGeom>
          <a:noFill/>
          <a:ln/>
        </p:spPr>
        <p:txBody>
          <a:bodyPr wrap="square" lIns="0" tIns="0" rIns="0" bIns="0" rtlCol="0" anchor="t"/>
          <a:lstStyle/>
          <a:p>
            <a:pPr indent="0" marL="0">
              <a:buNone/>
            </a:pPr>
            <a:r>
              <a:rPr lang="en-US" sz="1400" dirty="0">
                <a:solidFill>
                  <a:schemeClr val="tx1"/>
                </a:solidFill>
              </a:rPr>
              <a:t>Group-wise menu and action permissions</a:t>
            </a:r>
            <a:endParaRPr lang="en-US" sz="1400" dirty="0"/>
          </a:p>
        </p:txBody>
      </p:sp>
      <p:pic>
        <p:nvPicPr>
          <p:cNvPr id="33" name="control icon 2" descr="circle check icon">    </p:cNvPr>
          <p:cNvPicPr>
            <a:picLocks noChangeAspect="1"/>
          </p:cNvPicPr>
          <p:nvPr/>
        </p:nvPicPr>
        <p:blipFill>
          <a:blip r:embed="rId9"/>
          <a:stretch>
            <a:fillRect/>
          </a:stretch>
        </p:blipFill>
        <p:spPr>
          <a:xfrm>
            <a:off x="6922008" y="5038344"/>
            <a:ext cx="219456" cy="219456"/>
          </a:xfrm>
          <a:prstGeom prst="rect">
            <a:avLst/>
          </a:prstGeom>
        </p:spPr>
      </p:pic>
      <p:sp>
        <p:nvSpPr>
          <p:cNvPr id="34" name="control 2"/>
          <p:cNvSpPr txBox="1"/>
          <p:nvPr/>
        </p:nvSpPr>
        <p:spPr>
          <a:xfrm>
            <a:off x="7269480" y="5001768"/>
            <a:ext cx="4373575" cy="329184"/>
          </a:xfrm>
          <a:prstGeom prst="rect">
            <a:avLst/>
          </a:prstGeom>
          <a:noFill/>
          <a:ln/>
        </p:spPr>
        <p:txBody>
          <a:bodyPr wrap="square" lIns="0" tIns="0" rIns="0" bIns="0" rtlCol="0" anchor="t"/>
          <a:lstStyle/>
          <a:p>
            <a:pPr indent="0" marL="0">
              <a:buNone/>
            </a:pPr>
            <a:r>
              <a:rPr lang="en-US" sz="1400" dirty="0">
                <a:solidFill>
                  <a:schemeClr val="tx1"/>
                </a:solidFill>
              </a:rPr>
              <a:t>Password policy, CAPTCHA and 5-attempt lockout</a:t>
            </a:r>
            <a:endParaRPr lang="en-US" sz="1400" dirty="0"/>
          </a:p>
        </p:txBody>
      </p:sp>
      <p:pic>
        <p:nvPicPr>
          <p:cNvPr id="35" name="control icon 3" descr="circle check icon">    </p:cNvPr>
          <p:cNvPicPr>
            <a:picLocks noChangeAspect="1"/>
          </p:cNvPicPr>
          <p:nvPr/>
        </p:nvPicPr>
        <p:blipFill>
          <a:blip r:embed="rId10"/>
          <a:stretch>
            <a:fillRect/>
          </a:stretch>
        </p:blipFill>
        <p:spPr>
          <a:xfrm>
            <a:off x="6922008" y="5422392"/>
            <a:ext cx="219456" cy="219456"/>
          </a:xfrm>
          <a:prstGeom prst="rect">
            <a:avLst/>
          </a:prstGeom>
        </p:spPr>
      </p:pic>
      <p:sp>
        <p:nvSpPr>
          <p:cNvPr id="36" name="control 3"/>
          <p:cNvSpPr txBox="1"/>
          <p:nvPr/>
        </p:nvSpPr>
        <p:spPr>
          <a:xfrm>
            <a:off x="7269480" y="5385816"/>
            <a:ext cx="4373575" cy="329184"/>
          </a:xfrm>
          <a:prstGeom prst="rect">
            <a:avLst/>
          </a:prstGeom>
          <a:noFill/>
          <a:ln/>
        </p:spPr>
        <p:txBody>
          <a:bodyPr wrap="square" lIns="0" tIns="0" rIns="0" bIns="0" rtlCol="0" anchor="t"/>
          <a:lstStyle/>
          <a:p>
            <a:pPr indent="0" marL="0">
              <a:buNone/>
            </a:pPr>
            <a:r>
              <a:rPr lang="en-US" sz="1400" dirty="0">
                <a:solidFill>
                  <a:schemeClr val="tx1"/>
                </a:solidFill>
              </a:rPr>
              <a:t>Session timeout and single-workstation login</a:t>
            </a:r>
            <a:endParaRPr lang="en-US" sz="1400" dirty="0"/>
          </a:p>
        </p:txBody>
      </p:sp>
      <p:pic>
        <p:nvPicPr>
          <p:cNvPr id="37" name="control icon 4" descr="circle check icon">    </p:cNvPr>
          <p:cNvPicPr>
            <a:picLocks noChangeAspect="1"/>
          </p:cNvPicPr>
          <p:nvPr/>
        </p:nvPicPr>
        <p:blipFill>
          <a:blip r:embed="rId11"/>
          <a:stretch>
            <a:fillRect/>
          </a:stretch>
        </p:blipFill>
        <p:spPr>
          <a:xfrm>
            <a:off x="6922008" y="5806440"/>
            <a:ext cx="219456" cy="219456"/>
          </a:xfrm>
          <a:prstGeom prst="rect">
            <a:avLst/>
          </a:prstGeom>
        </p:spPr>
      </p:pic>
      <p:sp>
        <p:nvSpPr>
          <p:cNvPr id="38" name="control 4"/>
          <p:cNvSpPr txBox="1"/>
          <p:nvPr/>
        </p:nvSpPr>
        <p:spPr>
          <a:xfrm>
            <a:off x="7269480" y="5769864"/>
            <a:ext cx="4373575" cy="329184"/>
          </a:xfrm>
          <a:prstGeom prst="rect">
            <a:avLst/>
          </a:prstGeom>
          <a:noFill/>
          <a:ln/>
        </p:spPr>
        <p:txBody>
          <a:bodyPr wrap="square" lIns="0" tIns="0" rIns="0" bIns="0" rtlCol="0" anchor="t"/>
          <a:lstStyle/>
          <a:p>
            <a:pPr indent="0" marL="0">
              <a:buNone/>
            </a:pPr>
            <a:r>
              <a:rPr lang="en-US" sz="1400" dirty="0">
                <a:solidFill>
                  <a:schemeClr val="tx1"/>
                </a:solidFill>
              </a:rPr>
              <a:t>Active Directory / SSO and MFA on mobile</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76656"/>
          </a:xfrm>
          <a:prstGeom prst="rect">
            <a:avLst/>
          </a:prstGeom>
          <a:noFill/>
          <a:ln/>
        </p:spPr>
        <p:txBody>
          <a:bodyPr wrap="square" lIns="0" tIns="0" rIns="0" bIns="0" rtlCol="0" anchor="ctr"/>
          <a:lstStyle/>
          <a:p>
            <a:pPr algn="l" indent="0" marL="0">
              <a:buNone/>
            </a:pPr>
            <a:r>
              <a:rPr lang="en-US" sz="3600" b="1" dirty="0">
                <a:solidFill>
                  <a:schemeClr val="tx2"/>
                </a:solidFill>
              </a:rPr>
              <a:t>Real-Time Legal Dashboard</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algn="l" indent="0" marL="0">
              <a:buNone/>
            </a:pPr>
            <a:r>
              <a:rPr lang="en-US" sz="1600" dirty="0">
                <a:solidFill>
                  <a:schemeClr val="accent6"/>
                </a:solidFill>
              </a:rPr>
              <a:t>Branch-to-Head-Office visibility of workload, approvals, hearings and recovery (RFP §8.7)</a:t>
            </a:r>
            <a:endParaRPr lang="en-US" sz="1600" dirty="0"/>
          </a:p>
        </p:txBody>
      </p:sp>
      <p:sp>
        <p:nvSpPr>
          <p:cNvPr id="4" name="dashboard frame"/>
          <p:cNvSpPr/>
          <p:nvPr/>
        </p:nvSpPr>
        <p:spPr>
          <a:xfrm>
            <a:off x="4993538" y="1691640"/>
            <a:ext cx="6649517" cy="4453128"/>
          </a:xfrm>
          <a:prstGeom prst="roundRect">
            <a:avLst>
              <a:gd name="adj" fmla="val 2053"/>
            </a:avLst>
          </a:prstGeom>
          <a:solidFill>
            <a:schemeClr val="bg2"/>
          </a:solidFill>
          <a:ln w="9525">
            <a:solidFill>
              <a:schemeClr val="accent6">
                <a:alpha val="30000"/>
              </a:schemeClr>
            </a:solidFill>
            <a:prstDash val="solid"/>
          </a:ln>
          <a:effectLst>
            <a:outerShdw sx="100000" sy="100000" kx="0" ky="0" algn="bl" rotWithShape="0" blurRad="203200" dist="50800" dir="5400000">
              <a:srgbClr val="0B1F3A">
                <a:alpha val="18000"/>
              </a:srgbClr>
            </a:outerShdw>
          </a:effectLst>
        </p:spPr>
      </p:sp>
      <p:sp>
        <p:nvSpPr>
          <p:cNvPr id="5" name="dashboard dot 1"/>
          <p:cNvSpPr/>
          <p:nvPr/>
        </p:nvSpPr>
        <p:spPr>
          <a:xfrm>
            <a:off x="5148986" y="1805940"/>
            <a:ext cx="82296" cy="82296"/>
          </a:xfrm>
          <a:prstGeom prst="ellipse">
            <a:avLst/>
          </a:prstGeom>
          <a:solidFill>
            <a:schemeClr val="accent6">
              <a:alpha val="55000"/>
            </a:schemeClr>
          </a:solidFill>
          <a:ln/>
        </p:spPr>
      </p:sp>
      <p:sp>
        <p:nvSpPr>
          <p:cNvPr id="6" name="dashboard dot 2"/>
          <p:cNvSpPr/>
          <p:nvPr/>
        </p:nvSpPr>
        <p:spPr>
          <a:xfrm>
            <a:off x="5286146" y="1805940"/>
            <a:ext cx="82296" cy="82296"/>
          </a:xfrm>
          <a:prstGeom prst="ellipse">
            <a:avLst/>
          </a:prstGeom>
          <a:solidFill>
            <a:schemeClr val="accent6">
              <a:alpha val="55000"/>
            </a:schemeClr>
          </a:solidFill>
          <a:ln/>
        </p:spPr>
      </p:sp>
      <p:sp>
        <p:nvSpPr>
          <p:cNvPr id="7" name="dashboard dot 3"/>
          <p:cNvSpPr/>
          <p:nvPr/>
        </p:nvSpPr>
        <p:spPr>
          <a:xfrm>
            <a:off x="5423306" y="1805940"/>
            <a:ext cx="82296" cy="82296"/>
          </a:xfrm>
          <a:prstGeom prst="ellipse">
            <a:avLst/>
          </a:prstGeom>
          <a:solidFill>
            <a:schemeClr val="accent6">
              <a:alpha val="55000"/>
            </a:schemeClr>
          </a:solidFill>
          <a:ln/>
        </p:spPr>
      </p:sp>
      <p:sp>
        <p:nvSpPr>
          <p:cNvPr id="8" name="dashboard url"/>
          <p:cNvSpPr txBox="1"/>
          <p:nvPr/>
        </p:nvSpPr>
        <p:spPr>
          <a:xfrm>
            <a:off x="6788908" y="1746504"/>
            <a:ext cx="3058778" cy="201168"/>
          </a:xfrm>
          <a:prstGeom prst="roundRect">
            <a:avLst>
              <a:gd name="adj" fmla="val 50000"/>
            </a:avLst>
          </a:prstGeom>
          <a:solidFill>
            <a:schemeClr val="bg1"/>
          </a:solidFill>
          <a:ln/>
        </p:spPr>
        <p:txBody>
          <a:bodyPr wrap="square" lIns="0" tIns="0" rIns="0" bIns="0" rtlCol="0" anchor="ctr"/>
          <a:lstStyle/>
          <a:p>
            <a:pPr algn="ctr" indent="0" marL="0">
              <a:buNone/>
            </a:pPr>
            <a:r>
              <a:rPr lang="en-US" sz="1000" dirty="0">
                <a:solidFill>
                  <a:schemeClr val="accent6"/>
                </a:solidFill>
              </a:rPr>
              <a:t>lms.skoder.co/dashboard</a:t>
            </a:r>
            <a:endParaRPr lang="en-US" sz="1000" dirty="0"/>
          </a:p>
        </p:txBody>
      </p:sp>
      <p:pic>
        <p:nvPicPr>
          <p:cNvPr id="9" name="dashboard screenshot" descr="Live LMS dashboard with KPI tiles, status, branch and trend charts">    </p:cNvPr>
          <p:cNvPicPr>
            <a:picLocks noChangeAspect="1"/>
          </p:cNvPicPr>
          <p:nvPr/>
        </p:nvPicPr>
        <p:blipFill>
          <a:blip r:embed="rId1"/>
          <a:stretch>
            <a:fillRect/>
          </a:stretch>
        </p:blipFill>
        <p:spPr>
          <a:xfrm>
            <a:off x="5048402" y="2002536"/>
            <a:ext cx="6539789" cy="4087368"/>
          </a:xfrm>
          <a:prstGeom prst="rect">
            <a:avLst/>
          </a:prstGeom>
        </p:spPr>
      </p:pic>
      <p:sp>
        <p:nvSpPr>
          <p:cNvPr id="10" name="callout 1"/>
          <p:cNvSpPr txBox="1"/>
          <p:nvPr/>
        </p:nvSpPr>
        <p:spPr>
          <a:xfrm>
            <a:off x="6255410" y="2682728"/>
            <a:ext cx="310896" cy="310896"/>
          </a:xfrm>
          <a:prstGeom prst="ellipse">
            <a:avLst/>
          </a:prstGeom>
          <a:solidFill>
            <a:schemeClr val="accent2"/>
          </a:solidFill>
          <a:ln w="19050">
            <a:solidFill>
              <a:schemeClr val="bg1"/>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1" name="callout 2"/>
          <p:cNvSpPr txBox="1"/>
          <p:nvPr/>
        </p:nvSpPr>
        <p:spPr>
          <a:xfrm>
            <a:off x="6255410" y="3345790"/>
            <a:ext cx="310896" cy="310896"/>
          </a:xfrm>
          <a:prstGeom prst="ellipse">
            <a:avLst/>
          </a:prstGeom>
          <a:solidFill>
            <a:schemeClr val="accent2"/>
          </a:solidFill>
          <a:ln w="19050">
            <a:solidFill>
              <a:schemeClr val="bg1"/>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callout 3"/>
          <p:cNvSpPr txBox="1"/>
          <p:nvPr/>
        </p:nvSpPr>
        <p:spPr>
          <a:xfrm>
            <a:off x="7949397" y="3345790"/>
            <a:ext cx="310896" cy="310896"/>
          </a:xfrm>
          <a:prstGeom prst="ellipse">
            <a:avLst/>
          </a:prstGeom>
          <a:solidFill>
            <a:schemeClr val="accent2"/>
          </a:solidFill>
          <a:ln w="19050">
            <a:solidFill>
              <a:schemeClr val="bg1"/>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callout 4"/>
          <p:cNvSpPr txBox="1"/>
          <p:nvPr/>
        </p:nvSpPr>
        <p:spPr>
          <a:xfrm>
            <a:off x="9647926" y="3345790"/>
            <a:ext cx="310896" cy="310896"/>
          </a:xfrm>
          <a:prstGeom prst="ellipse">
            <a:avLst/>
          </a:prstGeom>
          <a:solidFill>
            <a:schemeClr val="accent2"/>
          </a:solidFill>
          <a:ln w="19050">
            <a:solidFill>
              <a:schemeClr val="bg1"/>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4" name="callout 5"/>
          <p:cNvSpPr txBox="1"/>
          <p:nvPr/>
        </p:nvSpPr>
        <p:spPr>
          <a:xfrm>
            <a:off x="6255410" y="5012527"/>
            <a:ext cx="310896" cy="310896"/>
          </a:xfrm>
          <a:prstGeom prst="ellipse">
            <a:avLst/>
          </a:prstGeom>
          <a:solidFill>
            <a:schemeClr val="accent2"/>
          </a:solidFill>
          <a:ln w="19050">
            <a:solidFill>
              <a:schemeClr val="bg1"/>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5" name="legend marker 1"/>
          <p:cNvSpPr txBox="1"/>
          <p:nvPr/>
        </p:nvSpPr>
        <p:spPr>
          <a:xfrm>
            <a:off x="548640" y="1792224"/>
            <a:ext cx="310896" cy="310896"/>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6" name="legend title 1"/>
          <p:cNvSpPr txBox="1"/>
          <p:nvPr/>
        </p:nvSpPr>
        <p:spPr>
          <a:xfrm>
            <a:off x="1005840" y="1783080"/>
            <a:ext cx="3667658" cy="274320"/>
          </a:xfrm>
          <a:prstGeom prst="rect">
            <a:avLst/>
          </a:prstGeom>
          <a:noFill/>
          <a:ln/>
        </p:spPr>
        <p:txBody>
          <a:bodyPr wrap="square" lIns="0" tIns="0" rIns="0" bIns="0" rtlCol="0" anchor="t"/>
          <a:lstStyle/>
          <a:p>
            <a:pPr indent="0" marL="0">
              <a:buNone/>
            </a:pPr>
            <a:r>
              <a:rPr lang="en-US" sz="1500" b="1" dirty="0">
                <a:solidFill>
                  <a:schemeClr val="tx1"/>
                </a:solidFill>
              </a:rPr>
              <a:t>KPI tiles</a:t>
            </a:r>
            <a:endParaRPr lang="en-US" sz="1500" dirty="0"/>
          </a:p>
        </p:txBody>
      </p:sp>
      <p:sp>
        <p:nvSpPr>
          <p:cNvPr id="17" name="legend detail 1"/>
          <p:cNvSpPr txBox="1"/>
          <p:nvPr/>
        </p:nvSpPr>
        <p:spPr>
          <a:xfrm>
            <a:off x="1005840" y="2075688"/>
            <a:ext cx="3667658" cy="475488"/>
          </a:xfrm>
          <a:prstGeom prst="rect">
            <a:avLst/>
          </a:prstGeom>
          <a:noFill/>
          <a:ln/>
        </p:spPr>
        <p:txBody>
          <a:bodyPr wrap="square" lIns="0" tIns="0" rIns="0" bIns="0" rtlCol="0" anchor="t"/>
          <a:lstStyle/>
          <a:p>
            <a:pPr indent="0" marL="0">
              <a:buNone/>
            </a:pPr>
            <a:r>
              <a:rPr lang="en-US" sz="1300" dirty="0">
                <a:solidFill>
                  <a:schemeClr val="accent6"/>
                </a:solidFill>
              </a:rPr>
              <a:t>Active cases, pending approvals, notices sent, upcoming hearings and approved legal expense</a:t>
            </a:r>
            <a:endParaRPr lang="en-US" sz="1300" dirty="0"/>
          </a:p>
        </p:txBody>
      </p:sp>
      <p:sp>
        <p:nvSpPr>
          <p:cNvPr id="18" name="legend marker 2"/>
          <p:cNvSpPr txBox="1"/>
          <p:nvPr/>
        </p:nvSpPr>
        <p:spPr>
          <a:xfrm>
            <a:off x="548640" y="2642616"/>
            <a:ext cx="310896" cy="310896"/>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9" name="legend title 2"/>
          <p:cNvSpPr txBox="1"/>
          <p:nvPr/>
        </p:nvSpPr>
        <p:spPr>
          <a:xfrm>
            <a:off x="1005840" y="2633472"/>
            <a:ext cx="3667658" cy="274320"/>
          </a:xfrm>
          <a:prstGeom prst="rect">
            <a:avLst/>
          </a:prstGeom>
          <a:noFill/>
          <a:ln/>
        </p:spPr>
        <p:txBody>
          <a:bodyPr wrap="square" lIns="0" tIns="0" rIns="0" bIns="0" rtlCol="0" anchor="t"/>
          <a:lstStyle/>
          <a:p>
            <a:pPr indent="0" marL="0">
              <a:buNone/>
            </a:pPr>
            <a:r>
              <a:rPr lang="en-US" sz="1500" b="1" dirty="0">
                <a:solidFill>
                  <a:schemeClr val="tx1"/>
                </a:solidFill>
              </a:rPr>
              <a:t>Portfolio by status</a:t>
            </a:r>
            <a:endParaRPr lang="en-US" sz="1500" dirty="0"/>
          </a:p>
        </p:txBody>
      </p:sp>
      <p:sp>
        <p:nvSpPr>
          <p:cNvPr id="20" name="legend detail 2"/>
          <p:cNvSpPr txBox="1"/>
          <p:nvPr/>
        </p:nvSpPr>
        <p:spPr>
          <a:xfrm>
            <a:off x="1005840" y="2926080"/>
            <a:ext cx="3667658" cy="475488"/>
          </a:xfrm>
          <a:prstGeom prst="rect">
            <a:avLst/>
          </a:prstGeom>
          <a:noFill/>
          <a:ln/>
        </p:spPr>
        <p:txBody>
          <a:bodyPr wrap="square" lIns="0" tIns="0" rIns="0" bIns="0" rtlCol="0" anchor="t"/>
          <a:lstStyle/>
          <a:p>
            <a:pPr indent="0" marL="0">
              <a:buNone/>
            </a:pPr>
            <a:r>
              <a:rPr lang="en-US" sz="1300" dirty="0">
                <a:solidFill>
                  <a:schemeClr val="accent6"/>
                </a:solidFill>
              </a:rPr>
              <a:t>Draft, pending, approved, returned and rejected at a glance</a:t>
            </a:r>
            <a:endParaRPr lang="en-US" sz="1300" dirty="0"/>
          </a:p>
        </p:txBody>
      </p:sp>
      <p:sp>
        <p:nvSpPr>
          <p:cNvPr id="21" name="legend marker 3"/>
          <p:cNvSpPr txBox="1"/>
          <p:nvPr/>
        </p:nvSpPr>
        <p:spPr>
          <a:xfrm>
            <a:off x="548640" y="3493008"/>
            <a:ext cx="310896" cy="310896"/>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legend title 3"/>
          <p:cNvSpPr txBox="1"/>
          <p:nvPr/>
        </p:nvSpPr>
        <p:spPr>
          <a:xfrm>
            <a:off x="1005840" y="3483864"/>
            <a:ext cx="3667658" cy="274320"/>
          </a:xfrm>
          <a:prstGeom prst="rect">
            <a:avLst/>
          </a:prstGeom>
          <a:noFill/>
          <a:ln/>
        </p:spPr>
        <p:txBody>
          <a:bodyPr wrap="square" lIns="0" tIns="0" rIns="0" bIns="0" rtlCol="0" anchor="t"/>
          <a:lstStyle/>
          <a:p>
            <a:pPr indent="0" marL="0">
              <a:buNone/>
            </a:pPr>
            <a:r>
              <a:rPr lang="en-US" sz="1500" b="1" dirty="0">
                <a:solidFill>
                  <a:schemeClr val="tx1"/>
                </a:solidFill>
              </a:rPr>
              <a:t>Branch-wise volume</a:t>
            </a:r>
            <a:endParaRPr lang="en-US" sz="1500" dirty="0"/>
          </a:p>
        </p:txBody>
      </p:sp>
      <p:sp>
        <p:nvSpPr>
          <p:cNvPr id="23" name="legend detail 3"/>
          <p:cNvSpPr txBox="1"/>
          <p:nvPr/>
        </p:nvSpPr>
        <p:spPr>
          <a:xfrm>
            <a:off x="1005840" y="3776472"/>
            <a:ext cx="3667658" cy="475488"/>
          </a:xfrm>
          <a:prstGeom prst="rect">
            <a:avLst/>
          </a:prstGeom>
          <a:noFill/>
          <a:ln/>
        </p:spPr>
        <p:txBody>
          <a:bodyPr wrap="square" lIns="0" tIns="0" rIns="0" bIns="0" rtlCol="0" anchor="t"/>
          <a:lstStyle/>
          <a:p>
            <a:pPr indent="0" marL="0">
              <a:buNone/>
            </a:pPr>
            <a:r>
              <a:rPr lang="en-US" sz="1300" dirty="0">
                <a:solidFill>
                  <a:schemeClr val="accent6"/>
                </a:solidFill>
              </a:rPr>
              <a:t>See where litigation is concentrated across branches</a:t>
            </a:r>
            <a:endParaRPr lang="en-US" sz="1300" dirty="0"/>
          </a:p>
        </p:txBody>
      </p:sp>
      <p:sp>
        <p:nvSpPr>
          <p:cNvPr id="24" name="legend marker 4"/>
          <p:cNvSpPr txBox="1"/>
          <p:nvPr/>
        </p:nvSpPr>
        <p:spPr>
          <a:xfrm>
            <a:off x="548640" y="4343400"/>
            <a:ext cx="310896" cy="310896"/>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5" name="legend title 4"/>
          <p:cNvSpPr txBox="1"/>
          <p:nvPr/>
        </p:nvSpPr>
        <p:spPr>
          <a:xfrm>
            <a:off x="1005840" y="4334256"/>
            <a:ext cx="3667658" cy="274320"/>
          </a:xfrm>
          <a:prstGeom prst="rect">
            <a:avLst/>
          </a:prstGeom>
          <a:noFill/>
          <a:ln/>
        </p:spPr>
        <p:txBody>
          <a:bodyPr wrap="square" lIns="0" tIns="0" rIns="0" bIns="0" rtlCol="0" anchor="t"/>
          <a:lstStyle/>
          <a:p>
            <a:pPr indent="0" marL="0">
              <a:buNone/>
            </a:pPr>
            <a:r>
              <a:rPr lang="en-US" sz="1500" b="1" dirty="0">
                <a:solidFill>
                  <a:schemeClr val="tx1"/>
                </a:solidFill>
              </a:rPr>
              <a:t>Recovery vs. legal cost</a:t>
            </a:r>
            <a:endParaRPr lang="en-US" sz="1500" dirty="0"/>
          </a:p>
        </p:txBody>
      </p:sp>
      <p:sp>
        <p:nvSpPr>
          <p:cNvPr id="26" name="legend detail 4"/>
          <p:cNvSpPr txBox="1"/>
          <p:nvPr/>
        </p:nvSpPr>
        <p:spPr>
          <a:xfrm>
            <a:off x="1005840" y="4626864"/>
            <a:ext cx="3667658" cy="475488"/>
          </a:xfrm>
          <a:prstGeom prst="rect">
            <a:avLst/>
          </a:prstGeom>
          <a:noFill/>
          <a:ln/>
        </p:spPr>
        <p:txBody>
          <a:bodyPr wrap="square" lIns="0" tIns="0" rIns="0" bIns="0" rtlCol="0" anchor="t"/>
          <a:lstStyle/>
          <a:p>
            <a:pPr indent="0" marL="0">
              <a:buNone/>
            </a:pPr>
            <a:r>
              <a:rPr lang="en-US" sz="1300" dirty="0">
                <a:solidFill>
                  <a:schemeClr val="accent6"/>
                </a:solidFill>
              </a:rPr>
              <a:t>Six-month trend for management review</a:t>
            </a:r>
            <a:endParaRPr lang="en-US" sz="1300" dirty="0"/>
          </a:p>
        </p:txBody>
      </p:sp>
      <p:sp>
        <p:nvSpPr>
          <p:cNvPr id="27" name="legend marker 5"/>
          <p:cNvSpPr txBox="1"/>
          <p:nvPr/>
        </p:nvSpPr>
        <p:spPr>
          <a:xfrm>
            <a:off x="548640" y="5193792"/>
            <a:ext cx="310896" cy="310896"/>
          </a:xfrm>
          <a:prstGeom prst="ellipse">
            <a:avLst/>
          </a:prstGeom>
          <a:solidFill>
            <a:schemeClr val="accent2"/>
          </a:solid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8" name="legend title 5"/>
          <p:cNvSpPr txBox="1"/>
          <p:nvPr/>
        </p:nvSpPr>
        <p:spPr>
          <a:xfrm>
            <a:off x="1005840" y="5184648"/>
            <a:ext cx="3667658" cy="274320"/>
          </a:xfrm>
          <a:prstGeom prst="rect">
            <a:avLst/>
          </a:prstGeom>
          <a:noFill/>
          <a:ln/>
        </p:spPr>
        <p:txBody>
          <a:bodyPr wrap="square" lIns="0" tIns="0" rIns="0" bIns="0" rtlCol="0" anchor="t"/>
          <a:lstStyle/>
          <a:p>
            <a:pPr indent="0" marL="0">
              <a:buNone/>
            </a:pPr>
            <a:r>
              <a:rPr lang="en-US" sz="1500" b="1" dirty="0">
                <a:solidFill>
                  <a:schemeClr val="tx1"/>
                </a:solidFill>
              </a:rPr>
              <a:t>Today's activity</a:t>
            </a:r>
            <a:endParaRPr lang="en-US" sz="1500" dirty="0"/>
          </a:p>
        </p:txBody>
      </p:sp>
      <p:sp>
        <p:nvSpPr>
          <p:cNvPr id="29" name="legend detail 5"/>
          <p:cNvSpPr txBox="1"/>
          <p:nvPr/>
        </p:nvSpPr>
        <p:spPr>
          <a:xfrm>
            <a:off x="1005840" y="5477256"/>
            <a:ext cx="3667658" cy="475488"/>
          </a:xfrm>
          <a:prstGeom prst="rect">
            <a:avLst/>
          </a:prstGeom>
          <a:noFill/>
          <a:ln/>
        </p:spPr>
        <p:txBody>
          <a:bodyPr wrap="square" lIns="0" tIns="0" rIns="0" bIns="0" rtlCol="0" anchor="t"/>
          <a:lstStyle/>
          <a:p>
            <a:pPr indent="0" marL="0">
              <a:buNone/>
            </a:pPr>
            <a:r>
              <a:rPr lang="en-US" sz="1300" dirty="0">
                <a:solidFill>
                  <a:schemeClr val="accent6"/>
                </a:solidFill>
              </a:rPr>
              <a:t>Live feed of actions across every module</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76656"/>
          </a:xfrm>
          <a:prstGeom prst="rect">
            <a:avLst/>
          </a:prstGeom>
          <a:noFill/>
          <a:ln/>
        </p:spPr>
        <p:txBody>
          <a:bodyPr wrap="square" lIns="0" tIns="0" rIns="0" bIns="0" rtlCol="0" anchor="ctr"/>
          <a:lstStyle/>
          <a:p>
            <a:pPr algn="l" indent="0" marL="0">
              <a:buNone/>
            </a:pPr>
            <a:r>
              <a:rPr lang="en-US" sz="3600" b="1" dirty="0">
                <a:solidFill>
                  <a:schemeClr val="tx2"/>
                </a:solidFill>
              </a:rPr>
              <a:t>Maker–Checker Workflow</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algn="l" indent="0" marL="0">
              <a:buNone/>
            </a:pPr>
            <a:r>
              <a:rPr lang="en-US" sz="1600" dirty="0">
                <a:solidFill>
                  <a:schemeClr val="accent6"/>
                </a:solidFill>
              </a:rPr>
              <a:t>Every request is made at branch level, verified at Head Office and recorded in a complete audit trail</a:t>
            </a:r>
            <a:endParaRPr lang="en-US" sz="1600" dirty="0"/>
          </a:p>
        </p:txBody>
      </p:sp>
      <p:sp>
        <p:nvSpPr>
          <p:cNvPr id="4" name="status Draft Saved"/>
          <p:cNvSpPr txBox="1"/>
          <p:nvPr/>
        </p:nvSpPr>
        <p:spPr>
          <a:xfrm>
            <a:off x="548640" y="1737360"/>
            <a:ext cx="1737360" cy="457200"/>
          </a:xfrm>
          <a:prstGeom prst="roundRect">
            <a:avLst>
              <a:gd name="adj" fmla="val 50000"/>
            </a:avLst>
          </a:prstGeom>
          <a:solidFill>
            <a:schemeClr val="accent6"/>
          </a:solidFill>
          <a:ln/>
        </p:spPr>
        <p:txBody>
          <a:bodyPr wrap="square" lIns="0" tIns="0" rIns="0" bIns="0" rtlCol="0" anchor="ctr"/>
          <a:lstStyle/>
          <a:p>
            <a:pPr algn="ctr" indent="0" marL="0">
              <a:buNone/>
            </a:pPr>
            <a:r>
              <a:rPr lang="en-US" sz="1400" b="1" dirty="0">
                <a:solidFill>
                  <a:schemeClr val="bg1"/>
                </a:solidFill>
              </a:rPr>
              <a:t>Draft Saved</a:t>
            </a:r>
            <a:endParaRPr lang="en-US" sz="1400" dirty="0"/>
          </a:p>
        </p:txBody>
      </p:sp>
      <p:sp>
        <p:nvSpPr>
          <p:cNvPr id="5" name="status note Draft Saved"/>
          <p:cNvSpPr txBox="1"/>
          <p:nvPr/>
        </p:nvSpPr>
        <p:spPr>
          <a:xfrm>
            <a:off x="548640" y="2258568"/>
            <a:ext cx="1737360" cy="256032"/>
          </a:xfrm>
          <a:prstGeom prst="rect">
            <a:avLst/>
          </a:prstGeom>
          <a:noFill/>
          <a:ln/>
        </p:spPr>
        <p:txBody>
          <a:bodyPr wrap="square" lIns="0" tIns="0" rIns="0" bIns="0" rtlCol="0" anchor="t"/>
          <a:lstStyle/>
          <a:p>
            <a:pPr algn="ctr" indent="0" marL="0">
              <a:buNone/>
            </a:pPr>
            <a:r>
              <a:rPr lang="en-US" sz="1100" dirty="0">
                <a:solidFill>
                  <a:schemeClr val="accent6"/>
                </a:solidFill>
              </a:rPr>
              <a:t>Created at branch</a:t>
            </a:r>
            <a:endParaRPr lang="en-US" sz="1100" dirty="0"/>
          </a:p>
        </p:txBody>
      </p:sp>
      <p:sp>
        <p:nvSpPr>
          <p:cNvPr id="6" name="status Pending Approval"/>
          <p:cNvSpPr txBox="1"/>
          <p:nvPr/>
        </p:nvSpPr>
        <p:spPr>
          <a:xfrm>
            <a:off x="2798064" y="1737360"/>
            <a:ext cx="2057400" cy="457200"/>
          </a:xfrm>
          <a:prstGeom prst="roundRect">
            <a:avLst>
              <a:gd name="adj" fmla="val 50000"/>
            </a:avLst>
          </a:prstGeom>
          <a:solidFill>
            <a:schemeClr val="accent4"/>
          </a:solidFill>
          <a:ln/>
        </p:spPr>
        <p:txBody>
          <a:bodyPr wrap="square" lIns="0" tIns="0" rIns="0" bIns="0" rtlCol="0" anchor="ctr"/>
          <a:lstStyle/>
          <a:p>
            <a:pPr algn="ctr" indent="0" marL="0">
              <a:buNone/>
            </a:pPr>
            <a:r>
              <a:rPr lang="en-US" sz="1400" b="1" dirty="0">
                <a:solidFill>
                  <a:schemeClr val="tx1"/>
                </a:solidFill>
              </a:rPr>
              <a:t>Pending Approval</a:t>
            </a:r>
            <a:endParaRPr lang="en-US" sz="1400" dirty="0"/>
          </a:p>
        </p:txBody>
      </p:sp>
      <p:sp>
        <p:nvSpPr>
          <p:cNvPr id="7" name="status note Pending Approval"/>
          <p:cNvSpPr txBox="1"/>
          <p:nvPr/>
        </p:nvSpPr>
        <p:spPr>
          <a:xfrm>
            <a:off x="2798064" y="2258568"/>
            <a:ext cx="2057400" cy="256032"/>
          </a:xfrm>
          <a:prstGeom prst="rect">
            <a:avLst/>
          </a:prstGeom>
          <a:noFill/>
          <a:ln/>
        </p:spPr>
        <p:txBody>
          <a:bodyPr wrap="square" lIns="0" tIns="0" rIns="0" bIns="0" rtlCol="0" anchor="t"/>
          <a:lstStyle/>
          <a:p>
            <a:pPr algn="ctr" indent="0" marL="0">
              <a:buNone/>
            </a:pPr>
            <a:r>
              <a:rPr lang="en-US" sz="1100" dirty="0">
                <a:solidFill>
                  <a:schemeClr val="accent6"/>
                </a:solidFill>
              </a:rPr>
              <a:t>With the checker for review</a:t>
            </a:r>
            <a:endParaRPr lang="en-US" sz="1100" dirty="0"/>
          </a:p>
        </p:txBody>
      </p:sp>
      <p:sp>
        <p:nvSpPr>
          <p:cNvPr id="8" name="status Approved"/>
          <p:cNvSpPr txBox="1"/>
          <p:nvPr/>
        </p:nvSpPr>
        <p:spPr>
          <a:xfrm>
            <a:off x="5367528" y="1737360"/>
            <a:ext cx="2011680" cy="457200"/>
          </a:xfrm>
          <a:prstGeom prst="roundRect">
            <a:avLst>
              <a:gd name="adj" fmla="val 50000"/>
            </a:avLst>
          </a:prstGeom>
          <a:solidFill>
            <a:schemeClr val="accent3"/>
          </a:solidFill>
          <a:ln/>
        </p:spPr>
        <p:txBody>
          <a:bodyPr wrap="square" lIns="0" tIns="0" rIns="0" bIns="0" rtlCol="0" anchor="ctr"/>
          <a:lstStyle/>
          <a:p>
            <a:pPr algn="ctr" indent="0" marL="0">
              <a:buNone/>
            </a:pPr>
            <a:r>
              <a:rPr lang="en-US" sz="1400" b="1" dirty="0">
                <a:solidFill>
                  <a:schemeClr val="bg1"/>
                </a:solidFill>
              </a:rPr>
              <a:t>Approved</a:t>
            </a:r>
            <a:endParaRPr lang="en-US" sz="1400" dirty="0"/>
          </a:p>
        </p:txBody>
      </p:sp>
      <p:sp>
        <p:nvSpPr>
          <p:cNvPr id="9" name="status note Approved"/>
          <p:cNvSpPr txBox="1"/>
          <p:nvPr/>
        </p:nvSpPr>
        <p:spPr>
          <a:xfrm>
            <a:off x="5367528" y="2258568"/>
            <a:ext cx="2011680" cy="256032"/>
          </a:xfrm>
          <a:prstGeom prst="rect">
            <a:avLst/>
          </a:prstGeom>
          <a:noFill/>
          <a:ln/>
        </p:spPr>
        <p:txBody>
          <a:bodyPr wrap="square" lIns="0" tIns="0" rIns="0" bIns="0" rtlCol="0" anchor="t"/>
          <a:lstStyle/>
          <a:p>
            <a:pPr algn="ctr" indent="0" marL="0">
              <a:buNone/>
            </a:pPr>
            <a:r>
              <a:rPr lang="en-US" sz="1100" dirty="0">
                <a:solidFill>
                  <a:schemeClr val="accent6"/>
                </a:solidFill>
              </a:rPr>
              <a:t>Moves to the next stage</a:t>
            </a:r>
            <a:endParaRPr lang="en-US" sz="1100" dirty="0"/>
          </a:p>
        </p:txBody>
      </p:sp>
      <p:sp>
        <p:nvSpPr>
          <p:cNvPr id="10" name="status Returned"/>
          <p:cNvSpPr txBox="1"/>
          <p:nvPr/>
        </p:nvSpPr>
        <p:spPr>
          <a:xfrm>
            <a:off x="7498080" y="1737360"/>
            <a:ext cx="2011680" cy="457200"/>
          </a:xfrm>
          <a:prstGeom prst="roundRect">
            <a:avLst>
              <a:gd name="adj" fmla="val 50000"/>
            </a:avLst>
          </a:prstGeom>
          <a:solidFill>
            <a:schemeClr val="accent5"/>
          </a:solidFill>
          <a:ln/>
        </p:spPr>
        <p:txBody>
          <a:bodyPr wrap="square" lIns="0" tIns="0" rIns="0" bIns="0" rtlCol="0" anchor="ctr"/>
          <a:lstStyle/>
          <a:p>
            <a:pPr algn="ctr" indent="0" marL="0">
              <a:buNone/>
            </a:pPr>
            <a:r>
              <a:rPr lang="en-US" sz="1400" b="1" dirty="0">
                <a:solidFill>
                  <a:schemeClr val="bg1"/>
                </a:solidFill>
              </a:rPr>
              <a:t>Returned</a:t>
            </a:r>
            <a:endParaRPr lang="en-US" sz="1400" dirty="0"/>
          </a:p>
        </p:txBody>
      </p:sp>
      <p:sp>
        <p:nvSpPr>
          <p:cNvPr id="11" name="status note Returned"/>
          <p:cNvSpPr txBox="1"/>
          <p:nvPr/>
        </p:nvSpPr>
        <p:spPr>
          <a:xfrm>
            <a:off x="7498080" y="2258568"/>
            <a:ext cx="2011680" cy="256032"/>
          </a:xfrm>
          <a:prstGeom prst="rect">
            <a:avLst/>
          </a:prstGeom>
          <a:noFill/>
          <a:ln/>
        </p:spPr>
        <p:txBody>
          <a:bodyPr wrap="square" lIns="0" tIns="0" rIns="0" bIns="0" rtlCol="0" anchor="t"/>
          <a:lstStyle/>
          <a:p>
            <a:pPr algn="ctr" indent="0" marL="0">
              <a:buNone/>
            </a:pPr>
            <a:r>
              <a:rPr lang="en-US" sz="1100" dirty="0">
                <a:solidFill>
                  <a:schemeClr val="accent6"/>
                </a:solidFill>
              </a:rPr>
              <a:t>Back to maker with a reason</a:t>
            </a:r>
            <a:endParaRPr lang="en-US" sz="1100" dirty="0"/>
          </a:p>
        </p:txBody>
      </p:sp>
      <p:sp>
        <p:nvSpPr>
          <p:cNvPr id="12" name="status Rejected"/>
          <p:cNvSpPr txBox="1"/>
          <p:nvPr/>
        </p:nvSpPr>
        <p:spPr>
          <a:xfrm>
            <a:off x="9631375" y="1737360"/>
            <a:ext cx="2011680" cy="457200"/>
          </a:xfrm>
          <a:prstGeom prst="roundRect">
            <a:avLst>
              <a:gd name="adj" fmla="val 50000"/>
            </a:avLst>
          </a:prstGeom>
          <a:solidFill>
            <a:schemeClr val="accent2"/>
          </a:solidFill>
          <a:ln/>
        </p:spPr>
        <p:txBody>
          <a:bodyPr wrap="square" lIns="0" tIns="0" rIns="0" bIns="0" rtlCol="0" anchor="ctr"/>
          <a:lstStyle/>
          <a:p>
            <a:pPr algn="ctr" indent="0" marL="0">
              <a:buNone/>
            </a:pPr>
            <a:r>
              <a:rPr lang="en-US" sz="1400" b="1" dirty="0">
                <a:solidFill>
                  <a:schemeClr val="bg1"/>
                </a:solidFill>
              </a:rPr>
              <a:t>Rejected</a:t>
            </a:r>
            <a:endParaRPr lang="en-US" sz="1400" dirty="0"/>
          </a:p>
        </p:txBody>
      </p:sp>
      <p:sp>
        <p:nvSpPr>
          <p:cNvPr id="13" name="status note Rejected"/>
          <p:cNvSpPr txBox="1"/>
          <p:nvPr/>
        </p:nvSpPr>
        <p:spPr>
          <a:xfrm>
            <a:off x="9631375" y="2258568"/>
            <a:ext cx="2011680" cy="256032"/>
          </a:xfrm>
          <a:prstGeom prst="rect">
            <a:avLst/>
          </a:prstGeom>
          <a:noFill/>
          <a:ln/>
        </p:spPr>
        <p:txBody>
          <a:bodyPr wrap="square" lIns="0" tIns="0" rIns="0" bIns="0" rtlCol="0" anchor="t"/>
          <a:lstStyle/>
          <a:p>
            <a:pPr algn="ctr" indent="0" marL="0">
              <a:buNone/>
            </a:pPr>
            <a:r>
              <a:rPr lang="en-US" sz="1100" dirty="0">
                <a:solidFill>
                  <a:schemeClr val="accent6"/>
                </a:solidFill>
              </a:rPr>
              <a:t>Closed with a reason</a:t>
            </a:r>
            <a:endParaRPr lang="en-US" sz="1100" dirty="0"/>
          </a:p>
        </p:txBody>
      </p:sp>
      <p:pic>
        <p:nvPicPr>
          <p:cNvPr id="14" name="flow arrow 1" descr="arrow right icon">    </p:cNvPr>
          <p:cNvPicPr>
            <a:picLocks noChangeAspect="1"/>
          </p:cNvPicPr>
          <p:nvPr/>
        </p:nvPicPr>
        <p:blipFill>
          <a:blip r:embed="rId1"/>
          <a:stretch>
            <a:fillRect/>
          </a:stretch>
        </p:blipFill>
        <p:spPr>
          <a:xfrm>
            <a:off x="2395728" y="1819656"/>
            <a:ext cx="292608" cy="292608"/>
          </a:xfrm>
          <a:prstGeom prst="rect">
            <a:avLst/>
          </a:prstGeom>
        </p:spPr>
      </p:pic>
      <p:pic>
        <p:nvPicPr>
          <p:cNvPr id="15" name="flow arrow 2" descr="arrow right icon">    </p:cNvPr>
          <p:cNvPicPr>
            <a:picLocks noChangeAspect="1"/>
          </p:cNvPicPr>
          <p:nvPr/>
        </p:nvPicPr>
        <p:blipFill>
          <a:blip r:embed="rId2"/>
          <a:stretch>
            <a:fillRect/>
          </a:stretch>
        </p:blipFill>
        <p:spPr>
          <a:xfrm>
            <a:off x="4965192" y="1819656"/>
            <a:ext cx="292608" cy="292608"/>
          </a:xfrm>
          <a:prstGeom prst="rect">
            <a:avLst/>
          </a:prstGeom>
        </p:spPr>
      </p:pic>
      <p:sp>
        <p:nvSpPr>
          <p:cNvPr id="16" name="checker caption"/>
          <p:cNvSpPr txBox="1"/>
          <p:nvPr/>
        </p:nvSpPr>
        <p:spPr>
          <a:xfrm>
            <a:off x="548640" y="2743200"/>
            <a:ext cx="5669280" cy="274320"/>
          </a:xfrm>
          <a:prstGeom prst="rect">
            <a:avLst/>
          </a:prstGeom>
          <a:noFill/>
          <a:ln/>
        </p:spPr>
        <p:txBody>
          <a:bodyPr wrap="square" lIns="0" tIns="0" rIns="0" bIns="0" rtlCol="0" anchor="t"/>
          <a:lstStyle/>
          <a:p>
            <a:pPr indent="0" marL="0">
              <a:buNone/>
            </a:pPr>
            <a:r>
              <a:rPr lang="en-US" sz="1300" b="1" dirty="0">
                <a:solidFill>
                  <a:schemeClr val="accent1"/>
                </a:solidFill>
              </a:rPr>
              <a:t>Checker view in the live system</a:t>
            </a:r>
            <a:endParaRPr lang="en-US" sz="1300" dirty="0"/>
          </a:p>
        </p:txBody>
      </p:sp>
      <p:sp>
        <p:nvSpPr>
          <p:cNvPr id="17" name="checker dialog card"/>
          <p:cNvSpPr/>
          <p:nvPr/>
        </p:nvSpPr>
        <p:spPr>
          <a:xfrm>
            <a:off x="548640" y="3090672"/>
            <a:ext cx="5669280" cy="3003369"/>
          </a:xfrm>
          <a:prstGeom prst="roundRect">
            <a:avLst>
              <a:gd name="adj" fmla="val 2740"/>
            </a:avLst>
          </a:prstGeom>
          <a:solidFill>
            <a:schemeClr val="bg1"/>
          </a:solidFill>
          <a:ln/>
          <a:effectLst>
            <a:outerShdw sx="100000" sy="100000" kx="0" ky="0" algn="bl" rotWithShape="0" blurRad="203200" dist="50800" dir="5400000">
              <a:srgbClr val="0B1F3A">
                <a:alpha val="20000"/>
              </a:srgbClr>
            </a:outerShdw>
          </a:effectLst>
        </p:spPr>
      </p:sp>
      <p:pic>
        <p:nvPicPr>
          <p:cNvPr id="18" name="checker dialog screenshot" descr="Pending bill record with Approve, Return and Reject actions for the checker">    </p:cNvPr>
          <p:cNvPicPr>
            <a:picLocks noChangeAspect="1"/>
          </p:cNvPicPr>
          <p:nvPr/>
        </p:nvPicPr>
        <p:blipFill>
          <a:blip r:embed="rId3"/>
          <a:stretch>
            <a:fillRect/>
          </a:stretch>
        </p:blipFill>
        <p:spPr>
          <a:xfrm>
            <a:off x="548640" y="3090672"/>
            <a:ext cx="5669280" cy="3003369"/>
          </a:xfrm>
          <a:prstGeom prst="rect">
            <a:avLst/>
          </a:prstGeom>
        </p:spPr>
      </p:pic>
      <p:sp>
        <p:nvSpPr>
          <p:cNvPr id="19" name="controls heading"/>
          <p:cNvSpPr txBox="1"/>
          <p:nvPr/>
        </p:nvSpPr>
        <p:spPr>
          <a:xfrm>
            <a:off x="6629400" y="2743200"/>
            <a:ext cx="5013655"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Controls on every request</a:t>
            </a:r>
            <a:endParaRPr lang="en-US" sz="1500" dirty="0"/>
          </a:p>
        </p:txBody>
      </p:sp>
      <p:pic>
        <p:nvPicPr>
          <p:cNvPr id="20" name="rule icon 1" descr="circle check icon">    </p:cNvPr>
          <p:cNvPicPr>
            <a:picLocks noChangeAspect="1"/>
          </p:cNvPicPr>
          <p:nvPr/>
        </p:nvPicPr>
        <p:blipFill>
          <a:blip r:embed="rId4"/>
          <a:stretch>
            <a:fillRect/>
          </a:stretch>
        </p:blipFill>
        <p:spPr>
          <a:xfrm>
            <a:off x="6629400" y="3218688"/>
            <a:ext cx="237744" cy="237744"/>
          </a:xfrm>
          <a:prstGeom prst="rect">
            <a:avLst/>
          </a:prstGeom>
        </p:spPr>
      </p:pic>
      <p:sp>
        <p:nvSpPr>
          <p:cNvPr id="21" name="rule 1"/>
          <p:cNvSpPr txBox="1"/>
          <p:nvPr/>
        </p:nvSpPr>
        <p:spPr>
          <a:xfrm>
            <a:off x="7013448" y="3182112"/>
            <a:ext cx="4629607" cy="384048"/>
          </a:xfrm>
          <a:prstGeom prst="rect">
            <a:avLst/>
          </a:prstGeom>
          <a:noFill/>
          <a:ln/>
        </p:spPr>
        <p:txBody>
          <a:bodyPr wrap="square" lIns="0" tIns="0" rIns="0" bIns="0" rtlCol="0" anchor="t"/>
          <a:lstStyle/>
          <a:p>
            <a:pPr indent="0" marL="0">
              <a:buNone/>
            </a:pPr>
            <a:r>
              <a:rPr lang="en-US" sz="1400" dirty="0">
                <a:solidFill>
                  <a:schemeClr val="tx1"/>
                </a:solidFill>
              </a:rPr>
              <a:t>Duplicate requests blocked while one is pending</a:t>
            </a:r>
            <a:endParaRPr lang="en-US" sz="1400" dirty="0"/>
          </a:p>
        </p:txBody>
      </p:sp>
      <p:pic>
        <p:nvPicPr>
          <p:cNvPr id="22" name="rule icon 2" descr="circle check icon">    </p:cNvPr>
          <p:cNvPicPr>
            <a:picLocks noChangeAspect="1"/>
          </p:cNvPicPr>
          <p:nvPr/>
        </p:nvPicPr>
        <p:blipFill>
          <a:blip r:embed="rId5"/>
          <a:stretch>
            <a:fillRect/>
          </a:stretch>
        </p:blipFill>
        <p:spPr>
          <a:xfrm>
            <a:off x="6629400" y="3694176"/>
            <a:ext cx="237744" cy="237744"/>
          </a:xfrm>
          <a:prstGeom prst="rect">
            <a:avLst/>
          </a:prstGeom>
        </p:spPr>
      </p:pic>
      <p:sp>
        <p:nvSpPr>
          <p:cNvPr id="23" name="rule 2"/>
          <p:cNvSpPr txBox="1"/>
          <p:nvPr/>
        </p:nvSpPr>
        <p:spPr>
          <a:xfrm>
            <a:off x="7013448" y="3657600"/>
            <a:ext cx="4629607" cy="384048"/>
          </a:xfrm>
          <a:prstGeom prst="rect">
            <a:avLst/>
          </a:prstGeom>
          <a:noFill/>
          <a:ln/>
        </p:spPr>
        <p:txBody>
          <a:bodyPr wrap="square" lIns="0" tIns="0" rIns="0" bIns="0" rtlCol="0" anchor="t"/>
          <a:lstStyle/>
          <a:p>
            <a:pPr indent="0" marL="0">
              <a:buNone/>
            </a:pPr>
            <a:r>
              <a:rPr lang="en-US" sz="1400" dirty="0">
                <a:solidFill>
                  <a:schemeClr val="tx1"/>
                </a:solidFill>
              </a:rPr>
              <a:t>Return or reject always records a reason</a:t>
            </a:r>
            <a:endParaRPr lang="en-US" sz="1400" dirty="0"/>
          </a:p>
        </p:txBody>
      </p:sp>
      <p:pic>
        <p:nvPicPr>
          <p:cNvPr id="24" name="rule icon 3" descr="circle check icon">    </p:cNvPr>
          <p:cNvPicPr>
            <a:picLocks noChangeAspect="1"/>
          </p:cNvPicPr>
          <p:nvPr/>
        </p:nvPicPr>
        <p:blipFill>
          <a:blip r:embed="rId6"/>
          <a:stretch>
            <a:fillRect/>
          </a:stretch>
        </p:blipFill>
        <p:spPr>
          <a:xfrm>
            <a:off x="6629400" y="4169664"/>
            <a:ext cx="237744" cy="237744"/>
          </a:xfrm>
          <a:prstGeom prst="rect">
            <a:avLst/>
          </a:prstGeom>
        </p:spPr>
      </p:pic>
      <p:sp>
        <p:nvSpPr>
          <p:cNvPr id="25" name="rule 3"/>
          <p:cNvSpPr txBox="1"/>
          <p:nvPr/>
        </p:nvSpPr>
        <p:spPr>
          <a:xfrm>
            <a:off x="7013448" y="4133088"/>
            <a:ext cx="4629607" cy="384048"/>
          </a:xfrm>
          <a:prstGeom prst="rect">
            <a:avLst/>
          </a:prstGeom>
          <a:noFill/>
          <a:ln/>
        </p:spPr>
        <p:txBody>
          <a:bodyPr wrap="square" lIns="0" tIns="0" rIns="0" bIns="0" rtlCol="0" anchor="t"/>
          <a:lstStyle/>
          <a:p>
            <a:pPr indent="0" marL="0">
              <a:buNone/>
            </a:pPr>
            <a:r>
              <a:rPr lang="en-US" sz="1400" dirty="0">
                <a:solidFill>
                  <a:schemeClr val="tx1"/>
                </a:solidFill>
              </a:rPr>
              <a:t>Editable only while Draft or Returned</a:t>
            </a:r>
            <a:endParaRPr lang="en-US" sz="1400" dirty="0"/>
          </a:p>
        </p:txBody>
      </p:sp>
      <p:pic>
        <p:nvPicPr>
          <p:cNvPr id="26" name="rule icon 4" descr="circle check icon">    </p:cNvPr>
          <p:cNvPicPr>
            <a:picLocks noChangeAspect="1"/>
          </p:cNvPicPr>
          <p:nvPr/>
        </p:nvPicPr>
        <p:blipFill>
          <a:blip r:embed="rId7"/>
          <a:stretch>
            <a:fillRect/>
          </a:stretch>
        </p:blipFill>
        <p:spPr>
          <a:xfrm>
            <a:off x="6629400" y="4645152"/>
            <a:ext cx="237744" cy="237744"/>
          </a:xfrm>
          <a:prstGeom prst="rect">
            <a:avLst/>
          </a:prstGeom>
        </p:spPr>
      </p:pic>
      <p:sp>
        <p:nvSpPr>
          <p:cNvPr id="27" name="rule 4"/>
          <p:cNvSpPr txBox="1"/>
          <p:nvPr/>
        </p:nvSpPr>
        <p:spPr>
          <a:xfrm>
            <a:off x="7013448" y="4608576"/>
            <a:ext cx="4629607" cy="384048"/>
          </a:xfrm>
          <a:prstGeom prst="rect">
            <a:avLst/>
          </a:prstGeom>
          <a:noFill/>
          <a:ln/>
        </p:spPr>
        <p:txBody>
          <a:bodyPr wrap="square" lIns="0" tIns="0" rIns="0" bIns="0" rtlCol="0" anchor="t"/>
          <a:lstStyle/>
          <a:p>
            <a:pPr indent="0" marL="0">
              <a:buNone/>
            </a:pPr>
            <a:r>
              <a:rPr lang="en-US" sz="1400" dirty="0">
                <a:solidFill>
                  <a:schemeClr val="tx1"/>
                </a:solidFill>
              </a:rPr>
              <a:t>Status and full history available on enquiry</a:t>
            </a:r>
            <a:endParaRPr lang="en-US" sz="1400" dirty="0"/>
          </a:p>
        </p:txBody>
      </p:sp>
      <p:pic>
        <p:nvPicPr>
          <p:cNvPr id="28" name="rule icon 5" descr="circle check icon">    </p:cNvPr>
          <p:cNvPicPr>
            <a:picLocks noChangeAspect="1"/>
          </p:cNvPicPr>
          <p:nvPr/>
        </p:nvPicPr>
        <p:blipFill>
          <a:blip r:embed="rId8"/>
          <a:stretch>
            <a:fillRect/>
          </a:stretch>
        </p:blipFill>
        <p:spPr>
          <a:xfrm>
            <a:off x="6629400" y="5120640"/>
            <a:ext cx="237744" cy="237744"/>
          </a:xfrm>
          <a:prstGeom prst="rect">
            <a:avLst/>
          </a:prstGeom>
        </p:spPr>
      </p:pic>
      <p:sp>
        <p:nvSpPr>
          <p:cNvPr id="29" name="rule 5"/>
          <p:cNvSpPr txBox="1"/>
          <p:nvPr/>
        </p:nvSpPr>
        <p:spPr>
          <a:xfrm>
            <a:off x="7013448" y="5084064"/>
            <a:ext cx="4629607" cy="384048"/>
          </a:xfrm>
          <a:prstGeom prst="rect">
            <a:avLst/>
          </a:prstGeom>
          <a:noFill/>
          <a:ln/>
        </p:spPr>
        <p:txBody>
          <a:bodyPr wrap="square" lIns="0" tIns="0" rIns="0" bIns="0" rtlCol="0" anchor="t"/>
          <a:lstStyle/>
          <a:p>
            <a:pPr indent="0" marL="0">
              <a:buNone/>
            </a:pPr>
            <a:r>
              <a:rPr lang="en-US" sz="1400" dirty="0">
                <a:solidFill>
                  <a:schemeClr val="tx1"/>
                </a:solidFill>
              </a:rPr>
              <a:t>Email &amp; SMS alerts on initiate, reject and complete</a:t>
            </a:r>
            <a:endParaRPr lang="en-US" sz="1400" dirty="0"/>
          </a:p>
        </p:txBody>
      </p:sp>
      <p:pic>
        <p:nvPicPr>
          <p:cNvPr id="30" name="rule icon 6" descr="circle check icon">    </p:cNvPr>
          <p:cNvPicPr>
            <a:picLocks noChangeAspect="1"/>
          </p:cNvPicPr>
          <p:nvPr/>
        </p:nvPicPr>
        <p:blipFill>
          <a:blip r:embed="rId9"/>
          <a:stretch>
            <a:fillRect/>
          </a:stretch>
        </p:blipFill>
        <p:spPr>
          <a:xfrm>
            <a:off x="6629400" y="5596128"/>
            <a:ext cx="237744" cy="237744"/>
          </a:xfrm>
          <a:prstGeom prst="rect">
            <a:avLst/>
          </a:prstGeom>
        </p:spPr>
      </p:pic>
      <p:sp>
        <p:nvSpPr>
          <p:cNvPr id="31" name="rule 6"/>
          <p:cNvSpPr txBox="1"/>
          <p:nvPr/>
        </p:nvSpPr>
        <p:spPr>
          <a:xfrm>
            <a:off x="7013448" y="5559552"/>
            <a:ext cx="4629607" cy="384048"/>
          </a:xfrm>
          <a:prstGeom prst="rect">
            <a:avLst/>
          </a:prstGeom>
          <a:noFill/>
          <a:ln/>
        </p:spPr>
        <p:txBody>
          <a:bodyPr wrap="square" lIns="0" tIns="0" rIns="0" bIns="0" rtlCol="0" anchor="t"/>
          <a:lstStyle/>
          <a:p>
            <a:pPr indent="0" marL="0">
              <a:buNone/>
            </a:pPr>
            <a:r>
              <a:rPr lang="en-US" sz="1400" dirty="0">
                <a:solidFill>
                  <a:schemeClr val="tx1"/>
                </a:solidFill>
              </a:rPr>
              <a:t>Every action stamped with user, role and time</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76656"/>
          </a:xfrm>
          <a:prstGeom prst="rect">
            <a:avLst/>
          </a:prstGeom>
          <a:noFill/>
          <a:ln/>
        </p:spPr>
        <p:txBody>
          <a:bodyPr wrap="square" lIns="0" tIns="0" rIns="0" bIns="0" rtlCol="0" anchor="ctr"/>
          <a:lstStyle/>
          <a:p>
            <a:pPr algn="l" indent="0" marL="0">
              <a:buNone/>
            </a:pPr>
            <a:r>
              <a:rPr lang="en-US" sz="3600" b="1" dirty="0">
                <a:solidFill>
                  <a:schemeClr val="tx2"/>
                </a:solidFill>
              </a:rPr>
              <a:t>Litigation Case Management</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algn="l" indent="0" marL="0">
              <a:buNone/>
            </a:pPr>
            <a:r>
              <a:rPr lang="en-US" sz="1600" dirty="0">
                <a:solidFill>
                  <a:schemeClr val="accent6"/>
                </a:solidFill>
              </a:rPr>
              <a:t>Every suit, step, hearing and cost — linked from the lower court to the Appellate Division</a:t>
            </a:r>
            <a:endParaRPr lang="en-US" sz="1600" dirty="0"/>
          </a:p>
        </p:txBody>
      </p:sp>
      <p:sp>
        <p:nvSpPr>
          <p:cNvPr id="4" name="litigation icon 1 circle"/>
          <p:cNvSpPr/>
          <p:nvPr/>
        </p:nvSpPr>
        <p:spPr>
          <a:xfrm>
            <a:off x="548640" y="1819656"/>
            <a:ext cx="420624" cy="420624"/>
          </a:xfrm>
          <a:prstGeom prst="ellipse">
            <a:avLst/>
          </a:prstGeom>
          <a:solidFill>
            <a:schemeClr val="accent1"/>
          </a:solidFill>
          <a:ln/>
        </p:spPr>
      </p:sp>
      <p:pic>
        <p:nvPicPr>
          <p:cNvPr id="5" name="litigation icon 1 glyph" descr="scale icon">    </p:cNvPr>
          <p:cNvPicPr>
            <a:picLocks noChangeAspect="1"/>
          </p:cNvPicPr>
          <p:nvPr/>
        </p:nvPicPr>
        <p:blipFill>
          <a:blip r:embed="rId1"/>
          <a:stretch>
            <a:fillRect/>
          </a:stretch>
        </p:blipFill>
        <p:spPr>
          <a:xfrm>
            <a:off x="649590" y="1920606"/>
            <a:ext cx="218724" cy="218724"/>
          </a:xfrm>
          <a:prstGeom prst="rect">
            <a:avLst/>
          </a:prstGeom>
        </p:spPr>
      </p:pic>
      <p:sp>
        <p:nvSpPr>
          <p:cNvPr id="6" name="litigation title 1"/>
          <p:cNvSpPr txBox="1"/>
          <p:nvPr/>
        </p:nvSpPr>
        <p:spPr>
          <a:xfrm>
            <a:off x="1133856" y="1783080"/>
            <a:ext cx="3758184" cy="274320"/>
          </a:xfrm>
          <a:prstGeom prst="rect">
            <a:avLst/>
          </a:prstGeom>
          <a:noFill/>
          <a:ln/>
        </p:spPr>
        <p:txBody>
          <a:bodyPr wrap="square" lIns="0" tIns="0" rIns="0" bIns="0" rtlCol="0" anchor="t"/>
          <a:lstStyle/>
          <a:p>
            <a:pPr indent="0" marL="0">
              <a:buNone/>
            </a:pPr>
            <a:r>
              <a:rPr lang="en-US" sz="1500" b="1" dirty="0">
                <a:solidFill>
                  <a:schemeClr val="tx1"/>
                </a:solidFill>
              </a:rPr>
              <a:t>Lower Court Suits</a:t>
            </a:r>
            <a:endParaRPr lang="en-US" sz="1500" dirty="0"/>
          </a:p>
        </p:txBody>
      </p:sp>
      <p:sp>
        <p:nvSpPr>
          <p:cNvPr id="7" name="litigation detail 1"/>
          <p:cNvSpPr txBox="1"/>
          <p:nvPr/>
        </p:nvSpPr>
        <p:spPr>
          <a:xfrm>
            <a:off x="1133856" y="2066544"/>
            <a:ext cx="3758184" cy="384048"/>
          </a:xfrm>
          <a:prstGeom prst="rect">
            <a:avLst/>
          </a:prstGeom>
          <a:noFill/>
          <a:ln/>
        </p:spPr>
        <p:txBody>
          <a:bodyPr wrap="square" lIns="0" tIns="0" rIns="0" bIns="0" rtlCol="0" anchor="t"/>
          <a:lstStyle/>
          <a:p>
            <a:pPr indent="0" marL="0">
              <a:buNone/>
            </a:pPr>
            <a:r>
              <a:rPr lang="en-US" sz="1300" dirty="0">
                <a:solidFill>
                  <a:schemeClr val="accent6"/>
                </a:solidFill>
              </a:rPr>
              <a:t>Suit files, Arji and summons uploads, reassignment</a:t>
            </a:r>
            <a:endParaRPr lang="en-US" sz="1300" dirty="0"/>
          </a:p>
        </p:txBody>
      </p:sp>
      <p:sp>
        <p:nvSpPr>
          <p:cNvPr id="8" name="litigation icon 2 circle"/>
          <p:cNvSpPr/>
          <p:nvPr/>
        </p:nvSpPr>
        <p:spPr>
          <a:xfrm>
            <a:off x="548640" y="2542032"/>
            <a:ext cx="420624" cy="420624"/>
          </a:xfrm>
          <a:prstGeom prst="ellipse">
            <a:avLst/>
          </a:prstGeom>
          <a:solidFill>
            <a:schemeClr val="accent1"/>
          </a:solidFill>
          <a:ln/>
        </p:spPr>
      </p:sp>
      <p:pic>
        <p:nvPicPr>
          <p:cNvPr id="9" name="litigation icon 2 glyph" descr="list checks icon">    </p:cNvPr>
          <p:cNvPicPr>
            <a:picLocks noChangeAspect="1"/>
          </p:cNvPicPr>
          <p:nvPr/>
        </p:nvPicPr>
        <p:blipFill>
          <a:blip r:embed="rId2"/>
          <a:stretch>
            <a:fillRect/>
          </a:stretch>
        </p:blipFill>
        <p:spPr>
          <a:xfrm>
            <a:off x="649590" y="2642982"/>
            <a:ext cx="218724" cy="218724"/>
          </a:xfrm>
          <a:prstGeom prst="rect">
            <a:avLst/>
          </a:prstGeom>
        </p:spPr>
      </p:pic>
      <p:sp>
        <p:nvSpPr>
          <p:cNvPr id="10" name="litigation title 2"/>
          <p:cNvSpPr txBox="1"/>
          <p:nvPr/>
        </p:nvSpPr>
        <p:spPr>
          <a:xfrm>
            <a:off x="1133856" y="2505456"/>
            <a:ext cx="3758184" cy="274320"/>
          </a:xfrm>
          <a:prstGeom prst="rect">
            <a:avLst/>
          </a:prstGeom>
          <a:noFill/>
          <a:ln/>
        </p:spPr>
        <p:txBody>
          <a:bodyPr wrap="square" lIns="0" tIns="0" rIns="0" bIns="0" rtlCol="0" anchor="t"/>
          <a:lstStyle/>
          <a:p>
            <a:pPr indent="0" marL="0">
              <a:buNone/>
            </a:pPr>
            <a:r>
              <a:rPr lang="en-US" sz="1500" b="1" dirty="0">
                <a:solidFill>
                  <a:schemeClr val="tx1"/>
                </a:solidFill>
              </a:rPr>
              <a:t>Day-by-Day Case Steps</a:t>
            </a:r>
            <a:endParaRPr lang="en-US" sz="1500" dirty="0"/>
          </a:p>
        </p:txBody>
      </p:sp>
      <p:sp>
        <p:nvSpPr>
          <p:cNvPr id="11" name="litigation detail 2"/>
          <p:cNvSpPr txBox="1"/>
          <p:nvPr/>
        </p:nvSpPr>
        <p:spPr>
          <a:xfrm>
            <a:off x="1133856" y="2788920"/>
            <a:ext cx="3758184" cy="384048"/>
          </a:xfrm>
          <a:prstGeom prst="rect">
            <a:avLst/>
          </a:prstGeom>
          <a:noFill/>
          <a:ln/>
        </p:spPr>
        <p:txBody>
          <a:bodyPr wrap="square" lIns="0" tIns="0" rIns="0" bIns="0" rtlCol="0" anchor="t"/>
          <a:lstStyle/>
          <a:p>
            <a:pPr indent="0" marL="0">
              <a:buNone/>
            </a:pPr>
            <a:r>
              <a:rPr lang="en-US" sz="1300" dirty="0">
                <a:solidFill>
                  <a:schemeClr val="accent6"/>
                </a:solidFill>
              </a:rPr>
              <a:t>Hearing outcomes, next dates and lawyer expenses</a:t>
            </a:r>
            <a:endParaRPr lang="en-US" sz="1300" dirty="0"/>
          </a:p>
        </p:txBody>
      </p:sp>
      <p:sp>
        <p:nvSpPr>
          <p:cNvPr id="12" name="litigation icon 3 circle"/>
          <p:cNvSpPr/>
          <p:nvPr/>
        </p:nvSpPr>
        <p:spPr>
          <a:xfrm>
            <a:off x="548640" y="3264408"/>
            <a:ext cx="420624" cy="420624"/>
          </a:xfrm>
          <a:prstGeom prst="ellipse">
            <a:avLst/>
          </a:prstGeom>
          <a:solidFill>
            <a:schemeClr val="accent1"/>
          </a:solidFill>
          <a:ln/>
        </p:spPr>
      </p:sp>
      <p:pic>
        <p:nvPicPr>
          <p:cNvPr id="13" name="litigation icon 3 glyph" descr="git branch icon">    </p:cNvPr>
          <p:cNvPicPr>
            <a:picLocks noChangeAspect="1"/>
          </p:cNvPicPr>
          <p:nvPr/>
        </p:nvPicPr>
        <p:blipFill>
          <a:blip r:embed="rId3"/>
          <a:stretch>
            <a:fillRect/>
          </a:stretch>
        </p:blipFill>
        <p:spPr>
          <a:xfrm>
            <a:off x="649590" y="3365358"/>
            <a:ext cx="218724" cy="218724"/>
          </a:xfrm>
          <a:prstGeom prst="rect">
            <a:avLst/>
          </a:prstGeom>
        </p:spPr>
      </p:pic>
      <p:sp>
        <p:nvSpPr>
          <p:cNvPr id="14" name="litigation title 3"/>
          <p:cNvSpPr txBox="1"/>
          <p:nvPr/>
        </p:nvSpPr>
        <p:spPr>
          <a:xfrm>
            <a:off x="1133856" y="3227832"/>
            <a:ext cx="3758184" cy="274320"/>
          </a:xfrm>
          <a:prstGeom prst="rect">
            <a:avLst/>
          </a:prstGeom>
          <a:noFill/>
          <a:ln/>
        </p:spPr>
        <p:txBody>
          <a:bodyPr wrap="square" lIns="0" tIns="0" rIns="0" bIns="0" rtlCol="0" anchor="t"/>
          <a:lstStyle/>
          <a:p>
            <a:pPr indent="0" marL="0">
              <a:buNone/>
            </a:pPr>
            <a:r>
              <a:rPr lang="en-US" sz="1500" b="1" dirty="0">
                <a:solidFill>
                  <a:schemeClr val="tx1"/>
                </a:solidFill>
              </a:rPr>
              <a:t>Arising Cases</a:t>
            </a:r>
            <a:endParaRPr lang="en-US" sz="1500" dirty="0"/>
          </a:p>
        </p:txBody>
      </p:sp>
      <p:sp>
        <p:nvSpPr>
          <p:cNvPr id="15" name="litigation detail 3"/>
          <p:cNvSpPr txBox="1"/>
          <p:nvPr/>
        </p:nvSpPr>
        <p:spPr>
          <a:xfrm>
            <a:off x="1133856" y="3511296"/>
            <a:ext cx="3758184" cy="384048"/>
          </a:xfrm>
          <a:prstGeom prst="rect">
            <a:avLst/>
          </a:prstGeom>
          <a:noFill/>
          <a:ln/>
        </p:spPr>
        <p:txBody>
          <a:bodyPr wrap="square" lIns="0" tIns="0" rIns="0" bIns="0" rtlCol="0" anchor="t"/>
          <a:lstStyle/>
          <a:p>
            <a:pPr indent="0" marL="0">
              <a:buNone/>
            </a:pPr>
            <a:r>
              <a:rPr lang="en-US" sz="1300" dirty="0">
                <a:solidFill>
                  <a:schemeClr val="accent6"/>
                </a:solidFill>
              </a:rPr>
              <a:t>Execution suits and session cases linked to the original</a:t>
            </a:r>
            <a:endParaRPr lang="en-US" sz="1300" dirty="0"/>
          </a:p>
        </p:txBody>
      </p:sp>
      <p:sp>
        <p:nvSpPr>
          <p:cNvPr id="16" name="litigation icon 4 circle"/>
          <p:cNvSpPr/>
          <p:nvPr/>
        </p:nvSpPr>
        <p:spPr>
          <a:xfrm>
            <a:off x="548640" y="3986784"/>
            <a:ext cx="420624" cy="420624"/>
          </a:xfrm>
          <a:prstGeom prst="ellipse">
            <a:avLst/>
          </a:prstGeom>
          <a:solidFill>
            <a:schemeClr val="accent1"/>
          </a:solidFill>
          <a:ln/>
        </p:spPr>
      </p:sp>
      <p:pic>
        <p:nvPicPr>
          <p:cNvPr id="17" name="litigation icon 4 glyph" descr="building 2 icon">    </p:cNvPr>
          <p:cNvPicPr>
            <a:picLocks noChangeAspect="1"/>
          </p:cNvPicPr>
          <p:nvPr/>
        </p:nvPicPr>
        <p:blipFill>
          <a:blip r:embed="rId4"/>
          <a:stretch>
            <a:fillRect/>
          </a:stretch>
        </p:blipFill>
        <p:spPr>
          <a:xfrm>
            <a:off x="649590" y="4087734"/>
            <a:ext cx="218724" cy="218724"/>
          </a:xfrm>
          <a:prstGeom prst="rect">
            <a:avLst/>
          </a:prstGeom>
        </p:spPr>
      </p:pic>
      <p:sp>
        <p:nvSpPr>
          <p:cNvPr id="18" name="litigation title 4"/>
          <p:cNvSpPr txBox="1"/>
          <p:nvPr/>
        </p:nvSpPr>
        <p:spPr>
          <a:xfrm>
            <a:off x="1133856" y="3950208"/>
            <a:ext cx="3758184" cy="274320"/>
          </a:xfrm>
          <a:prstGeom prst="rect">
            <a:avLst/>
          </a:prstGeom>
          <a:noFill/>
          <a:ln/>
        </p:spPr>
        <p:txBody>
          <a:bodyPr wrap="square" lIns="0" tIns="0" rIns="0" bIns="0" rtlCol="0" anchor="t"/>
          <a:lstStyle/>
          <a:p>
            <a:pPr indent="0" marL="0">
              <a:buNone/>
            </a:pPr>
            <a:r>
              <a:rPr lang="en-US" sz="1500" b="1" dirty="0">
                <a:solidFill>
                  <a:schemeClr val="tx1"/>
                </a:solidFill>
              </a:rPr>
              <a:t>HC &amp; AD Matters</a:t>
            </a:r>
            <a:endParaRPr lang="en-US" sz="1500" dirty="0"/>
          </a:p>
        </p:txBody>
      </p:sp>
      <p:sp>
        <p:nvSpPr>
          <p:cNvPr id="19" name="litigation detail 4"/>
          <p:cNvSpPr txBox="1"/>
          <p:nvPr/>
        </p:nvSpPr>
        <p:spPr>
          <a:xfrm>
            <a:off x="1133856" y="4233672"/>
            <a:ext cx="3758184" cy="384048"/>
          </a:xfrm>
          <a:prstGeom prst="rect">
            <a:avLst/>
          </a:prstGeom>
          <a:noFill/>
          <a:ln/>
        </p:spPr>
        <p:txBody>
          <a:bodyPr wrap="square" lIns="0" tIns="0" rIns="0" bIns="0" rtlCol="0" anchor="t"/>
          <a:lstStyle/>
          <a:p>
            <a:pPr indent="0" marL="0">
              <a:buNone/>
            </a:pPr>
            <a:r>
              <a:rPr lang="en-US" sz="1300" dirty="0">
                <a:solidFill>
                  <a:schemeClr val="accent6"/>
                </a:solidFill>
              </a:rPr>
              <a:t>Filed against a lower-court case or independently</a:t>
            </a:r>
            <a:endParaRPr lang="en-US" sz="1300" dirty="0"/>
          </a:p>
        </p:txBody>
      </p:sp>
      <p:sp>
        <p:nvSpPr>
          <p:cNvPr id="20" name="litigation icon 5 circle"/>
          <p:cNvSpPr/>
          <p:nvPr/>
        </p:nvSpPr>
        <p:spPr>
          <a:xfrm>
            <a:off x="548640" y="4709160"/>
            <a:ext cx="420624" cy="420624"/>
          </a:xfrm>
          <a:prstGeom prst="ellipse">
            <a:avLst/>
          </a:prstGeom>
          <a:solidFill>
            <a:schemeClr val="accent1"/>
          </a:solidFill>
          <a:ln/>
        </p:spPr>
      </p:sp>
      <p:pic>
        <p:nvPicPr>
          <p:cNvPr id="21" name="litigation icon 5 glyph" descr="shield alert icon">    </p:cNvPr>
          <p:cNvPicPr>
            <a:picLocks noChangeAspect="1"/>
          </p:cNvPicPr>
          <p:nvPr/>
        </p:nvPicPr>
        <p:blipFill>
          <a:blip r:embed="rId5"/>
          <a:stretch>
            <a:fillRect/>
          </a:stretch>
        </p:blipFill>
        <p:spPr>
          <a:xfrm>
            <a:off x="649590" y="4810110"/>
            <a:ext cx="218724" cy="218724"/>
          </a:xfrm>
          <a:prstGeom prst="rect">
            <a:avLst/>
          </a:prstGeom>
        </p:spPr>
      </p:pic>
      <p:sp>
        <p:nvSpPr>
          <p:cNvPr id="22" name="litigation title 5"/>
          <p:cNvSpPr txBox="1"/>
          <p:nvPr/>
        </p:nvSpPr>
        <p:spPr>
          <a:xfrm>
            <a:off x="1133856" y="4672584"/>
            <a:ext cx="3758184" cy="274320"/>
          </a:xfrm>
          <a:prstGeom prst="rect">
            <a:avLst/>
          </a:prstGeom>
          <a:noFill/>
          <a:ln/>
        </p:spPr>
        <p:txBody>
          <a:bodyPr wrap="square" lIns="0" tIns="0" rIns="0" bIns="0" rtlCol="0" anchor="t"/>
          <a:lstStyle/>
          <a:p>
            <a:pPr indent="0" marL="0">
              <a:buNone/>
            </a:pPr>
            <a:r>
              <a:rPr lang="en-US" sz="1500" b="1" dirty="0">
                <a:solidFill>
                  <a:schemeClr val="tx1"/>
                </a:solidFill>
              </a:rPr>
              <a:t>Cases Against the Bank</a:t>
            </a:r>
            <a:endParaRPr lang="en-US" sz="1500" dirty="0"/>
          </a:p>
        </p:txBody>
      </p:sp>
      <p:sp>
        <p:nvSpPr>
          <p:cNvPr id="23" name="litigation detail 5"/>
          <p:cNvSpPr txBox="1"/>
          <p:nvPr/>
        </p:nvSpPr>
        <p:spPr>
          <a:xfrm>
            <a:off x="1133856" y="4956048"/>
            <a:ext cx="3758184" cy="384048"/>
          </a:xfrm>
          <a:prstGeom prst="rect">
            <a:avLst/>
          </a:prstGeom>
          <a:noFill/>
          <a:ln/>
        </p:spPr>
        <p:txBody>
          <a:bodyPr wrap="square" lIns="0" tIns="0" rIns="0" bIns="0" rtlCol="0" anchor="t"/>
          <a:lstStyle/>
          <a:p>
            <a:pPr indent="0" marL="0">
              <a:buNone/>
            </a:pPr>
            <a:r>
              <a:rPr lang="en-US" sz="1300" dirty="0">
                <a:solidFill>
                  <a:schemeClr val="accent6"/>
                </a:solidFill>
              </a:rPr>
              <a:t>Plus employee-related and other legal affairs</a:t>
            </a:r>
            <a:endParaRPr lang="en-US" sz="1300" dirty="0"/>
          </a:p>
        </p:txBody>
      </p:sp>
      <p:sp>
        <p:nvSpPr>
          <p:cNvPr id="24" name="litigation icon 6 circle"/>
          <p:cNvSpPr/>
          <p:nvPr/>
        </p:nvSpPr>
        <p:spPr>
          <a:xfrm>
            <a:off x="548640" y="5431536"/>
            <a:ext cx="420624" cy="420624"/>
          </a:xfrm>
          <a:prstGeom prst="ellipse">
            <a:avLst/>
          </a:prstGeom>
          <a:solidFill>
            <a:schemeClr val="accent1"/>
          </a:solidFill>
          <a:ln/>
        </p:spPr>
      </p:sp>
      <p:pic>
        <p:nvPicPr>
          <p:cNvPr id="25" name="litigation icon 6 glyph" descr="siren icon">    </p:cNvPr>
          <p:cNvPicPr>
            <a:picLocks noChangeAspect="1"/>
          </p:cNvPicPr>
          <p:nvPr/>
        </p:nvPicPr>
        <p:blipFill>
          <a:blip r:embed="rId6"/>
          <a:stretch>
            <a:fillRect/>
          </a:stretch>
        </p:blipFill>
        <p:spPr>
          <a:xfrm>
            <a:off x="649590" y="5532486"/>
            <a:ext cx="218724" cy="218724"/>
          </a:xfrm>
          <a:prstGeom prst="rect">
            <a:avLst/>
          </a:prstGeom>
        </p:spPr>
      </p:pic>
      <p:sp>
        <p:nvSpPr>
          <p:cNvPr id="26" name="litigation title 6"/>
          <p:cNvSpPr txBox="1"/>
          <p:nvPr/>
        </p:nvSpPr>
        <p:spPr>
          <a:xfrm>
            <a:off x="1133856" y="5394960"/>
            <a:ext cx="3758184" cy="274320"/>
          </a:xfrm>
          <a:prstGeom prst="rect">
            <a:avLst/>
          </a:prstGeom>
          <a:noFill/>
          <a:ln/>
        </p:spPr>
        <p:txBody>
          <a:bodyPr wrap="square" lIns="0" tIns="0" rIns="0" bIns="0" rtlCol="0" anchor="t"/>
          <a:lstStyle/>
          <a:p>
            <a:pPr indent="0" marL="0">
              <a:buNone/>
            </a:pPr>
            <a:r>
              <a:rPr lang="en-US" sz="1500" b="1" dirty="0">
                <a:solidFill>
                  <a:schemeClr val="tx1"/>
                </a:solidFill>
              </a:rPr>
              <a:t>Warrants &amp; Bail Money</a:t>
            </a:r>
            <a:endParaRPr lang="en-US" sz="1500" dirty="0"/>
          </a:p>
        </p:txBody>
      </p:sp>
      <p:sp>
        <p:nvSpPr>
          <p:cNvPr id="27" name="litigation detail 6"/>
          <p:cNvSpPr txBox="1"/>
          <p:nvPr/>
        </p:nvSpPr>
        <p:spPr>
          <a:xfrm>
            <a:off x="1133856" y="5678424"/>
            <a:ext cx="3758184" cy="384048"/>
          </a:xfrm>
          <a:prstGeom prst="rect">
            <a:avLst/>
          </a:prstGeom>
          <a:noFill/>
          <a:ln/>
        </p:spPr>
        <p:txBody>
          <a:bodyPr wrap="square" lIns="0" tIns="0" rIns="0" bIns="0" rtlCol="0" anchor="t"/>
          <a:lstStyle/>
          <a:p>
            <a:pPr indent="0" marL="0">
              <a:buNone/>
            </a:pPr>
            <a:r>
              <a:rPr lang="en-US" sz="1300" dirty="0">
                <a:solidFill>
                  <a:schemeClr val="accent6"/>
                </a:solidFill>
              </a:rPr>
              <a:t>Issuance, execution, deposits and withdrawals</a:t>
            </a:r>
            <a:endParaRPr lang="en-US" sz="1300" dirty="0"/>
          </a:p>
        </p:txBody>
      </p:sp>
      <p:sp>
        <p:nvSpPr>
          <p:cNvPr id="28" name="lower court frame"/>
          <p:cNvSpPr/>
          <p:nvPr/>
        </p:nvSpPr>
        <p:spPr>
          <a:xfrm>
            <a:off x="5166360" y="1737360"/>
            <a:ext cx="6476695" cy="4345114"/>
          </a:xfrm>
          <a:prstGeom prst="roundRect">
            <a:avLst>
              <a:gd name="adj" fmla="val 2104"/>
            </a:avLst>
          </a:prstGeom>
          <a:solidFill>
            <a:schemeClr val="bg2"/>
          </a:solidFill>
          <a:ln w="9525">
            <a:solidFill>
              <a:schemeClr val="accent6">
                <a:alpha val="30000"/>
              </a:schemeClr>
            </a:solidFill>
            <a:prstDash val="solid"/>
          </a:ln>
          <a:effectLst>
            <a:outerShdw sx="100000" sy="100000" kx="0" ky="0" algn="bl" rotWithShape="0" blurRad="203200" dist="50800" dir="5400000">
              <a:srgbClr val="0B1F3A">
                <a:alpha val="18000"/>
              </a:srgbClr>
            </a:outerShdw>
          </a:effectLst>
        </p:spPr>
      </p:sp>
      <p:sp>
        <p:nvSpPr>
          <p:cNvPr id="29" name="lower court dot 1"/>
          <p:cNvSpPr/>
          <p:nvPr/>
        </p:nvSpPr>
        <p:spPr>
          <a:xfrm>
            <a:off x="5321808" y="1851660"/>
            <a:ext cx="82296" cy="82296"/>
          </a:xfrm>
          <a:prstGeom prst="ellipse">
            <a:avLst/>
          </a:prstGeom>
          <a:solidFill>
            <a:schemeClr val="accent6">
              <a:alpha val="55000"/>
            </a:schemeClr>
          </a:solidFill>
          <a:ln/>
        </p:spPr>
      </p:sp>
      <p:sp>
        <p:nvSpPr>
          <p:cNvPr id="30" name="lower court dot 2"/>
          <p:cNvSpPr/>
          <p:nvPr/>
        </p:nvSpPr>
        <p:spPr>
          <a:xfrm>
            <a:off x="5458968" y="1851660"/>
            <a:ext cx="82296" cy="82296"/>
          </a:xfrm>
          <a:prstGeom prst="ellipse">
            <a:avLst/>
          </a:prstGeom>
          <a:solidFill>
            <a:schemeClr val="accent6">
              <a:alpha val="55000"/>
            </a:schemeClr>
          </a:solidFill>
          <a:ln/>
        </p:spPr>
      </p:sp>
      <p:sp>
        <p:nvSpPr>
          <p:cNvPr id="31" name="lower court dot 3"/>
          <p:cNvSpPr/>
          <p:nvPr/>
        </p:nvSpPr>
        <p:spPr>
          <a:xfrm>
            <a:off x="5596128" y="1851660"/>
            <a:ext cx="82296" cy="82296"/>
          </a:xfrm>
          <a:prstGeom prst="ellipse">
            <a:avLst/>
          </a:prstGeom>
          <a:solidFill>
            <a:schemeClr val="accent6">
              <a:alpha val="55000"/>
            </a:schemeClr>
          </a:solidFill>
          <a:ln/>
        </p:spPr>
      </p:sp>
      <p:sp>
        <p:nvSpPr>
          <p:cNvPr id="32" name="lower court url"/>
          <p:cNvSpPr txBox="1"/>
          <p:nvPr/>
        </p:nvSpPr>
        <p:spPr>
          <a:xfrm>
            <a:off x="6915068" y="1792224"/>
            <a:ext cx="2979280" cy="201168"/>
          </a:xfrm>
          <a:prstGeom prst="roundRect">
            <a:avLst>
              <a:gd name="adj" fmla="val 50000"/>
            </a:avLst>
          </a:prstGeom>
          <a:solidFill>
            <a:schemeClr val="bg1"/>
          </a:solidFill>
          <a:ln/>
        </p:spPr>
        <p:txBody>
          <a:bodyPr wrap="square" lIns="0" tIns="0" rIns="0" bIns="0" rtlCol="0" anchor="ctr"/>
          <a:lstStyle/>
          <a:p>
            <a:pPr algn="ctr" indent="0" marL="0">
              <a:buNone/>
            </a:pPr>
            <a:r>
              <a:rPr lang="en-US" sz="1000" dirty="0">
                <a:solidFill>
                  <a:schemeClr val="accent6"/>
                </a:solidFill>
              </a:rPr>
              <a:t>lms.skoder.co/modules/FR-13</a:t>
            </a:r>
            <a:endParaRPr lang="en-US" sz="1000" dirty="0"/>
          </a:p>
        </p:txBody>
      </p:sp>
      <p:pic>
        <p:nvPicPr>
          <p:cNvPr id="33" name="lower court screenshot" descr="Lower Court Suit Management list in the live system">    </p:cNvPr>
          <p:cNvPicPr>
            <a:picLocks noChangeAspect="1"/>
          </p:cNvPicPr>
          <p:nvPr/>
        </p:nvPicPr>
        <p:blipFill>
          <a:blip r:embed="rId7"/>
          <a:stretch>
            <a:fillRect/>
          </a:stretch>
        </p:blipFill>
        <p:spPr>
          <a:xfrm>
            <a:off x="5221224" y="2048256"/>
            <a:ext cx="6366967" cy="3979354"/>
          </a:xfrm>
          <a:prstGeom prst="rect">
            <a:avLst/>
          </a:prstGeom>
        </p:spPr>
      </p:pic>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76656"/>
          </a:xfrm>
          <a:prstGeom prst="rect">
            <a:avLst/>
          </a:prstGeom>
          <a:noFill/>
          <a:ln/>
        </p:spPr>
        <p:txBody>
          <a:bodyPr wrap="square" lIns="0" tIns="0" rIns="0" bIns="0" rtlCol="0" anchor="ctr"/>
          <a:lstStyle/>
          <a:p>
            <a:pPr algn="l" indent="0" marL="0">
              <a:buNone/>
            </a:pPr>
            <a:r>
              <a:rPr lang="en-US" sz="3600" b="1" dirty="0">
                <a:solidFill>
                  <a:schemeClr val="tx2"/>
                </a:solidFill>
              </a:rPr>
              <a:t>From First Notice to Recovery</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algn="l" indent="0" marL="0">
              <a:buNone/>
            </a:pPr>
            <a:r>
              <a:rPr lang="en-US" sz="1600" dirty="0">
                <a:solidFill>
                  <a:schemeClr val="accent6"/>
                </a:solidFill>
              </a:rPr>
              <a:t>Pre-litigation and recovery workflows, connected to Core Banking data at every step</a:t>
            </a:r>
            <a:endParaRPr lang="en-US" sz="1600" dirty="0"/>
          </a:p>
        </p:txBody>
      </p:sp>
      <p:sp>
        <p:nvSpPr>
          <p:cNvPr id="4" name="form caption"/>
          <p:cNvSpPr txBox="1"/>
          <p:nvPr/>
        </p:nvSpPr>
        <p:spPr>
          <a:xfrm>
            <a:off x="548640" y="1920240"/>
            <a:ext cx="5806440" cy="274320"/>
          </a:xfrm>
          <a:prstGeom prst="rect">
            <a:avLst/>
          </a:prstGeom>
          <a:noFill/>
          <a:ln/>
        </p:spPr>
        <p:txBody>
          <a:bodyPr wrap="square" lIns="0" tIns="0" rIns="0" bIns="0" rtlCol="0" anchor="t"/>
          <a:lstStyle/>
          <a:p>
            <a:pPr indent="0" marL="0">
              <a:buNone/>
            </a:pPr>
            <a:r>
              <a:rPr lang="en-US" sz="1300" b="1" dirty="0">
                <a:solidFill>
                  <a:schemeClr val="accent1"/>
                </a:solidFill>
              </a:rPr>
              <a:t>1st Legal Notice — branch entry in the live system</a:t>
            </a:r>
            <a:endParaRPr lang="en-US" sz="1300" dirty="0"/>
          </a:p>
        </p:txBody>
      </p:sp>
      <p:sp>
        <p:nvSpPr>
          <p:cNvPr id="5" name="notice form card"/>
          <p:cNvSpPr/>
          <p:nvPr/>
        </p:nvSpPr>
        <p:spPr>
          <a:xfrm>
            <a:off x="548640" y="2267712"/>
            <a:ext cx="5806440" cy="3127874"/>
          </a:xfrm>
          <a:prstGeom prst="roundRect">
            <a:avLst>
              <a:gd name="adj" fmla="val 2631"/>
            </a:avLst>
          </a:prstGeom>
          <a:solidFill>
            <a:schemeClr val="bg1"/>
          </a:solidFill>
          <a:ln/>
          <a:effectLst>
            <a:outerShdw sx="100000" sy="100000" kx="0" ky="0" algn="bl" rotWithShape="0" blurRad="203200" dist="50800" dir="5400000">
              <a:srgbClr val="0B1F3A">
                <a:alpha val="20000"/>
              </a:srgbClr>
            </a:outerShdw>
          </a:effectLst>
        </p:spPr>
      </p:sp>
      <p:pic>
        <p:nvPicPr>
          <p:cNvPr id="6" name="notice form screenshot" descr="New legal notice form filled for a corporate borrower">    </p:cNvPr>
          <p:cNvPicPr>
            <a:picLocks noChangeAspect="1"/>
          </p:cNvPicPr>
          <p:nvPr/>
        </p:nvPicPr>
        <p:blipFill>
          <a:blip r:embed="rId1"/>
          <a:stretch>
            <a:fillRect/>
          </a:stretch>
        </p:blipFill>
        <p:spPr>
          <a:xfrm>
            <a:off x="548640" y="2267712"/>
            <a:ext cx="5806440" cy="3127874"/>
          </a:xfrm>
          <a:prstGeom prst="rect">
            <a:avLst/>
          </a:prstGeom>
        </p:spPr>
      </p:pic>
      <p:sp>
        <p:nvSpPr>
          <p:cNvPr id="7" name="form note"/>
          <p:cNvSpPr txBox="1"/>
          <p:nvPr/>
        </p:nvSpPr>
        <p:spPr>
          <a:xfrm>
            <a:off x="548640" y="5505314"/>
            <a:ext cx="5806440" cy="237744"/>
          </a:xfrm>
          <a:prstGeom prst="rect">
            <a:avLst/>
          </a:prstGeom>
          <a:noFill/>
          <a:ln/>
        </p:spPr>
        <p:txBody>
          <a:bodyPr wrap="square" lIns="0" tIns="0" rIns="0" bIns="0" rtlCol="0" anchor="t"/>
          <a:lstStyle/>
          <a:p>
            <a:pPr indent="0" marL="0">
              <a:buNone/>
            </a:pPr>
            <a:r>
              <a:rPr lang="en-US" sz="1100" i="1" dirty="0">
                <a:solidFill>
                  <a:schemeClr val="accent6"/>
                </a:solidFill>
              </a:rPr>
              <a:t>Saved as a draft until a checker verifies it</a:t>
            </a:r>
            <a:endParaRPr lang="en-US" sz="1100" dirty="0"/>
          </a:p>
        </p:txBody>
      </p:sp>
      <p:sp>
        <p:nvSpPr>
          <p:cNvPr id="8" name="prelit card"/>
          <p:cNvSpPr/>
          <p:nvPr/>
        </p:nvSpPr>
        <p:spPr>
          <a:xfrm>
            <a:off x="6675120" y="1737360"/>
            <a:ext cx="4967935" cy="2011680"/>
          </a:xfrm>
          <a:prstGeom prst="roundRect">
            <a:avLst>
              <a:gd name="adj" fmla="val 6364"/>
            </a:avLst>
          </a:prstGeom>
          <a:solidFill>
            <a:schemeClr val="bg2"/>
          </a:solidFill>
          <a:ln/>
        </p:spPr>
      </p:sp>
      <p:sp>
        <p:nvSpPr>
          <p:cNvPr id="9" name="prelit icon circle"/>
          <p:cNvSpPr/>
          <p:nvPr/>
        </p:nvSpPr>
        <p:spPr>
          <a:xfrm>
            <a:off x="6903720" y="1938528"/>
            <a:ext cx="457200" cy="457200"/>
          </a:xfrm>
          <a:prstGeom prst="ellipse">
            <a:avLst/>
          </a:prstGeom>
          <a:solidFill>
            <a:schemeClr val="accent1"/>
          </a:solidFill>
          <a:ln/>
        </p:spPr>
      </p:sp>
      <p:pic>
        <p:nvPicPr>
          <p:cNvPr id="10" name="prelit icon glyph" descr="bell icon">    </p:cNvPr>
          <p:cNvPicPr>
            <a:picLocks noChangeAspect="1"/>
          </p:cNvPicPr>
          <p:nvPr/>
        </p:nvPicPr>
        <p:blipFill>
          <a:blip r:embed="rId2"/>
          <a:stretch>
            <a:fillRect/>
          </a:stretch>
        </p:blipFill>
        <p:spPr>
          <a:xfrm>
            <a:off x="7013448" y="2048256"/>
            <a:ext cx="237744" cy="237744"/>
          </a:xfrm>
          <a:prstGeom prst="rect">
            <a:avLst/>
          </a:prstGeom>
        </p:spPr>
      </p:pic>
      <p:sp>
        <p:nvSpPr>
          <p:cNvPr id="11" name="prelit title"/>
          <p:cNvSpPr txBox="1"/>
          <p:nvPr/>
        </p:nvSpPr>
        <p:spPr>
          <a:xfrm>
            <a:off x="7498080" y="1984248"/>
            <a:ext cx="3962095" cy="365760"/>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Pre-Litigation</a:t>
            </a:r>
            <a:endParaRPr lang="en-US" sz="1700" dirty="0"/>
          </a:p>
        </p:txBody>
      </p:sp>
      <p:sp>
        <p:nvSpPr>
          <p:cNvPr id="12" name="prelit list"/>
          <p:cNvSpPr txBox="1"/>
          <p:nvPr/>
        </p:nvSpPr>
        <p:spPr>
          <a:xfrm>
            <a:off x="6949440" y="2560320"/>
            <a:ext cx="4510735" cy="10515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1st legal &amp; reminder notices, CBS customer lookup</a:t>
            </a:r>
            <a:endParaRPr lang="en-US" sz="1400" dirty="0"/>
          </a:p>
          <a:p>
            <a:pPr marL="177800" indent="-177800">
              <a:spcAft>
                <a:spcPts val="600"/>
              </a:spcAft>
              <a:buSzPct val="100000"/>
              <a:buChar char="•"/>
            </a:pPr>
            <a:r>
              <a:rPr lang="en-US" sz="1400" dirty="0">
                <a:solidFill>
                  <a:schemeClr val="tx1"/>
                </a:solidFill>
              </a:rPr>
              <a:t>Case merit analysis with security documents</a:t>
            </a:r>
            <a:endParaRPr lang="en-US" sz="1400" dirty="0"/>
          </a:p>
          <a:p>
            <a:pPr marL="177800" indent="-177800">
              <a:spcAft>
                <a:spcPts val="600"/>
              </a:spcAft>
              <a:buSzPct val="100000"/>
              <a:buChar char="•"/>
            </a:pPr>
            <a:r>
              <a:rPr lang="en-US" sz="1400" dirty="0">
                <a:solidFill>
                  <a:schemeClr val="tx1"/>
                </a:solidFill>
              </a:rPr>
              <a:t>Land/property vetting with TAT and escalation</a:t>
            </a:r>
            <a:endParaRPr lang="en-US" sz="1400" dirty="0"/>
          </a:p>
        </p:txBody>
      </p:sp>
      <p:sp>
        <p:nvSpPr>
          <p:cNvPr id="13" name="recovery card"/>
          <p:cNvSpPr/>
          <p:nvPr/>
        </p:nvSpPr>
        <p:spPr>
          <a:xfrm>
            <a:off x="6675120" y="3931920"/>
            <a:ext cx="4967935" cy="2212848"/>
          </a:xfrm>
          <a:prstGeom prst="roundRect">
            <a:avLst>
              <a:gd name="adj" fmla="val 5785"/>
            </a:avLst>
          </a:prstGeom>
          <a:solidFill>
            <a:schemeClr val="bg2"/>
          </a:solidFill>
          <a:ln/>
        </p:spPr>
      </p:sp>
      <p:sp>
        <p:nvSpPr>
          <p:cNvPr id="14" name="recovery icon circle"/>
          <p:cNvSpPr/>
          <p:nvPr/>
        </p:nvSpPr>
        <p:spPr>
          <a:xfrm>
            <a:off x="6903720" y="4133088"/>
            <a:ext cx="457200" cy="457200"/>
          </a:xfrm>
          <a:prstGeom prst="ellipse">
            <a:avLst/>
          </a:prstGeom>
          <a:solidFill>
            <a:schemeClr val="accent1"/>
          </a:solidFill>
          <a:ln/>
        </p:spPr>
      </p:sp>
      <p:pic>
        <p:nvPicPr>
          <p:cNvPr id="15" name="recovery icon glyph" descr="wallet icon">    </p:cNvPr>
          <p:cNvPicPr>
            <a:picLocks noChangeAspect="1"/>
          </p:cNvPicPr>
          <p:nvPr/>
        </p:nvPicPr>
        <p:blipFill>
          <a:blip r:embed="rId3"/>
          <a:stretch>
            <a:fillRect/>
          </a:stretch>
        </p:blipFill>
        <p:spPr>
          <a:xfrm>
            <a:off x="7013448" y="4242816"/>
            <a:ext cx="237744" cy="237744"/>
          </a:xfrm>
          <a:prstGeom prst="rect">
            <a:avLst/>
          </a:prstGeom>
        </p:spPr>
      </p:pic>
      <p:sp>
        <p:nvSpPr>
          <p:cNvPr id="16" name="recovery title"/>
          <p:cNvSpPr txBox="1"/>
          <p:nvPr/>
        </p:nvSpPr>
        <p:spPr>
          <a:xfrm>
            <a:off x="7498080" y="4178808"/>
            <a:ext cx="3962095" cy="365760"/>
          </a:xfrm>
          <a:prstGeom prst="rect">
            <a:avLst/>
          </a:prstGeom>
          <a:noFill/>
          <a:ln/>
        </p:spPr>
        <p:txBody>
          <a:bodyPr wrap="square" lIns="0" tIns="0" rIns="0" bIns="0" rtlCol="0" anchor="ctr"/>
          <a:lstStyle/>
          <a:p>
            <a:pPr indent="0" marL="0">
              <a:buNone/>
            </a:pPr>
            <a:r>
              <a:rPr lang="en-US" sz="1700" b="1" dirty="0">
                <a:solidFill>
                  <a:schemeClr val="tx1"/>
                </a:solidFill>
                <a:latin typeface="+mj-lt" pitchFamily="34" charset="0"/>
                <a:ea typeface="+mj-lt" pitchFamily="34" charset="-122"/>
                <a:cs typeface="+mj-lt" pitchFamily="34" charset="-120"/>
              </a:rPr>
              <a:t>Recovery &amp; Finance</a:t>
            </a:r>
            <a:endParaRPr lang="en-US" sz="1700" dirty="0"/>
          </a:p>
        </p:txBody>
      </p:sp>
      <p:sp>
        <p:nvSpPr>
          <p:cNvPr id="17" name="recovery list"/>
          <p:cNvSpPr txBox="1"/>
          <p:nvPr/>
        </p:nvSpPr>
        <p:spPr>
          <a:xfrm>
            <a:off x="6949440" y="4754880"/>
            <a:ext cx="4510735" cy="1252728"/>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1"/>
                </a:solidFill>
              </a:rPr>
              <a:t>Auctions with statutory publication copies</a:t>
            </a:r>
            <a:endParaRPr lang="en-US" sz="1400" dirty="0"/>
          </a:p>
          <a:p>
            <a:pPr marL="177800" indent="-177800">
              <a:spcAft>
                <a:spcPts val="600"/>
              </a:spcAft>
              <a:buSzPct val="100000"/>
              <a:buChar char="•"/>
            </a:pPr>
            <a:r>
              <a:rPr lang="en-US" sz="1400" dirty="0">
                <a:solidFill>
                  <a:schemeClr val="tx1"/>
                </a:solidFill>
              </a:rPr>
              <a:t>CBS-based account statements &amp; Jari certificates</a:t>
            </a:r>
            <a:endParaRPr lang="en-US" sz="1400" dirty="0"/>
          </a:p>
          <a:p>
            <a:pPr marL="177800" indent="-177800">
              <a:spcAft>
                <a:spcPts val="600"/>
              </a:spcAft>
              <a:buSzPct val="100000"/>
              <a:buChar char="•"/>
            </a:pPr>
            <a:r>
              <a:rPr lang="en-US" sz="1400" dirty="0">
                <a:solidFill>
                  <a:schemeClr val="tx1"/>
                </a:solidFill>
              </a:rPr>
              <a:t>Lawyer, court &amp; publication bill disbursement</a:t>
            </a:r>
            <a:endParaRPr lang="en-US" sz="1400" dirty="0"/>
          </a:p>
          <a:p>
            <a:pPr marL="177800" indent="-177800">
              <a:spcAft>
                <a:spcPts val="600"/>
              </a:spcAft>
              <a:buSzPct val="100000"/>
              <a:buChar char="•"/>
            </a:pPr>
            <a:r>
              <a:rPr lang="en-US" sz="1400" dirty="0">
                <a:solidFill>
                  <a:schemeClr val="tx1"/>
                </a:solidFill>
              </a:rPr>
              <a:t>Court fee return and adjustment</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76656"/>
          </a:xfrm>
          <a:prstGeom prst="rect">
            <a:avLst/>
          </a:prstGeom>
          <a:noFill/>
          <a:ln/>
        </p:spPr>
        <p:txBody>
          <a:bodyPr wrap="square" lIns="0" tIns="0" rIns="0" bIns="0" rtlCol="0" anchor="ctr"/>
          <a:lstStyle/>
          <a:p>
            <a:pPr algn="l" indent="0" marL="0">
              <a:buNone/>
            </a:pPr>
            <a:r>
              <a:rPr lang="en-US" sz="3600" b="1" dirty="0">
                <a:solidFill>
                  <a:schemeClr val="tx2"/>
                </a:solidFill>
              </a:rPr>
              <a:t>Customer 360° View</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algn="l" indent="0" marL="0">
              <a:buNone/>
            </a:pPr>
            <a:r>
              <a:rPr lang="en-US" sz="1600" dirty="0">
                <a:solidFill>
                  <a:schemeClr val="accent6"/>
                </a:solidFill>
              </a:rPr>
              <a:t>Every case, document, payment and interaction for a borrower — on a single screen (RFP §8.27)</a:t>
            </a:r>
            <a:endParaRPr lang="en-US" sz="1600" dirty="0"/>
          </a:p>
        </p:txBody>
      </p:sp>
      <p:sp>
        <p:nvSpPr>
          <p:cNvPr id="4" name="customer 360 frame"/>
          <p:cNvSpPr/>
          <p:nvPr/>
        </p:nvSpPr>
        <p:spPr>
          <a:xfrm>
            <a:off x="548640" y="1737360"/>
            <a:ext cx="6576365" cy="4407408"/>
          </a:xfrm>
          <a:prstGeom prst="roundRect">
            <a:avLst>
              <a:gd name="adj" fmla="val 2075"/>
            </a:avLst>
          </a:prstGeom>
          <a:solidFill>
            <a:schemeClr val="bg2"/>
          </a:solidFill>
          <a:ln w="9525">
            <a:solidFill>
              <a:schemeClr val="accent6">
                <a:alpha val="30000"/>
              </a:schemeClr>
            </a:solidFill>
            <a:prstDash val="solid"/>
          </a:ln>
          <a:effectLst>
            <a:outerShdw sx="100000" sy="100000" kx="0" ky="0" algn="bl" rotWithShape="0" blurRad="203200" dist="50800" dir="5400000">
              <a:srgbClr val="0B1F3A">
                <a:alpha val="18000"/>
              </a:srgbClr>
            </a:outerShdw>
          </a:effectLst>
        </p:spPr>
      </p:sp>
      <p:sp>
        <p:nvSpPr>
          <p:cNvPr id="5" name="customer 360 dot 1"/>
          <p:cNvSpPr/>
          <p:nvPr/>
        </p:nvSpPr>
        <p:spPr>
          <a:xfrm>
            <a:off x="704088" y="1851660"/>
            <a:ext cx="82296" cy="82296"/>
          </a:xfrm>
          <a:prstGeom prst="ellipse">
            <a:avLst/>
          </a:prstGeom>
          <a:solidFill>
            <a:schemeClr val="accent6">
              <a:alpha val="55000"/>
            </a:schemeClr>
          </a:solidFill>
          <a:ln/>
        </p:spPr>
      </p:sp>
      <p:sp>
        <p:nvSpPr>
          <p:cNvPr id="6" name="customer 360 dot 2"/>
          <p:cNvSpPr/>
          <p:nvPr/>
        </p:nvSpPr>
        <p:spPr>
          <a:xfrm>
            <a:off x="841248" y="1851660"/>
            <a:ext cx="82296" cy="82296"/>
          </a:xfrm>
          <a:prstGeom prst="ellipse">
            <a:avLst/>
          </a:prstGeom>
          <a:solidFill>
            <a:schemeClr val="accent6">
              <a:alpha val="55000"/>
            </a:schemeClr>
          </a:solidFill>
          <a:ln/>
        </p:spPr>
      </p:sp>
      <p:sp>
        <p:nvSpPr>
          <p:cNvPr id="7" name="customer 360 dot 3"/>
          <p:cNvSpPr/>
          <p:nvPr/>
        </p:nvSpPr>
        <p:spPr>
          <a:xfrm>
            <a:off x="978408" y="1851660"/>
            <a:ext cx="82296" cy="82296"/>
          </a:xfrm>
          <a:prstGeom prst="ellipse">
            <a:avLst/>
          </a:prstGeom>
          <a:solidFill>
            <a:schemeClr val="accent6">
              <a:alpha val="55000"/>
            </a:schemeClr>
          </a:solidFill>
          <a:ln/>
        </p:spPr>
      </p:sp>
      <p:sp>
        <p:nvSpPr>
          <p:cNvPr id="8" name="customer 360 url"/>
          <p:cNvSpPr txBox="1"/>
          <p:nvPr/>
        </p:nvSpPr>
        <p:spPr>
          <a:xfrm>
            <a:off x="2324258" y="1792224"/>
            <a:ext cx="3025128" cy="201168"/>
          </a:xfrm>
          <a:prstGeom prst="roundRect">
            <a:avLst>
              <a:gd name="adj" fmla="val 50000"/>
            </a:avLst>
          </a:prstGeom>
          <a:solidFill>
            <a:schemeClr val="bg1"/>
          </a:solidFill>
          <a:ln/>
        </p:spPr>
        <p:txBody>
          <a:bodyPr wrap="square" lIns="0" tIns="0" rIns="0" bIns="0" rtlCol="0" anchor="ctr"/>
          <a:lstStyle/>
          <a:p>
            <a:pPr algn="ctr" indent="0" marL="0">
              <a:buNone/>
            </a:pPr>
            <a:r>
              <a:rPr lang="en-US" sz="1000" dirty="0">
                <a:solidFill>
                  <a:schemeClr val="accent6"/>
                </a:solidFill>
              </a:rPr>
              <a:t>lms.skoder.co/customer-360</a:t>
            </a:r>
            <a:endParaRPr lang="en-US" sz="1000" dirty="0"/>
          </a:p>
        </p:txBody>
      </p:sp>
      <p:pic>
        <p:nvPicPr>
          <p:cNvPr id="9" name="customer 360 screenshot" descr="Customer 360 view of a corporate borrower with three linked legal cases">    </p:cNvPr>
          <p:cNvPicPr>
            <a:picLocks noChangeAspect="1"/>
          </p:cNvPicPr>
          <p:nvPr/>
        </p:nvPicPr>
        <p:blipFill>
          <a:blip r:embed="rId1"/>
          <a:stretch>
            <a:fillRect/>
          </a:stretch>
        </p:blipFill>
        <p:spPr>
          <a:xfrm>
            <a:off x="603504" y="2048256"/>
            <a:ext cx="6466637" cy="4041648"/>
          </a:xfrm>
          <a:prstGeom prst="rect">
            <a:avLst/>
          </a:prstGeom>
        </p:spPr>
      </p:pic>
      <p:sp>
        <p:nvSpPr>
          <p:cNvPr id="10" name="search heading"/>
          <p:cNvSpPr txBox="1"/>
          <p:nvPr/>
        </p:nvSpPr>
        <p:spPr>
          <a:xfrm>
            <a:off x="7452360" y="1737360"/>
            <a:ext cx="4190695" cy="310896"/>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Search by</a:t>
            </a:r>
            <a:endParaRPr lang="en-US" sz="1500" dirty="0"/>
          </a:p>
        </p:txBody>
      </p:sp>
      <p:sp>
        <p:nvSpPr>
          <p:cNvPr id="11" name="search key Name"/>
          <p:cNvSpPr txBox="1"/>
          <p:nvPr/>
        </p:nvSpPr>
        <p:spPr>
          <a:xfrm>
            <a:off x="7452360" y="2148840"/>
            <a:ext cx="1311554" cy="329184"/>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Name</a:t>
            </a:r>
            <a:endParaRPr lang="en-US" sz="1200" dirty="0"/>
          </a:p>
        </p:txBody>
      </p:sp>
      <p:sp>
        <p:nvSpPr>
          <p:cNvPr id="12" name="search key Account no."/>
          <p:cNvSpPr txBox="1"/>
          <p:nvPr/>
        </p:nvSpPr>
        <p:spPr>
          <a:xfrm>
            <a:off x="8891930" y="2148840"/>
            <a:ext cx="1311554" cy="329184"/>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Account no.</a:t>
            </a:r>
            <a:endParaRPr lang="en-US" sz="1200" dirty="0"/>
          </a:p>
        </p:txBody>
      </p:sp>
      <p:sp>
        <p:nvSpPr>
          <p:cNvPr id="13" name="search key Phone"/>
          <p:cNvSpPr txBox="1"/>
          <p:nvPr/>
        </p:nvSpPr>
        <p:spPr>
          <a:xfrm>
            <a:off x="10331501" y="2148840"/>
            <a:ext cx="1311554" cy="329184"/>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Phone</a:t>
            </a:r>
            <a:endParaRPr lang="en-US" sz="1200" dirty="0"/>
          </a:p>
        </p:txBody>
      </p:sp>
      <p:sp>
        <p:nvSpPr>
          <p:cNvPr id="14" name="search key NID / TIN"/>
          <p:cNvSpPr txBox="1"/>
          <p:nvPr/>
        </p:nvSpPr>
        <p:spPr>
          <a:xfrm>
            <a:off x="7452360" y="2587752"/>
            <a:ext cx="1311554" cy="329184"/>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NID / TIN</a:t>
            </a:r>
            <a:endParaRPr lang="en-US" sz="1200" dirty="0"/>
          </a:p>
        </p:txBody>
      </p:sp>
      <p:sp>
        <p:nvSpPr>
          <p:cNvPr id="15" name="search key Branch"/>
          <p:cNvSpPr txBox="1"/>
          <p:nvPr/>
        </p:nvSpPr>
        <p:spPr>
          <a:xfrm>
            <a:off x="8891930" y="2587752"/>
            <a:ext cx="1311554" cy="329184"/>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Branch</a:t>
            </a:r>
            <a:endParaRPr lang="en-US" sz="1200" dirty="0"/>
          </a:p>
        </p:txBody>
      </p:sp>
      <p:sp>
        <p:nvSpPr>
          <p:cNvPr id="16" name="search key Case no."/>
          <p:cNvSpPr txBox="1"/>
          <p:nvPr/>
        </p:nvSpPr>
        <p:spPr>
          <a:xfrm>
            <a:off x="10331501" y="2587752"/>
            <a:ext cx="1311554" cy="329184"/>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Case no.</a:t>
            </a:r>
            <a:endParaRPr lang="en-US" sz="1200" dirty="0"/>
          </a:p>
        </p:txBody>
      </p:sp>
      <p:sp>
        <p:nvSpPr>
          <p:cNvPr id="17" name="view heading"/>
          <p:cNvSpPr txBox="1"/>
          <p:nvPr/>
        </p:nvSpPr>
        <p:spPr>
          <a:xfrm>
            <a:off x="7452360" y="3154680"/>
            <a:ext cx="4190695" cy="310896"/>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Consolidated view</a:t>
            </a:r>
            <a:endParaRPr lang="en-US" sz="1500" dirty="0"/>
          </a:p>
        </p:txBody>
      </p:sp>
      <p:sp>
        <p:nvSpPr>
          <p:cNvPr id="18" name="view icon 1 circle"/>
          <p:cNvSpPr/>
          <p:nvPr/>
        </p:nvSpPr>
        <p:spPr>
          <a:xfrm>
            <a:off x="7452360" y="3584448"/>
            <a:ext cx="365760" cy="365760"/>
          </a:xfrm>
          <a:prstGeom prst="ellipse">
            <a:avLst/>
          </a:prstGeom>
          <a:solidFill>
            <a:schemeClr val="accent1"/>
          </a:solidFill>
          <a:ln/>
        </p:spPr>
      </p:sp>
      <p:pic>
        <p:nvPicPr>
          <p:cNvPr id="19" name="view icon 1 glyph" descr="user icon">    </p:cNvPr>
          <p:cNvPicPr>
            <a:picLocks noChangeAspect="1"/>
          </p:cNvPicPr>
          <p:nvPr/>
        </p:nvPicPr>
        <p:blipFill>
          <a:blip r:embed="rId2"/>
          <a:stretch>
            <a:fillRect/>
          </a:stretch>
        </p:blipFill>
        <p:spPr>
          <a:xfrm>
            <a:off x="7540142" y="3672230"/>
            <a:ext cx="190195" cy="190195"/>
          </a:xfrm>
          <a:prstGeom prst="rect">
            <a:avLst/>
          </a:prstGeom>
        </p:spPr>
      </p:pic>
      <p:sp>
        <p:nvSpPr>
          <p:cNvPr id="20" name="view item 1"/>
          <p:cNvSpPr txBox="1"/>
          <p:nvPr/>
        </p:nvSpPr>
        <p:spPr>
          <a:xfrm>
            <a:off x="7955280" y="3584448"/>
            <a:ext cx="3687775" cy="365760"/>
          </a:xfrm>
          <a:prstGeom prst="rect">
            <a:avLst/>
          </a:prstGeom>
          <a:noFill/>
          <a:ln/>
        </p:spPr>
        <p:txBody>
          <a:bodyPr wrap="square" lIns="0" tIns="0" rIns="0" bIns="0" rtlCol="0" anchor="ctr"/>
          <a:lstStyle/>
          <a:p>
            <a:pPr indent="0" marL="0">
              <a:buNone/>
            </a:pPr>
            <a:r>
              <a:rPr lang="en-US" sz="1400" dirty="0">
                <a:solidFill>
                  <a:schemeClr val="tx1"/>
                </a:solidFill>
              </a:rPr>
              <a:t>Profile &amp; loan classification</a:t>
            </a:r>
            <a:endParaRPr lang="en-US" sz="1400" dirty="0"/>
          </a:p>
        </p:txBody>
      </p:sp>
      <p:sp>
        <p:nvSpPr>
          <p:cNvPr id="21" name="view icon 2 circle"/>
          <p:cNvSpPr/>
          <p:nvPr/>
        </p:nvSpPr>
        <p:spPr>
          <a:xfrm>
            <a:off x="7452360" y="4096512"/>
            <a:ext cx="365760" cy="365760"/>
          </a:xfrm>
          <a:prstGeom prst="ellipse">
            <a:avLst/>
          </a:prstGeom>
          <a:solidFill>
            <a:schemeClr val="accent1"/>
          </a:solidFill>
          <a:ln/>
        </p:spPr>
      </p:sp>
      <p:pic>
        <p:nvPicPr>
          <p:cNvPr id="22" name="view icon 2 glyph" descr="scale icon">    </p:cNvPr>
          <p:cNvPicPr>
            <a:picLocks noChangeAspect="1"/>
          </p:cNvPicPr>
          <p:nvPr/>
        </p:nvPicPr>
        <p:blipFill>
          <a:blip r:embed="rId3"/>
          <a:stretch>
            <a:fillRect/>
          </a:stretch>
        </p:blipFill>
        <p:spPr>
          <a:xfrm>
            <a:off x="7540142" y="4184294"/>
            <a:ext cx="190195" cy="190195"/>
          </a:xfrm>
          <a:prstGeom prst="rect">
            <a:avLst/>
          </a:prstGeom>
        </p:spPr>
      </p:pic>
      <p:sp>
        <p:nvSpPr>
          <p:cNvPr id="23" name="view item 2"/>
          <p:cNvSpPr txBox="1"/>
          <p:nvPr/>
        </p:nvSpPr>
        <p:spPr>
          <a:xfrm>
            <a:off x="7955280" y="4096512"/>
            <a:ext cx="3687775" cy="365760"/>
          </a:xfrm>
          <a:prstGeom prst="rect">
            <a:avLst/>
          </a:prstGeom>
          <a:noFill/>
          <a:ln/>
        </p:spPr>
        <p:txBody>
          <a:bodyPr wrap="square" lIns="0" tIns="0" rIns="0" bIns="0" rtlCol="0" anchor="ctr"/>
          <a:lstStyle/>
          <a:p>
            <a:pPr indent="0" marL="0">
              <a:buNone/>
            </a:pPr>
            <a:r>
              <a:rPr lang="en-US" sz="1400" dirty="0">
                <a:solidFill>
                  <a:schemeClr val="tx1"/>
                </a:solidFill>
              </a:rPr>
              <a:t>All legal cases across courts</a:t>
            </a:r>
            <a:endParaRPr lang="en-US" sz="1400" dirty="0"/>
          </a:p>
        </p:txBody>
      </p:sp>
      <p:sp>
        <p:nvSpPr>
          <p:cNvPr id="24" name="view icon 3 circle"/>
          <p:cNvSpPr/>
          <p:nvPr/>
        </p:nvSpPr>
        <p:spPr>
          <a:xfrm>
            <a:off x="7452360" y="4608576"/>
            <a:ext cx="365760" cy="365760"/>
          </a:xfrm>
          <a:prstGeom prst="ellipse">
            <a:avLst/>
          </a:prstGeom>
          <a:solidFill>
            <a:schemeClr val="accent1"/>
          </a:solidFill>
          <a:ln/>
        </p:spPr>
      </p:sp>
      <p:pic>
        <p:nvPicPr>
          <p:cNvPr id="25" name="view icon 3 glyph" descr="file text icon">    </p:cNvPr>
          <p:cNvPicPr>
            <a:picLocks noChangeAspect="1"/>
          </p:cNvPicPr>
          <p:nvPr/>
        </p:nvPicPr>
        <p:blipFill>
          <a:blip r:embed="rId4"/>
          <a:stretch>
            <a:fillRect/>
          </a:stretch>
        </p:blipFill>
        <p:spPr>
          <a:xfrm>
            <a:off x="7540142" y="4696358"/>
            <a:ext cx="190195" cy="190195"/>
          </a:xfrm>
          <a:prstGeom prst="rect">
            <a:avLst/>
          </a:prstGeom>
        </p:spPr>
      </p:pic>
      <p:sp>
        <p:nvSpPr>
          <p:cNvPr id="26" name="view item 3"/>
          <p:cNvSpPr txBox="1"/>
          <p:nvPr/>
        </p:nvSpPr>
        <p:spPr>
          <a:xfrm>
            <a:off x="7955280" y="4608576"/>
            <a:ext cx="3687775" cy="365760"/>
          </a:xfrm>
          <a:prstGeom prst="rect">
            <a:avLst/>
          </a:prstGeom>
          <a:noFill/>
          <a:ln/>
        </p:spPr>
        <p:txBody>
          <a:bodyPr wrap="square" lIns="0" tIns="0" rIns="0" bIns="0" rtlCol="0" anchor="ctr"/>
          <a:lstStyle/>
          <a:p>
            <a:pPr indent="0" marL="0">
              <a:buNone/>
            </a:pPr>
            <a:r>
              <a:rPr lang="en-US" sz="1400" dirty="0">
                <a:solidFill>
                  <a:schemeClr val="tx1"/>
                </a:solidFill>
              </a:rPr>
              <a:t>Document history</a:t>
            </a:r>
            <a:endParaRPr lang="en-US" sz="1400" dirty="0"/>
          </a:p>
        </p:txBody>
      </p:sp>
      <p:sp>
        <p:nvSpPr>
          <p:cNvPr id="27" name="view icon 4 circle"/>
          <p:cNvSpPr/>
          <p:nvPr/>
        </p:nvSpPr>
        <p:spPr>
          <a:xfrm>
            <a:off x="7452360" y="5120640"/>
            <a:ext cx="365760" cy="365760"/>
          </a:xfrm>
          <a:prstGeom prst="ellipse">
            <a:avLst/>
          </a:prstGeom>
          <a:solidFill>
            <a:schemeClr val="accent1"/>
          </a:solidFill>
          <a:ln/>
        </p:spPr>
      </p:sp>
      <p:pic>
        <p:nvPicPr>
          <p:cNvPr id="28" name="view icon 4 glyph" descr="history icon">    </p:cNvPr>
          <p:cNvPicPr>
            <a:picLocks noChangeAspect="1"/>
          </p:cNvPicPr>
          <p:nvPr/>
        </p:nvPicPr>
        <p:blipFill>
          <a:blip r:embed="rId5"/>
          <a:stretch>
            <a:fillRect/>
          </a:stretch>
        </p:blipFill>
        <p:spPr>
          <a:xfrm>
            <a:off x="7540142" y="5208422"/>
            <a:ext cx="190195" cy="190195"/>
          </a:xfrm>
          <a:prstGeom prst="rect">
            <a:avLst/>
          </a:prstGeom>
        </p:spPr>
      </p:pic>
      <p:sp>
        <p:nvSpPr>
          <p:cNvPr id="29" name="view item 4"/>
          <p:cNvSpPr txBox="1"/>
          <p:nvPr/>
        </p:nvSpPr>
        <p:spPr>
          <a:xfrm>
            <a:off x="7955280" y="5120640"/>
            <a:ext cx="3687775" cy="365760"/>
          </a:xfrm>
          <a:prstGeom prst="rect">
            <a:avLst/>
          </a:prstGeom>
          <a:noFill/>
          <a:ln/>
        </p:spPr>
        <p:txBody>
          <a:bodyPr wrap="square" lIns="0" tIns="0" rIns="0" bIns="0" rtlCol="0" anchor="ctr"/>
          <a:lstStyle/>
          <a:p>
            <a:pPr indent="0" marL="0">
              <a:buNone/>
            </a:pPr>
            <a:r>
              <a:rPr lang="en-US" sz="1400" dirty="0">
                <a:solidFill>
                  <a:schemeClr val="tx1"/>
                </a:solidFill>
              </a:rPr>
              <a:t>Interaction history</a:t>
            </a:r>
            <a:endParaRPr lang="en-US" sz="1400" dirty="0"/>
          </a:p>
        </p:txBody>
      </p:sp>
      <p:sp>
        <p:nvSpPr>
          <p:cNvPr id="30" name="view icon 5 circle"/>
          <p:cNvSpPr/>
          <p:nvPr/>
        </p:nvSpPr>
        <p:spPr>
          <a:xfrm>
            <a:off x="7452360" y="5632704"/>
            <a:ext cx="365760" cy="365760"/>
          </a:xfrm>
          <a:prstGeom prst="ellipse">
            <a:avLst/>
          </a:prstGeom>
          <a:solidFill>
            <a:schemeClr val="accent1"/>
          </a:solidFill>
          <a:ln/>
        </p:spPr>
      </p:sp>
      <p:pic>
        <p:nvPicPr>
          <p:cNvPr id="31" name="view icon 5 glyph" descr="siren icon">    </p:cNvPr>
          <p:cNvPicPr>
            <a:picLocks noChangeAspect="1"/>
          </p:cNvPicPr>
          <p:nvPr/>
        </p:nvPicPr>
        <p:blipFill>
          <a:blip r:embed="rId6"/>
          <a:stretch>
            <a:fillRect/>
          </a:stretch>
        </p:blipFill>
        <p:spPr>
          <a:xfrm>
            <a:off x="7540142" y="5720486"/>
            <a:ext cx="190195" cy="190195"/>
          </a:xfrm>
          <a:prstGeom prst="rect">
            <a:avLst/>
          </a:prstGeom>
        </p:spPr>
      </p:pic>
      <p:sp>
        <p:nvSpPr>
          <p:cNvPr id="32" name="view item 5"/>
          <p:cNvSpPr txBox="1"/>
          <p:nvPr/>
        </p:nvSpPr>
        <p:spPr>
          <a:xfrm>
            <a:off x="7955280" y="5632704"/>
            <a:ext cx="3687775" cy="365760"/>
          </a:xfrm>
          <a:prstGeom prst="rect">
            <a:avLst/>
          </a:prstGeom>
          <a:noFill/>
          <a:ln/>
        </p:spPr>
        <p:txBody>
          <a:bodyPr wrap="square" lIns="0" tIns="0" rIns="0" bIns="0" rtlCol="0" anchor="ctr"/>
          <a:lstStyle/>
          <a:p>
            <a:pPr indent="0" marL="0">
              <a:buNone/>
            </a:pPr>
            <a:r>
              <a:rPr lang="en-US" sz="1400" dirty="0">
                <a:solidFill>
                  <a:schemeClr val="tx1"/>
                </a:solidFill>
              </a:rPr>
              <a:t>Arrest &amp; bail records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76656"/>
          </a:xfrm>
          <a:prstGeom prst="rect">
            <a:avLst/>
          </a:prstGeom>
          <a:noFill/>
          <a:ln/>
        </p:spPr>
        <p:txBody>
          <a:bodyPr wrap="square" lIns="0" tIns="0" rIns="0" bIns="0" rtlCol="0" anchor="ctr"/>
          <a:lstStyle/>
          <a:p>
            <a:pPr algn="l" indent="0" marL="0">
              <a:buNone/>
            </a:pPr>
            <a:r>
              <a:rPr lang="en-US" sz="3600" b="1" dirty="0">
                <a:solidFill>
                  <a:schemeClr val="tx2"/>
                </a:solidFill>
              </a:rPr>
              <a:t>Reports &amp; Regulatory MIS</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algn="l" indent="0" marL="0">
              <a:buNone/>
            </a:pPr>
            <a:r>
              <a:rPr lang="en-US" sz="1600" dirty="0">
                <a:solidFill>
                  <a:schemeClr val="accent6"/>
                </a:solidFill>
              </a:rPr>
              <a:t>48 reports across six categories — Bangladesh Bank formats generated on demand, not compiled by hand</a:t>
            </a:r>
            <a:endParaRPr lang="en-US" sz="1600" dirty="0"/>
          </a:p>
        </p:txBody>
      </p:sp>
      <p:sp>
        <p:nvSpPr>
          <p:cNvPr id="4" name="reports frame"/>
          <p:cNvSpPr/>
          <p:nvPr/>
        </p:nvSpPr>
        <p:spPr>
          <a:xfrm>
            <a:off x="5022799" y="1719072"/>
            <a:ext cx="6620256" cy="4434840"/>
          </a:xfrm>
          <a:prstGeom prst="roundRect">
            <a:avLst>
              <a:gd name="adj" fmla="val 2062"/>
            </a:avLst>
          </a:prstGeom>
          <a:solidFill>
            <a:schemeClr val="bg2"/>
          </a:solidFill>
          <a:ln w="9525">
            <a:solidFill>
              <a:schemeClr val="accent6">
                <a:alpha val="30000"/>
              </a:schemeClr>
            </a:solidFill>
            <a:prstDash val="solid"/>
          </a:ln>
          <a:effectLst>
            <a:outerShdw sx="100000" sy="100000" kx="0" ky="0" algn="bl" rotWithShape="0" blurRad="203200" dist="50800" dir="5400000">
              <a:srgbClr val="0B1F3A">
                <a:alpha val="18000"/>
              </a:srgbClr>
            </a:outerShdw>
          </a:effectLst>
        </p:spPr>
      </p:sp>
      <p:sp>
        <p:nvSpPr>
          <p:cNvPr id="5" name="reports dot 1"/>
          <p:cNvSpPr/>
          <p:nvPr/>
        </p:nvSpPr>
        <p:spPr>
          <a:xfrm>
            <a:off x="5178247" y="1833372"/>
            <a:ext cx="82296" cy="82296"/>
          </a:xfrm>
          <a:prstGeom prst="ellipse">
            <a:avLst/>
          </a:prstGeom>
          <a:solidFill>
            <a:schemeClr val="accent6">
              <a:alpha val="55000"/>
            </a:schemeClr>
          </a:solidFill>
          <a:ln/>
        </p:spPr>
      </p:sp>
      <p:sp>
        <p:nvSpPr>
          <p:cNvPr id="6" name="reports dot 2"/>
          <p:cNvSpPr/>
          <p:nvPr/>
        </p:nvSpPr>
        <p:spPr>
          <a:xfrm>
            <a:off x="5315407" y="1833372"/>
            <a:ext cx="82296" cy="82296"/>
          </a:xfrm>
          <a:prstGeom prst="ellipse">
            <a:avLst/>
          </a:prstGeom>
          <a:solidFill>
            <a:schemeClr val="accent6">
              <a:alpha val="55000"/>
            </a:schemeClr>
          </a:solidFill>
          <a:ln/>
        </p:spPr>
      </p:sp>
      <p:sp>
        <p:nvSpPr>
          <p:cNvPr id="7" name="reports dot 3"/>
          <p:cNvSpPr/>
          <p:nvPr/>
        </p:nvSpPr>
        <p:spPr>
          <a:xfrm>
            <a:off x="5452567" y="1833372"/>
            <a:ext cx="82296" cy="82296"/>
          </a:xfrm>
          <a:prstGeom prst="ellipse">
            <a:avLst/>
          </a:prstGeom>
          <a:solidFill>
            <a:schemeClr val="accent6">
              <a:alpha val="55000"/>
            </a:schemeClr>
          </a:solidFill>
          <a:ln/>
        </p:spPr>
      </p:sp>
      <p:sp>
        <p:nvSpPr>
          <p:cNvPr id="8" name="reports url"/>
          <p:cNvSpPr txBox="1"/>
          <p:nvPr/>
        </p:nvSpPr>
        <p:spPr>
          <a:xfrm>
            <a:off x="6810268" y="1773936"/>
            <a:ext cx="3045318" cy="201168"/>
          </a:xfrm>
          <a:prstGeom prst="roundRect">
            <a:avLst>
              <a:gd name="adj" fmla="val 50000"/>
            </a:avLst>
          </a:prstGeom>
          <a:solidFill>
            <a:schemeClr val="bg1"/>
          </a:solidFill>
          <a:ln/>
        </p:spPr>
        <p:txBody>
          <a:bodyPr wrap="square" lIns="0" tIns="0" rIns="0" bIns="0" rtlCol="0" anchor="ctr"/>
          <a:lstStyle/>
          <a:p>
            <a:pPr algn="ctr" indent="0" marL="0">
              <a:buNone/>
            </a:pPr>
            <a:r>
              <a:rPr lang="en-US" sz="1000" dirty="0">
                <a:solidFill>
                  <a:schemeClr val="accent6"/>
                </a:solidFill>
              </a:rPr>
              <a:t>lms.skoder.co/reports</a:t>
            </a:r>
            <a:endParaRPr lang="en-US" sz="1000" dirty="0"/>
          </a:p>
        </p:txBody>
      </p:sp>
      <p:pic>
        <p:nvPicPr>
          <p:cNvPr id="9" name="reports screenshot" descr="Reports and MIS screen showing Bangladesh Bank regulatory reports">    </p:cNvPr>
          <p:cNvPicPr>
            <a:picLocks noChangeAspect="1"/>
          </p:cNvPicPr>
          <p:nvPr/>
        </p:nvPicPr>
        <p:blipFill>
          <a:blip r:embed="rId1"/>
          <a:stretch>
            <a:fillRect/>
          </a:stretch>
        </p:blipFill>
        <p:spPr>
          <a:xfrm>
            <a:off x="5077663" y="2029968"/>
            <a:ext cx="6510528" cy="4069080"/>
          </a:xfrm>
          <a:prstGeom prst="rect">
            <a:avLst/>
          </a:prstGeom>
        </p:spPr>
      </p:pic>
      <p:sp>
        <p:nvSpPr>
          <p:cNvPr id="10" name="report count"/>
          <p:cNvSpPr txBox="1"/>
          <p:nvPr/>
        </p:nvSpPr>
        <p:spPr>
          <a:xfrm>
            <a:off x="548640" y="1691640"/>
            <a:ext cx="2011680" cy="914400"/>
          </a:xfrm>
          <a:prstGeom prst="rect">
            <a:avLst/>
          </a:prstGeom>
          <a:noFill/>
          <a:ln/>
        </p:spPr>
        <p:txBody>
          <a:bodyPr wrap="square" lIns="0" tIns="0" rIns="0" bIns="0" rtlCol="0" anchor="ctr"/>
          <a:lstStyle/>
          <a:p>
            <a:pPr indent="0" marL="0">
              <a:buNone/>
            </a:pPr>
            <a:r>
              <a:rPr lang="en-US" sz="6000" b="1" dirty="0">
                <a:solidFill>
                  <a:schemeClr val="accent1"/>
                </a:solidFill>
                <a:latin typeface="+mj-lt" pitchFamily="34" charset="0"/>
                <a:ea typeface="+mj-lt" pitchFamily="34" charset="-122"/>
                <a:cs typeface="+mj-lt" pitchFamily="34" charset="-120"/>
              </a:rPr>
              <a:t>48</a:t>
            </a:r>
            <a:endParaRPr lang="en-US" sz="6000" dirty="0"/>
          </a:p>
        </p:txBody>
      </p:sp>
      <p:sp>
        <p:nvSpPr>
          <p:cNvPr id="11" name="report count label"/>
          <p:cNvSpPr txBox="1"/>
          <p:nvPr/>
        </p:nvSpPr>
        <p:spPr>
          <a:xfrm>
            <a:off x="548640" y="2633472"/>
            <a:ext cx="4023360" cy="292608"/>
          </a:xfrm>
          <a:prstGeom prst="rect">
            <a:avLst/>
          </a:prstGeom>
          <a:noFill/>
          <a:ln/>
        </p:spPr>
        <p:txBody>
          <a:bodyPr wrap="square" lIns="0" tIns="0" rIns="0" bIns="0" rtlCol="0" anchor="t"/>
          <a:lstStyle/>
          <a:p>
            <a:pPr indent="0" marL="0">
              <a:buNone/>
            </a:pPr>
            <a:r>
              <a:rPr lang="en-US" sz="1500" dirty="0">
                <a:solidFill>
                  <a:schemeClr val="tx1"/>
                </a:solidFill>
              </a:rPr>
              <a:t>reports across six categories</a:t>
            </a:r>
            <a:endParaRPr lang="en-US" sz="1500" dirty="0"/>
          </a:p>
        </p:txBody>
      </p:sp>
      <p:sp>
        <p:nvSpPr>
          <p:cNvPr id="12" name="bb heading"/>
          <p:cNvSpPr txBox="1"/>
          <p:nvPr/>
        </p:nvSpPr>
        <p:spPr>
          <a:xfrm>
            <a:off x="548640" y="3127248"/>
            <a:ext cx="4023360" cy="292608"/>
          </a:xfrm>
          <a:prstGeom prst="rect">
            <a:avLst/>
          </a:prstGeom>
          <a:noFill/>
          <a:ln/>
        </p:spPr>
        <p:txBody>
          <a:bodyPr wrap="square" lIns="0" tIns="0" rIns="0" bIns="0" rtlCol="0" anchor="t"/>
          <a:lstStyle/>
          <a:p>
            <a:pPr indent="0" marL="0">
              <a:buNone/>
            </a:pPr>
            <a:r>
              <a:rPr lang="en-US" sz="1500" b="1" dirty="0">
                <a:solidFill>
                  <a:schemeClr val="tx1"/>
                </a:solidFill>
                <a:latin typeface="+mj-lt" pitchFamily="34" charset="0"/>
                <a:ea typeface="+mj-lt" pitchFamily="34" charset="-122"/>
                <a:cs typeface="+mj-lt" pitchFamily="34" charset="-120"/>
              </a:rPr>
              <a:t>Bangladesh Bank formats</a:t>
            </a:r>
            <a:endParaRPr lang="en-US" sz="1500" dirty="0"/>
          </a:p>
        </p:txBody>
      </p:sp>
      <p:sp>
        <p:nvSpPr>
          <p:cNvPr id="13" name="bb chip সংযোজনী-ক / খ / গ"/>
          <p:cNvSpPr txBox="1"/>
          <p:nvPr/>
        </p:nvSpPr>
        <p:spPr>
          <a:xfrm>
            <a:off x="548640" y="3547872"/>
            <a:ext cx="1828800" cy="347472"/>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latin typeface="Nirmala UI" pitchFamily="34" charset="0"/>
                <a:ea typeface="Nirmala UI" pitchFamily="34" charset="-122"/>
                <a:cs typeface="Nirmala UI" pitchFamily="34" charset="-120"/>
              </a:rPr>
              <a:t>সংযোজনী-ক / খ / গ</a:t>
            </a:r>
            <a:endParaRPr lang="en-US" sz="1200" dirty="0"/>
          </a:p>
        </p:txBody>
      </p:sp>
      <p:sp>
        <p:nvSpPr>
          <p:cNvPr id="14" name="bb chip RIT &amp;amp; BR-4"/>
          <p:cNvSpPr txBox="1"/>
          <p:nvPr/>
        </p:nvSpPr>
        <p:spPr>
          <a:xfrm>
            <a:off x="2487168" y="3547872"/>
            <a:ext cx="1188720" cy="347472"/>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RIT &amp; BR-4</a:t>
            </a:r>
            <a:endParaRPr lang="en-US" sz="1200" dirty="0"/>
          </a:p>
        </p:txBody>
      </p:sp>
      <p:sp>
        <p:nvSpPr>
          <p:cNvPr id="15" name="bb chip DBI-22"/>
          <p:cNvSpPr txBox="1"/>
          <p:nvPr/>
        </p:nvSpPr>
        <p:spPr>
          <a:xfrm>
            <a:off x="548640" y="3986784"/>
            <a:ext cx="868680" cy="347472"/>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DBI-22</a:t>
            </a:r>
            <a:endParaRPr lang="en-US" sz="1200" dirty="0"/>
          </a:p>
        </p:txBody>
      </p:sp>
      <p:sp>
        <p:nvSpPr>
          <p:cNvPr id="16" name="bb chip CRMR"/>
          <p:cNvSpPr txBox="1"/>
          <p:nvPr/>
        </p:nvSpPr>
        <p:spPr>
          <a:xfrm>
            <a:off x="1527048" y="3986784"/>
            <a:ext cx="822960" cy="347472"/>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CRMR</a:t>
            </a:r>
            <a:endParaRPr lang="en-US" sz="1200" dirty="0"/>
          </a:p>
        </p:txBody>
      </p:sp>
      <p:sp>
        <p:nvSpPr>
          <p:cNvPr id="17" name="bb chip ISS Report"/>
          <p:cNvSpPr txBox="1"/>
          <p:nvPr/>
        </p:nvSpPr>
        <p:spPr>
          <a:xfrm>
            <a:off x="2459736" y="3986784"/>
            <a:ext cx="1143000" cy="347472"/>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ISS Report</a:t>
            </a:r>
            <a:endParaRPr lang="en-US" sz="1200" dirty="0"/>
          </a:p>
        </p:txBody>
      </p:sp>
      <p:sp>
        <p:nvSpPr>
          <p:cNvPr id="18" name="bb chip Classified Loans"/>
          <p:cNvSpPr txBox="1"/>
          <p:nvPr/>
        </p:nvSpPr>
        <p:spPr>
          <a:xfrm>
            <a:off x="548640" y="4425696"/>
            <a:ext cx="1600200" cy="347472"/>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Classified Loans</a:t>
            </a:r>
            <a:endParaRPr lang="en-US" sz="1200" dirty="0"/>
          </a:p>
        </p:txBody>
      </p:sp>
      <p:sp>
        <p:nvSpPr>
          <p:cNvPr id="19" name="bb chip Risk-Based Audit"/>
          <p:cNvSpPr txBox="1"/>
          <p:nvPr/>
        </p:nvSpPr>
        <p:spPr>
          <a:xfrm>
            <a:off x="2258568" y="4425696"/>
            <a:ext cx="1600200" cy="347472"/>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Risk-Based Audit</a:t>
            </a:r>
            <a:endParaRPr lang="en-US" sz="1200" dirty="0"/>
          </a:p>
        </p:txBody>
      </p:sp>
      <p:sp>
        <p:nvSpPr>
          <p:cNvPr id="20" name="bb chip BB Audit — Artha Rin Suit"/>
          <p:cNvSpPr txBox="1"/>
          <p:nvPr/>
        </p:nvSpPr>
        <p:spPr>
          <a:xfrm>
            <a:off x="548640" y="4864608"/>
            <a:ext cx="2377440" cy="347472"/>
          </a:xfrm>
          <a:prstGeom prst="roundRect">
            <a:avLst>
              <a:gd name="adj" fmla="val 50000"/>
            </a:avLst>
          </a:prstGeom>
          <a:solidFill>
            <a:schemeClr val="bg2"/>
          </a:solidFill>
          <a:ln/>
        </p:spPr>
        <p:txBody>
          <a:bodyPr wrap="square" lIns="0" tIns="0" rIns="0" bIns="0" rtlCol="0" anchor="ctr"/>
          <a:lstStyle/>
          <a:p>
            <a:pPr algn="ctr" indent="0" marL="0">
              <a:buNone/>
            </a:pPr>
            <a:r>
              <a:rPr lang="en-US" sz="1200" b="1" dirty="0">
                <a:solidFill>
                  <a:schemeClr val="accent1"/>
                </a:solidFill>
              </a:rPr>
              <a:t>BB Audit — Artha Rin Suit</a:t>
            </a:r>
            <a:endParaRPr lang="en-US" sz="1200" dirty="0"/>
          </a:p>
        </p:txBody>
      </p:sp>
      <p:sp>
        <p:nvSpPr>
          <p:cNvPr id="21" name="reports note"/>
          <p:cNvSpPr txBox="1"/>
          <p:nvPr/>
        </p:nvSpPr>
        <p:spPr>
          <a:xfrm>
            <a:off x="548640" y="5394960"/>
            <a:ext cx="4108399" cy="685800"/>
          </a:xfrm>
          <a:prstGeom prst="rect">
            <a:avLst/>
          </a:prstGeom>
          <a:noFill/>
          <a:ln/>
        </p:spPr>
        <p:txBody>
          <a:bodyPr wrap="square" lIns="0" tIns="0" rIns="0" bIns="0" rtlCol="0" anchor="t"/>
          <a:lstStyle/>
          <a:p>
            <a:pPr indent="0" marL="0">
              <a:buNone/>
            </a:pPr>
            <a:r>
              <a:rPr lang="en-US" sz="1300" dirty="0">
                <a:solidFill>
                  <a:schemeClr val="accent6"/>
                </a:solidFill>
              </a:rPr>
              <a:t>Plus portfolio, segment, officer, lawyer, court, bill and recovery summaries — each previewed on screen and exported on demand</a:t>
            </a:r>
            <a:endParaRPr lang="en-US" sz="13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76656"/>
          </a:xfrm>
          <a:prstGeom prst="rect">
            <a:avLst/>
          </a:prstGeom>
          <a:noFill/>
          <a:ln/>
        </p:spPr>
        <p:txBody>
          <a:bodyPr wrap="square" lIns="0" tIns="0" rIns="0" bIns="0" rtlCol="0" anchor="ctr"/>
          <a:lstStyle/>
          <a:p>
            <a:pPr algn="l" indent="0" marL="0">
              <a:buNone/>
            </a:pPr>
            <a:r>
              <a:rPr lang="en-US" sz="3600" b="1" dirty="0">
                <a:solidFill>
                  <a:schemeClr val="tx2"/>
                </a:solidFill>
              </a:rPr>
              <a:t>Built for a Regulated Bank</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algn="l" indent="0" marL="0">
              <a:buNone/>
            </a:pPr>
            <a:r>
              <a:rPr lang="en-US" sz="1600" dirty="0">
                <a:solidFill>
                  <a:schemeClr val="accent6"/>
                </a:solidFill>
              </a:rPr>
              <a:t>Security, auditability and resilience designed in from day one — aligned with RFP Section 7</a:t>
            </a:r>
            <a:endParaRPr lang="en-US" sz="1600" dirty="0"/>
          </a:p>
        </p:txBody>
      </p:sp>
      <p:sp>
        <p:nvSpPr>
          <p:cNvPr id="4" name="assurance icon 1 circle"/>
          <p:cNvSpPr/>
          <p:nvPr/>
        </p:nvSpPr>
        <p:spPr>
          <a:xfrm>
            <a:off x="548640" y="1801368"/>
            <a:ext cx="457200" cy="457200"/>
          </a:xfrm>
          <a:prstGeom prst="ellipse">
            <a:avLst/>
          </a:prstGeom>
          <a:solidFill>
            <a:schemeClr val="accent1"/>
          </a:solidFill>
          <a:ln/>
        </p:spPr>
      </p:sp>
      <p:pic>
        <p:nvPicPr>
          <p:cNvPr id="5" name="assurance icon 1 glyph" descr="user cog icon">    </p:cNvPr>
          <p:cNvPicPr>
            <a:picLocks noChangeAspect="1"/>
          </p:cNvPicPr>
          <p:nvPr/>
        </p:nvPicPr>
        <p:blipFill>
          <a:blip r:embed="rId1"/>
          <a:stretch>
            <a:fillRect/>
          </a:stretch>
        </p:blipFill>
        <p:spPr>
          <a:xfrm>
            <a:off x="658368" y="1911096"/>
            <a:ext cx="237744" cy="237744"/>
          </a:xfrm>
          <a:prstGeom prst="rect">
            <a:avLst/>
          </a:prstGeom>
        </p:spPr>
      </p:pic>
      <p:sp>
        <p:nvSpPr>
          <p:cNvPr id="6" name="assurance title 1"/>
          <p:cNvSpPr txBox="1"/>
          <p:nvPr/>
        </p:nvSpPr>
        <p:spPr>
          <a:xfrm>
            <a:off x="1188720" y="1783080"/>
            <a:ext cx="5212080" cy="274320"/>
          </a:xfrm>
          <a:prstGeom prst="rect">
            <a:avLst/>
          </a:prstGeom>
          <a:noFill/>
          <a:ln/>
        </p:spPr>
        <p:txBody>
          <a:bodyPr wrap="square" lIns="0" tIns="0" rIns="0" bIns="0" rtlCol="0" anchor="t"/>
          <a:lstStyle/>
          <a:p>
            <a:pPr indent="0" marL="0">
              <a:buNone/>
            </a:pPr>
            <a:r>
              <a:rPr lang="en-US" sz="1500" b="1" dirty="0">
                <a:solidFill>
                  <a:schemeClr val="tx1"/>
                </a:solidFill>
              </a:rPr>
              <a:t>Segregation of duties</a:t>
            </a:r>
            <a:endParaRPr lang="en-US" sz="1500" dirty="0"/>
          </a:p>
        </p:txBody>
      </p:sp>
      <p:sp>
        <p:nvSpPr>
          <p:cNvPr id="7" name="assurance detail 1"/>
          <p:cNvSpPr txBox="1"/>
          <p:nvPr/>
        </p:nvSpPr>
        <p:spPr>
          <a:xfrm>
            <a:off x="1188720" y="2075688"/>
            <a:ext cx="5212080" cy="475488"/>
          </a:xfrm>
          <a:prstGeom prst="rect">
            <a:avLst/>
          </a:prstGeom>
          <a:noFill/>
          <a:ln/>
        </p:spPr>
        <p:txBody>
          <a:bodyPr wrap="square" lIns="0" tIns="0" rIns="0" bIns="0" rtlCol="0" anchor="t"/>
          <a:lstStyle/>
          <a:p>
            <a:pPr indent="0" marL="0">
              <a:buNone/>
            </a:pPr>
            <a:r>
              <a:rPr lang="en-US" sz="1300" dirty="0">
                <a:solidFill>
                  <a:schemeClr val="accent6"/>
                </a:solidFill>
              </a:rPr>
              <a:t>Maker–checker on every request, with role- and group-wise permissions</a:t>
            </a:r>
            <a:endParaRPr lang="en-US" sz="1300" dirty="0"/>
          </a:p>
        </p:txBody>
      </p:sp>
      <p:sp>
        <p:nvSpPr>
          <p:cNvPr id="8" name="assurance icon 2 circle"/>
          <p:cNvSpPr/>
          <p:nvPr/>
        </p:nvSpPr>
        <p:spPr>
          <a:xfrm>
            <a:off x="548640" y="2651760"/>
            <a:ext cx="457200" cy="457200"/>
          </a:xfrm>
          <a:prstGeom prst="ellipse">
            <a:avLst/>
          </a:prstGeom>
          <a:solidFill>
            <a:schemeClr val="accent1"/>
          </a:solidFill>
          <a:ln/>
        </p:spPr>
      </p:sp>
      <p:pic>
        <p:nvPicPr>
          <p:cNvPr id="9" name="assurance icon 2 glyph" descr="history icon">    </p:cNvPr>
          <p:cNvPicPr>
            <a:picLocks noChangeAspect="1"/>
          </p:cNvPicPr>
          <p:nvPr/>
        </p:nvPicPr>
        <p:blipFill>
          <a:blip r:embed="rId2"/>
          <a:stretch>
            <a:fillRect/>
          </a:stretch>
        </p:blipFill>
        <p:spPr>
          <a:xfrm>
            <a:off x="658368" y="2761488"/>
            <a:ext cx="237744" cy="237744"/>
          </a:xfrm>
          <a:prstGeom prst="rect">
            <a:avLst/>
          </a:prstGeom>
        </p:spPr>
      </p:pic>
      <p:sp>
        <p:nvSpPr>
          <p:cNvPr id="10" name="assurance title 2"/>
          <p:cNvSpPr txBox="1"/>
          <p:nvPr/>
        </p:nvSpPr>
        <p:spPr>
          <a:xfrm>
            <a:off x="1188720" y="2633472"/>
            <a:ext cx="5212080" cy="274320"/>
          </a:xfrm>
          <a:prstGeom prst="rect">
            <a:avLst/>
          </a:prstGeom>
          <a:noFill/>
          <a:ln/>
        </p:spPr>
        <p:txBody>
          <a:bodyPr wrap="square" lIns="0" tIns="0" rIns="0" bIns="0" rtlCol="0" anchor="t"/>
          <a:lstStyle/>
          <a:p>
            <a:pPr indent="0" marL="0">
              <a:buNone/>
            </a:pPr>
            <a:r>
              <a:rPr lang="en-US" sz="1500" b="1" dirty="0">
                <a:solidFill>
                  <a:schemeClr val="tx1"/>
                </a:solidFill>
              </a:rPr>
              <a:t>Tamper-evident audit trail</a:t>
            </a:r>
            <a:endParaRPr lang="en-US" sz="1500" dirty="0"/>
          </a:p>
        </p:txBody>
      </p:sp>
      <p:sp>
        <p:nvSpPr>
          <p:cNvPr id="11" name="assurance detail 2"/>
          <p:cNvSpPr txBox="1"/>
          <p:nvPr/>
        </p:nvSpPr>
        <p:spPr>
          <a:xfrm>
            <a:off x="1188720" y="2926080"/>
            <a:ext cx="5212080" cy="475488"/>
          </a:xfrm>
          <a:prstGeom prst="rect">
            <a:avLst/>
          </a:prstGeom>
          <a:noFill/>
          <a:ln/>
        </p:spPr>
        <p:txBody>
          <a:bodyPr wrap="square" lIns="0" tIns="0" rIns="0" bIns="0" rtlCol="0" anchor="t"/>
          <a:lstStyle/>
          <a:p>
            <a:pPr indent="0" marL="0">
              <a:buNone/>
            </a:pPr>
            <a:r>
              <a:rPr lang="en-US" sz="1300" dirty="0">
                <a:solidFill>
                  <a:schemeClr val="accent6"/>
                </a:solidFill>
              </a:rPr>
              <a:t>Every login, change and approval logged with user, role and time</a:t>
            </a:r>
            <a:endParaRPr lang="en-US" sz="1300" dirty="0"/>
          </a:p>
        </p:txBody>
      </p:sp>
      <p:sp>
        <p:nvSpPr>
          <p:cNvPr id="12" name="assurance icon 3 circle"/>
          <p:cNvSpPr/>
          <p:nvPr/>
        </p:nvSpPr>
        <p:spPr>
          <a:xfrm>
            <a:off x="548640" y="3502152"/>
            <a:ext cx="457200" cy="457200"/>
          </a:xfrm>
          <a:prstGeom prst="ellipse">
            <a:avLst/>
          </a:prstGeom>
          <a:solidFill>
            <a:schemeClr val="accent1"/>
          </a:solidFill>
          <a:ln/>
        </p:spPr>
      </p:sp>
      <p:pic>
        <p:nvPicPr>
          <p:cNvPr id="13" name="assurance icon 3 glyph" descr="lock icon">    </p:cNvPr>
          <p:cNvPicPr>
            <a:picLocks noChangeAspect="1"/>
          </p:cNvPicPr>
          <p:nvPr/>
        </p:nvPicPr>
        <p:blipFill>
          <a:blip r:embed="rId3"/>
          <a:stretch>
            <a:fillRect/>
          </a:stretch>
        </p:blipFill>
        <p:spPr>
          <a:xfrm>
            <a:off x="658368" y="3611880"/>
            <a:ext cx="237744" cy="237744"/>
          </a:xfrm>
          <a:prstGeom prst="rect">
            <a:avLst/>
          </a:prstGeom>
        </p:spPr>
      </p:pic>
      <p:sp>
        <p:nvSpPr>
          <p:cNvPr id="14" name="assurance title 3"/>
          <p:cNvSpPr txBox="1"/>
          <p:nvPr/>
        </p:nvSpPr>
        <p:spPr>
          <a:xfrm>
            <a:off x="1188720" y="3483864"/>
            <a:ext cx="5212080" cy="274320"/>
          </a:xfrm>
          <a:prstGeom prst="rect">
            <a:avLst/>
          </a:prstGeom>
          <a:noFill/>
          <a:ln/>
        </p:spPr>
        <p:txBody>
          <a:bodyPr wrap="square" lIns="0" tIns="0" rIns="0" bIns="0" rtlCol="0" anchor="t"/>
          <a:lstStyle/>
          <a:p>
            <a:pPr indent="0" marL="0">
              <a:buNone/>
            </a:pPr>
            <a:r>
              <a:rPr lang="en-US" sz="1500" b="1" dirty="0">
                <a:solidFill>
                  <a:schemeClr val="tx1"/>
                </a:solidFill>
              </a:rPr>
              <a:t>Data protection</a:t>
            </a:r>
            <a:endParaRPr lang="en-US" sz="1500" dirty="0"/>
          </a:p>
        </p:txBody>
      </p:sp>
      <p:sp>
        <p:nvSpPr>
          <p:cNvPr id="15" name="assurance detail 3"/>
          <p:cNvSpPr txBox="1"/>
          <p:nvPr/>
        </p:nvSpPr>
        <p:spPr>
          <a:xfrm>
            <a:off x="1188720" y="3776472"/>
            <a:ext cx="5212080" cy="475488"/>
          </a:xfrm>
          <a:prstGeom prst="rect">
            <a:avLst/>
          </a:prstGeom>
          <a:noFill/>
          <a:ln/>
        </p:spPr>
        <p:txBody>
          <a:bodyPr wrap="square" lIns="0" tIns="0" rIns="0" bIns="0" rtlCol="0" anchor="t"/>
          <a:lstStyle/>
          <a:p>
            <a:pPr indent="0" marL="0">
              <a:buNone/>
            </a:pPr>
            <a:r>
              <a:rPr lang="en-US" sz="1300" dirty="0">
                <a:solidFill>
                  <a:schemeClr val="accent6"/>
                </a:solidFill>
              </a:rPr>
              <a:t>TLS in transit, encryption at rest and OWASP Top 10 controls</a:t>
            </a:r>
            <a:endParaRPr lang="en-US" sz="1300" dirty="0"/>
          </a:p>
        </p:txBody>
      </p:sp>
      <p:sp>
        <p:nvSpPr>
          <p:cNvPr id="16" name="assurance icon 4 circle"/>
          <p:cNvSpPr/>
          <p:nvPr/>
        </p:nvSpPr>
        <p:spPr>
          <a:xfrm>
            <a:off x="548640" y="4352544"/>
            <a:ext cx="457200" cy="457200"/>
          </a:xfrm>
          <a:prstGeom prst="ellipse">
            <a:avLst/>
          </a:prstGeom>
          <a:solidFill>
            <a:schemeClr val="accent1"/>
          </a:solidFill>
          <a:ln/>
        </p:spPr>
      </p:sp>
      <p:pic>
        <p:nvPicPr>
          <p:cNvPr id="17" name="assurance icon 4 glyph" descr="hard drive icon">    </p:cNvPr>
          <p:cNvPicPr>
            <a:picLocks noChangeAspect="1"/>
          </p:cNvPicPr>
          <p:nvPr/>
        </p:nvPicPr>
        <p:blipFill>
          <a:blip r:embed="rId4"/>
          <a:stretch>
            <a:fillRect/>
          </a:stretch>
        </p:blipFill>
        <p:spPr>
          <a:xfrm>
            <a:off x="658368" y="4462272"/>
            <a:ext cx="237744" cy="237744"/>
          </a:xfrm>
          <a:prstGeom prst="rect">
            <a:avLst/>
          </a:prstGeom>
        </p:spPr>
      </p:pic>
      <p:sp>
        <p:nvSpPr>
          <p:cNvPr id="18" name="assurance title 4"/>
          <p:cNvSpPr txBox="1"/>
          <p:nvPr/>
        </p:nvSpPr>
        <p:spPr>
          <a:xfrm>
            <a:off x="1188720" y="4334256"/>
            <a:ext cx="5212080" cy="274320"/>
          </a:xfrm>
          <a:prstGeom prst="rect">
            <a:avLst/>
          </a:prstGeom>
          <a:noFill/>
          <a:ln/>
        </p:spPr>
        <p:txBody>
          <a:bodyPr wrap="square" lIns="0" tIns="0" rIns="0" bIns="0" rtlCol="0" anchor="t"/>
          <a:lstStyle/>
          <a:p>
            <a:pPr indent="0" marL="0">
              <a:buNone/>
            </a:pPr>
            <a:r>
              <a:rPr lang="en-US" sz="1500" b="1" dirty="0">
                <a:solidFill>
                  <a:schemeClr val="tx1"/>
                </a:solidFill>
              </a:rPr>
              <a:t>Resilience</a:t>
            </a:r>
            <a:endParaRPr lang="en-US" sz="1500" dirty="0"/>
          </a:p>
        </p:txBody>
      </p:sp>
      <p:sp>
        <p:nvSpPr>
          <p:cNvPr id="19" name="assurance detail 4"/>
          <p:cNvSpPr txBox="1"/>
          <p:nvPr/>
        </p:nvSpPr>
        <p:spPr>
          <a:xfrm>
            <a:off x="1188720" y="4626864"/>
            <a:ext cx="5212080" cy="475488"/>
          </a:xfrm>
          <a:prstGeom prst="rect">
            <a:avLst/>
          </a:prstGeom>
          <a:noFill/>
          <a:ln/>
        </p:spPr>
        <p:txBody>
          <a:bodyPr wrap="square" lIns="0" tIns="0" rIns="0" bIns="0" rtlCol="0" anchor="t"/>
          <a:lstStyle/>
          <a:p>
            <a:pPr indent="0" marL="0">
              <a:buNone/>
            </a:pPr>
            <a:r>
              <a:rPr lang="en-US" sz="1300" dirty="0">
                <a:solidFill>
                  <a:schemeClr val="accent6"/>
                </a:solidFill>
              </a:rPr>
              <a:t>On-premises DC and DR, module-level redundancy, no data loss on restart</a:t>
            </a:r>
            <a:endParaRPr lang="en-US" sz="1300" dirty="0"/>
          </a:p>
        </p:txBody>
      </p:sp>
      <p:sp>
        <p:nvSpPr>
          <p:cNvPr id="20" name="assurance icon 5 circle"/>
          <p:cNvSpPr/>
          <p:nvPr/>
        </p:nvSpPr>
        <p:spPr>
          <a:xfrm>
            <a:off x="548640" y="5202936"/>
            <a:ext cx="457200" cy="457200"/>
          </a:xfrm>
          <a:prstGeom prst="ellipse">
            <a:avLst/>
          </a:prstGeom>
          <a:solidFill>
            <a:schemeClr val="accent1"/>
          </a:solidFill>
          <a:ln/>
        </p:spPr>
      </p:sp>
      <p:pic>
        <p:nvPicPr>
          <p:cNvPr id="21" name="assurance icon 5 glyph" descr="landmark icon">    </p:cNvPr>
          <p:cNvPicPr>
            <a:picLocks noChangeAspect="1"/>
          </p:cNvPicPr>
          <p:nvPr/>
        </p:nvPicPr>
        <p:blipFill>
          <a:blip r:embed="rId5"/>
          <a:stretch>
            <a:fillRect/>
          </a:stretch>
        </p:blipFill>
        <p:spPr>
          <a:xfrm>
            <a:off x="658368" y="5312664"/>
            <a:ext cx="237744" cy="237744"/>
          </a:xfrm>
          <a:prstGeom prst="rect">
            <a:avLst/>
          </a:prstGeom>
        </p:spPr>
      </p:pic>
      <p:sp>
        <p:nvSpPr>
          <p:cNvPr id="22" name="assurance title 5"/>
          <p:cNvSpPr txBox="1"/>
          <p:nvPr/>
        </p:nvSpPr>
        <p:spPr>
          <a:xfrm>
            <a:off x="1188720" y="5184648"/>
            <a:ext cx="5212080" cy="274320"/>
          </a:xfrm>
          <a:prstGeom prst="rect">
            <a:avLst/>
          </a:prstGeom>
          <a:noFill/>
          <a:ln/>
        </p:spPr>
        <p:txBody>
          <a:bodyPr wrap="square" lIns="0" tIns="0" rIns="0" bIns="0" rtlCol="0" anchor="t"/>
          <a:lstStyle/>
          <a:p>
            <a:pPr indent="0" marL="0">
              <a:buNone/>
            </a:pPr>
            <a:r>
              <a:rPr lang="en-US" sz="1500" b="1" dirty="0">
                <a:solidFill>
                  <a:schemeClr val="tx1"/>
                </a:solidFill>
              </a:rPr>
              <a:t>Regulatory alignment</a:t>
            </a:r>
            <a:endParaRPr lang="en-US" sz="1500" dirty="0"/>
          </a:p>
        </p:txBody>
      </p:sp>
      <p:sp>
        <p:nvSpPr>
          <p:cNvPr id="23" name="assurance detail 5"/>
          <p:cNvSpPr txBox="1"/>
          <p:nvPr/>
        </p:nvSpPr>
        <p:spPr>
          <a:xfrm>
            <a:off x="1188720" y="5477256"/>
            <a:ext cx="5212080" cy="475488"/>
          </a:xfrm>
          <a:prstGeom prst="rect">
            <a:avLst/>
          </a:prstGeom>
          <a:noFill/>
          <a:ln/>
        </p:spPr>
        <p:txBody>
          <a:bodyPr wrap="square" lIns="0" tIns="0" rIns="0" bIns="0" rtlCol="0" anchor="t"/>
          <a:lstStyle/>
          <a:p>
            <a:pPr indent="0" marL="0">
              <a:buNone/>
            </a:pPr>
            <a:r>
              <a:rPr lang="en-US" sz="1300" dirty="0">
                <a:solidFill>
                  <a:schemeClr val="accent6"/>
                </a:solidFill>
              </a:rPr>
              <a:t>Bangladesh Bank reporting, risk-based audit and 4-hour breach notification</a:t>
            </a:r>
            <a:endParaRPr lang="en-US" sz="1300" dirty="0"/>
          </a:p>
        </p:txBody>
      </p:sp>
      <p:sp>
        <p:nvSpPr>
          <p:cNvPr id="24" name="audit trail card"/>
          <p:cNvSpPr/>
          <p:nvPr/>
        </p:nvSpPr>
        <p:spPr>
          <a:xfrm>
            <a:off x="6702552" y="1920240"/>
            <a:ext cx="4940503" cy="3323077"/>
          </a:xfrm>
          <a:prstGeom prst="roundRect">
            <a:avLst>
              <a:gd name="adj" fmla="val 2476"/>
            </a:avLst>
          </a:prstGeom>
          <a:solidFill>
            <a:schemeClr val="bg1"/>
          </a:solidFill>
          <a:ln/>
          <a:effectLst>
            <a:outerShdw sx="100000" sy="100000" kx="0" ky="0" algn="bl" rotWithShape="0" blurRad="203200" dist="50800" dir="5400000">
              <a:srgbClr val="0B1F3A">
                <a:alpha val="20000"/>
              </a:srgbClr>
            </a:outerShdw>
          </a:effectLst>
        </p:spPr>
      </p:sp>
      <p:pic>
        <p:nvPicPr>
          <p:cNvPr id="25" name="audit trail screenshot" descr="Activity log of a returned request showing who acted, in which role, when, and the reason">    </p:cNvPr>
          <p:cNvPicPr>
            <a:picLocks noChangeAspect="1"/>
          </p:cNvPicPr>
          <p:nvPr/>
        </p:nvPicPr>
        <p:blipFill>
          <a:blip r:embed="rId6"/>
          <a:stretch>
            <a:fillRect/>
          </a:stretch>
        </p:blipFill>
        <p:spPr>
          <a:xfrm>
            <a:off x="6702552" y="1920240"/>
            <a:ext cx="4940503" cy="3323077"/>
          </a:xfrm>
          <a:prstGeom prst="rect">
            <a:avLst/>
          </a:prstGeom>
        </p:spPr>
      </p:pic>
      <p:sp>
        <p:nvSpPr>
          <p:cNvPr id="26" name="audit caption"/>
          <p:cNvSpPr txBox="1"/>
          <p:nvPr/>
        </p:nvSpPr>
        <p:spPr>
          <a:xfrm>
            <a:off x="6702552" y="5380477"/>
            <a:ext cx="4940503" cy="411480"/>
          </a:xfrm>
          <a:prstGeom prst="rect">
            <a:avLst/>
          </a:prstGeom>
          <a:noFill/>
          <a:ln/>
        </p:spPr>
        <p:txBody>
          <a:bodyPr wrap="square" lIns="0" tIns="0" rIns="0" bIns="0" rtlCol="0" anchor="t"/>
          <a:lstStyle/>
          <a:p>
            <a:pPr indent="0" marL="0">
              <a:buNone/>
            </a:pPr>
            <a:r>
              <a:rPr lang="en-US" sz="1100" i="1" dirty="0">
                <a:solidFill>
                  <a:schemeClr val="accent6"/>
                </a:solidFill>
              </a:rPr>
              <a:t>Live system  ·  audit trail of a request returned by the checker, with the reason recorded</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94415" cy="676656"/>
          </a:xfrm>
          <a:prstGeom prst="rect">
            <a:avLst/>
          </a:prstGeom>
          <a:noFill/>
          <a:ln/>
        </p:spPr>
        <p:txBody>
          <a:bodyPr wrap="square" lIns="0" tIns="0" rIns="0" bIns="0" rtlCol="0" anchor="ctr"/>
          <a:lstStyle/>
          <a:p>
            <a:pPr algn="l" indent="0" marL="0">
              <a:buNone/>
            </a:pPr>
            <a:r>
              <a:rPr lang="en-US" sz="3600" b="1" dirty="0">
                <a:solidFill>
                  <a:schemeClr val="tx2"/>
                </a:solidFill>
              </a:rPr>
              <a:t>Implementation &amp; Next Steps</a:t>
            </a:r>
            <a:endParaRPr lang="en-US" sz="3600" dirty="0"/>
          </a:p>
        </p:txBody>
      </p:sp>
      <p:sp>
        <p:nvSpPr>
          <p:cNvPr id="3" name="Text 0"/>
          <p:cNvSpPr/>
          <p:nvPr>
            <p:ph idx="101" type="body" hasCustomPrompt="1"/>
          </p:nvPr>
        </p:nvSpPr>
        <p:spPr>
          <a:xfrm>
            <a:off x="548640" y="1042416"/>
            <a:ext cx="11094415" cy="384048"/>
          </a:xfrm>
          <a:prstGeom prst="rect">
            <a:avLst/>
          </a:prstGeom>
          <a:noFill/>
          <a:ln/>
        </p:spPr>
        <p:txBody>
          <a:bodyPr wrap="square" lIns="0" tIns="0" rIns="0" bIns="0" rtlCol="0" anchor="t"/>
          <a:lstStyle/>
          <a:p>
            <a:pPr algn="l" indent="0" marL="0">
              <a:buNone/>
            </a:pPr>
            <a:r>
              <a:rPr lang="en-US" sz="1600" dirty="0">
                <a:solidFill>
                  <a:schemeClr val="accent6"/>
                </a:solidFill>
              </a:rPr>
              <a:t>A phased delivery with Bank Asia's Legal and ICT teams, followed by long-term support</a:t>
            </a:r>
            <a:endParaRPr lang="en-US" sz="1600" dirty="0"/>
          </a:p>
        </p:txBody>
      </p:sp>
      <p:sp>
        <p:nvSpPr>
          <p:cNvPr id="4" name="timeline"/>
          <p:cNvSpPr/>
          <p:nvPr/>
        </p:nvSpPr>
        <p:spPr>
          <a:xfrm>
            <a:off x="1600200" y="2057400"/>
            <a:ext cx="8991295" cy="0"/>
          </a:xfrm>
          <a:prstGeom prst="line">
            <a:avLst/>
          </a:prstGeom>
          <a:noFill/>
          <a:ln w="25400">
            <a:solidFill>
              <a:schemeClr val="accent1">
                <a:alpha val="45000"/>
              </a:schemeClr>
            </a:solidFill>
            <a:prstDash val="solid"/>
          </a:ln>
        </p:spPr>
      </p:sp>
      <p:sp>
        <p:nvSpPr>
          <p:cNvPr id="5" name="phase marker 1"/>
          <p:cNvSpPr txBox="1"/>
          <p:nvPr/>
        </p:nvSpPr>
        <p:spPr>
          <a:xfrm>
            <a:off x="1344168" y="1801368"/>
            <a:ext cx="512064" cy="512064"/>
          </a:xfrm>
          <a:prstGeom prst="ellipse">
            <a:avLst/>
          </a:prstGeom>
          <a:solidFill>
            <a:schemeClr val="accent1"/>
          </a:solidFill>
          <a:ln w="25400">
            <a:solidFill>
              <a:schemeClr val="bg1"/>
            </a:solid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1</a:t>
            </a:r>
            <a:endParaRPr lang="en-US" sz="1500" dirty="0"/>
          </a:p>
        </p:txBody>
      </p:sp>
      <p:sp>
        <p:nvSpPr>
          <p:cNvPr id="6" name="phase title 1"/>
          <p:cNvSpPr txBox="1"/>
          <p:nvPr/>
        </p:nvSpPr>
        <p:spPr>
          <a:xfrm>
            <a:off x="548640" y="2450592"/>
            <a:ext cx="2103120" cy="292608"/>
          </a:xfrm>
          <a:prstGeom prst="rect">
            <a:avLst/>
          </a:prstGeom>
          <a:noFill/>
          <a:ln/>
        </p:spPr>
        <p:txBody>
          <a:bodyPr wrap="square" lIns="0" tIns="0" rIns="0" bIns="0" rtlCol="0" anchor="t"/>
          <a:lstStyle/>
          <a:p>
            <a:pPr algn="ctr" indent="0" marL="0">
              <a:buNone/>
            </a:pPr>
            <a:r>
              <a:rPr lang="en-US" sz="1500" b="1" dirty="0">
                <a:solidFill>
                  <a:schemeClr val="tx1"/>
                </a:solidFill>
              </a:rPr>
              <a:t>Discover &amp; Design</a:t>
            </a:r>
            <a:endParaRPr lang="en-US" sz="1500" dirty="0"/>
          </a:p>
        </p:txBody>
      </p:sp>
      <p:sp>
        <p:nvSpPr>
          <p:cNvPr id="7" name="phase detail 1"/>
          <p:cNvSpPr txBox="1"/>
          <p:nvPr/>
        </p:nvSpPr>
        <p:spPr>
          <a:xfrm>
            <a:off x="548640" y="2779776"/>
            <a:ext cx="2103120" cy="822960"/>
          </a:xfrm>
          <a:prstGeom prst="rect">
            <a:avLst/>
          </a:prstGeom>
          <a:noFill/>
          <a:ln/>
        </p:spPr>
        <p:txBody>
          <a:bodyPr wrap="square" lIns="0" tIns="0" rIns="0" bIns="0" rtlCol="0" anchor="t"/>
          <a:lstStyle/>
          <a:p>
            <a:pPr algn="ctr" indent="0" marL="0">
              <a:buNone/>
            </a:pPr>
            <a:r>
              <a:rPr lang="en-US" sz="1300" dirty="0">
                <a:solidFill>
                  <a:schemeClr val="accent6"/>
                </a:solidFill>
              </a:rPr>
              <a:t>Requirement workshops</a:t>
            </a:r>
            <a:endParaRPr lang="en-US" sz="1300" dirty="0"/>
          </a:p>
          <a:p>
            <a:pPr algn="ctr" indent="0" marL="0">
              <a:buNone/>
            </a:pPr>
            <a:r>
              <a:rPr lang="en-US" sz="1300" dirty="0">
                <a:solidFill>
                  <a:schemeClr val="accent6"/>
                </a:solidFill>
              </a:rPr>
              <a:t>Gap analysis</a:t>
            </a:r>
            <a:endParaRPr lang="en-US" sz="1300" dirty="0"/>
          </a:p>
          <a:p>
            <a:pPr algn="ctr" indent="0" marL="0">
              <a:buNone/>
            </a:pPr>
            <a:r>
              <a:rPr lang="en-US" sz="1300" dirty="0">
                <a:solidFill>
                  <a:schemeClr val="accent6"/>
                </a:solidFill>
              </a:rPr>
              <a:t>Design sign-off</a:t>
            </a:r>
            <a:endParaRPr lang="en-US" sz="1300" dirty="0"/>
          </a:p>
        </p:txBody>
      </p:sp>
      <p:sp>
        <p:nvSpPr>
          <p:cNvPr id="8" name="phase marker 2"/>
          <p:cNvSpPr txBox="1"/>
          <p:nvPr/>
        </p:nvSpPr>
        <p:spPr>
          <a:xfrm>
            <a:off x="3591992" y="1801368"/>
            <a:ext cx="512064" cy="512064"/>
          </a:xfrm>
          <a:prstGeom prst="ellipse">
            <a:avLst/>
          </a:prstGeom>
          <a:solidFill>
            <a:schemeClr val="accent1"/>
          </a:solidFill>
          <a:ln w="25400">
            <a:solidFill>
              <a:schemeClr val="bg1"/>
            </a:solid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2</a:t>
            </a:r>
            <a:endParaRPr lang="en-US" sz="1500" dirty="0"/>
          </a:p>
        </p:txBody>
      </p:sp>
      <p:sp>
        <p:nvSpPr>
          <p:cNvPr id="9" name="phase title 2"/>
          <p:cNvSpPr txBox="1"/>
          <p:nvPr/>
        </p:nvSpPr>
        <p:spPr>
          <a:xfrm>
            <a:off x="2796464" y="2450592"/>
            <a:ext cx="2103120" cy="292608"/>
          </a:xfrm>
          <a:prstGeom prst="rect">
            <a:avLst/>
          </a:prstGeom>
          <a:noFill/>
          <a:ln/>
        </p:spPr>
        <p:txBody>
          <a:bodyPr wrap="square" lIns="0" tIns="0" rIns="0" bIns="0" rtlCol="0" anchor="t"/>
          <a:lstStyle/>
          <a:p>
            <a:pPr algn="ctr" indent="0" marL="0">
              <a:buNone/>
            </a:pPr>
            <a:r>
              <a:rPr lang="en-US" sz="1500" b="1" dirty="0">
                <a:solidFill>
                  <a:schemeClr val="tx1"/>
                </a:solidFill>
              </a:rPr>
              <a:t>Build &amp; Integrate</a:t>
            </a:r>
            <a:endParaRPr lang="en-US" sz="1500" dirty="0"/>
          </a:p>
        </p:txBody>
      </p:sp>
      <p:sp>
        <p:nvSpPr>
          <p:cNvPr id="10" name="phase detail 2"/>
          <p:cNvSpPr txBox="1"/>
          <p:nvPr/>
        </p:nvSpPr>
        <p:spPr>
          <a:xfrm>
            <a:off x="2796464" y="2779776"/>
            <a:ext cx="2103120" cy="822960"/>
          </a:xfrm>
          <a:prstGeom prst="rect">
            <a:avLst/>
          </a:prstGeom>
          <a:noFill/>
          <a:ln/>
        </p:spPr>
        <p:txBody>
          <a:bodyPr wrap="square" lIns="0" tIns="0" rIns="0" bIns="0" rtlCol="0" anchor="t"/>
          <a:lstStyle/>
          <a:p>
            <a:pPr algn="ctr" indent="0" marL="0">
              <a:buNone/>
            </a:pPr>
            <a:r>
              <a:rPr lang="en-US" sz="1300" dirty="0">
                <a:solidFill>
                  <a:schemeClr val="accent6"/>
                </a:solidFill>
              </a:rPr>
              <a:t>Configuration</a:t>
            </a:r>
            <a:endParaRPr lang="en-US" sz="1300" dirty="0"/>
          </a:p>
          <a:p>
            <a:pPr algn="ctr" indent="0" marL="0">
              <a:buNone/>
            </a:pPr>
            <a:r>
              <a:rPr lang="en-US" sz="1300" dirty="0">
                <a:solidFill>
                  <a:schemeClr val="accent6"/>
                </a:solidFill>
              </a:rPr>
              <a:t>CBS, SMS &amp; email</a:t>
            </a:r>
            <a:endParaRPr lang="en-US" sz="1300" dirty="0"/>
          </a:p>
          <a:p>
            <a:pPr algn="ctr" indent="0" marL="0">
              <a:buNone/>
            </a:pPr>
            <a:r>
              <a:rPr lang="en-US" sz="1300" dirty="0">
                <a:solidFill>
                  <a:schemeClr val="accent6"/>
                </a:solidFill>
              </a:rPr>
              <a:t>Finance integration</a:t>
            </a:r>
            <a:endParaRPr lang="en-US" sz="1300" dirty="0"/>
          </a:p>
        </p:txBody>
      </p:sp>
      <p:sp>
        <p:nvSpPr>
          <p:cNvPr id="11" name="phase marker 3"/>
          <p:cNvSpPr txBox="1"/>
          <p:nvPr/>
        </p:nvSpPr>
        <p:spPr>
          <a:xfrm>
            <a:off x="5839816" y="1801368"/>
            <a:ext cx="512064" cy="512064"/>
          </a:xfrm>
          <a:prstGeom prst="ellipse">
            <a:avLst/>
          </a:prstGeom>
          <a:solidFill>
            <a:schemeClr val="accent1"/>
          </a:solidFill>
          <a:ln w="25400">
            <a:solidFill>
              <a:schemeClr val="bg1"/>
            </a:solid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3</a:t>
            </a:r>
            <a:endParaRPr lang="en-US" sz="1500" dirty="0"/>
          </a:p>
        </p:txBody>
      </p:sp>
      <p:sp>
        <p:nvSpPr>
          <p:cNvPr id="12" name="phase title 3"/>
          <p:cNvSpPr txBox="1"/>
          <p:nvPr/>
        </p:nvSpPr>
        <p:spPr>
          <a:xfrm>
            <a:off x="5044288" y="2450592"/>
            <a:ext cx="2103120" cy="292608"/>
          </a:xfrm>
          <a:prstGeom prst="rect">
            <a:avLst/>
          </a:prstGeom>
          <a:noFill/>
          <a:ln/>
        </p:spPr>
        <p:txBody>
          <a:bodyPr wrap="square" lIns="0" tIns="0" rIns="0" bIns="0" rtlCol="0" anchor="t"/>
          <a:lstStyle/>
          <a:p>
            <a:pPr algn="ctr" indent="0" marL="0">
              <a:buNone/>
            </a:pPr>
            <a:r>
              <a:rPr lang="en-US" sz="1500" b="1" dirty="0">
                <a:solidFill>
                  <a:schemeClr val="tx1"/>
                </a:solidFill>
              </a:rPr>
              <a:t>Migrate &amp; Test</a:t>
            </a:r>
            <a:endParaRPr lang="en-US" sz="1500" dirty="0"/>
          </a:p>
        </p:txBody>
      </p:sp>
      <p:sp>
        <p:nvSpPr>
          <p:cNvPr id="13" name="phase detail 3"/>
          <p:cNvSpPr txBox="1"/>
          <p:nvPr/>
        </p:nvSpPr>
        <p:spPr>
          <a:xfrm>
            <a:off x="5044288" y="2779776"/>
            <a:ext cx="2103120" cy="822960"/>
          </a:xfrm>
          <a:prstGeom prst="rect">
            <a:avLst/>
          </a:prstGeom>
          <a:noFill/>
          <a:ln/>
        </p:spPr>
        <p:txBody>
          <a:bodyPr wrap="square" lIns="0" tIns="0" rIns="0" bIns="0" rtlCol="0" anchor="t"/>
          <a:lstStyle/>
          <a:p>
            <a:pPr algn="ctr" indent="0" marL="0">
              <a:buNone/>
            </a:pPr>
            <a:r>
              <a:rPr lang="en-US" sz="1300" dirty="0">
                <a:solidFill>
                  <a:schemeClr val="accent6"/>
                </a:solidFill>
              </a:rPr>
              <a:t>Legacy data migration</a:t>
            </a:r>
            <a:endParaRPr lang="en-US" sz="1300" dirty="0"/>
          </a:p>
          <a:p>
            <a:pPr algn="ctr" indent="0" marL="0">
              <a:buNone/>
            </a:pPr>
            <a:r>
              <a:rPr lang="en-US" sz="1300" dirty="0">
                <a:solidFill>
                  <a:schemeClr val="accent6"/>
                </a:solidFill>
              </a:rPr>
              <a:t>SIT &amp; performance tests</a:t>
            </a:r>
            <a:endParaRPr lang="en-US" sz="1300" dirty="0"/>
          </a:p>
          <a:p>
            <a:pPr algn="ctr" indent="0" marL="0">
              <a:buNone/>
            </a:pPr>
            <a:r>
              <a:rPr lang="en-US" sz="1300" dirty="0">
                <a:solidFill>
                  <a:schemeClr val="accent6"/>
                </a:solidFill>
              </a:rPr>
              <a:t>UAT with Legal Division</a:t>
            </a:r>
            <a:endParaRPr lang="en-US" sz="1300" dirty="0"/>
          </a:p>
        </p:txBody>
      </p:sp>
      <p:sp>
        <p:nvSpPr>
          <p:cNvPr id="14" name="phase marker 4"/>
          <p:cNvSpPr txBox="1"/>
          <p:nvPr/>
        </p:nvSpPr>
        <p:spPr>
          <a:xfrm>
            <a:off x="8087639" y="1801368"/>
            <a:ext cx="512064" cy="512064"/>
          </a:xfrm>
          <a:prstGeom prst="ellipse">
            <a:avLst/>
          </a:prstGeom>
          <a:solidFill>
            <a:schemeClr val="accent1"/>
          </a:solidFill>
          <a:ln w="25400">
            <a:solidFill>
              <a:schemeClr val="bg1"/>
            </a:solid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15" name="phase title 4"/>
          <p:cNvSpPr txBox="1"/>
          <p:nvPr/>
        </p:nvSpPr>
        <p:spPr>
          <a:xfrm>
            <a:off x="7292111" y="2450592"/>
            <a:ext cx="2103120" cy="292608"/>
          </a:xfrm>
          <a:prstGeom prst="rect">
            <a:avLst/>
          </a:prstGeom>
          <a:noFill/>
          <a:ln/>
        </p:spPr>
        <p:txBody>
          <a:bodyPr wrap="square" lIns="0" tIns="0" rIns="0" bIns="0" rtlCol="0" anchor="t"/>
          <a:lstStyle/>
          <a:p>
            <a:pPr algn="ctr" indent="0" marL="0">
              <a:buNone/>
            </a:pPr>
            <a:r>
              <a:rPr lang="en-US" sz="1500" b="1" dirty="0">
                <a:solidFill>
                  <a:schemeClr val="tx1"/>
                </a:solidFill>
              </a:rPr>
              <a:t>Train &amp; Go-Live</a:t>
            </a:r>
            <a:endParaRPr lang="en-US" sz="1500" dirty="0"/>
          </a:p>
        </p:txBody>
      </p:sp>
      <p:sp>
        <p:nvSpPr>
          <p:cNvPr id="16" name="phase detail 4"/>
          <p:cNvSpPr txBox="1"/>
          <p:nvPr/>
        </p:nvSpPr>
        <p:spPr>
          <a:xfrm>
            <a:off x="7292111" y="2779776"/>
            <a:ext cx="2103120" cy="822960"/>
          </a:xfrm>
          <a:prstGeom prst="rect">
            <a:avLst/>
          </a:prstGeom>
          <a:noFill/>
          <a:ln/>
        </p:spPr>
        <p:txBody>
          <a:bodyPr wrap="square" lIns="0" tIns="0" rIns="0" bIns="0" rtlCol="0" anchor="t"/>
          <a:lstStyle/>
          <a:p>
            <a:pPr algn="ctr" indent="0" marL="0">
              <a:buNone/>
            </a:pPr>
            <a:r>
              <a:rPr lang="en-US" sz="1300" dirty="0">
                <a:solidFill>
                  <a:schemeClr val="accent6"/>
                </a:solidFill>
              </a:rPr>
              <a:t>Technical &amp; user training</a:t>
            </a:r>
            <a:endParaRPr lang="en-US" sz="1300" dirty="0"/>
          </a:p>
          <a:p>
            <a:pPr algn="ctr" indent="0" marL="0">
              <a:buNone/>
            </a:pPr>
            <a:r>
              <a:rPr lang="en-US" sz="1300" dirty="0">
                <a:solidFill>
                  <a:schemeClr val="accent6"/>
                </a:solidFill>
              </a:rPr>
              <a:t>SOPs &amp; handover</a:t>
            </a:r>
            <a:endParaRPr lang="en-US" sz="1300" dirty="0"/>
          </a:p>
          <a:p>
            <a:pPr algn="ctr" indent="0" marL="0">
              <a:buNone/>
            </a:pPr>
            <a:r>
              <a:rPr lang="en-US" sz="1300" dirty="0">
                <a:solidFill>
                  <a:schemeClr val="accent6"/>
                </a:solidFill>
              </a:rPr>
              <a:t>DC/DR cut-over</a:t>
            </a:r>
            <a:endParaRPr lang="en-US" sz="1300" dirty="0"/>
          </a:p>
        </p:txBody>
      </p:sp>
      <p:sp>
        <p:nvSpPr>
          <p:cNvPr id="17" name="phase marker 5"/>
          <p:cNvSpPr txBox="1"/>
          <p:nvPr/>
        </p:nvSpPr>
        <p:spPr>
          <a:xfrm>
            <a:off x="10335463" y="1801368"/>
            <a:ext cx="512064" cy="512064"/>
          </a:xfrm>
          <a:prstGeom prst="ellipse">
            <a:avLst/>
          </a:prstGeom>
          <a:solidFill>
            <a:schemeClr val="tx2"/>
          </a:solidFill>
          <a:ln w="25400">
            <a:solidFill>
              <a:schemeClr val="bg1"/>
            </a:solid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5</a:t>
            </a:r>
            <a:endParaRPr lang="en-US" sz="1500" dirty="0"/>
          </a:p>
        </p:txBody>
      </p:sp>
      <p:sp>
        <p:nvSpPr>
          <p:cNvPr id="18" name="phase title 5"/>
          <p:cNvSpPr txBox="1"/>
          <p:nvPr/>
        </p:nvSpPr>
        <p:spPr>
          <a:xfrm>
            <a:off x="9539935" y="2450592"/>
            <a:ext cx="2103120" cy="292608"/>
          </a:xfrm>
          <a:prstGeom prst="rect">
            <a:avLst/>
          </a:prstGeom>
          <a:noFill/>
          <a:ln/>
        </p:spPr>
        <p:txBody>
          <a:bodyPr wrap="square" lIns="0" tIns="0" rIns="0" bIns="0" rtlCol="0" anchor="t"/>
          <a:lstStyle/>
          <a:p>
            <a:pPr algn="ctr" indent="0" marL="0">
              <a:buNone/>
            </a:pPr>
            <a:r>
              <a:rPr lang="en-US" sz="1500" b="1" dirty="0">
                <a:solidFill>
                  <a:schemeClr val="tx1"/>
                </a:solidFill>
              </a:rPr>
              <a:t>Support &amp; Evolve</a:t>
            </a:r>
            <a:endParaRPr lang="en-US" sz="1500" dirty="0"/>
          </a:p>
        </p:txBody>
      </p:sp>
      <p:sp>
        <p:nvSpPr>
          <p:cNvPr id="19" name="phase detail 5"/>
          <p:cNvSpPr txBox="1"/>
          <p:nvPr/>
        </p:nvSpPr>
        <p:spPr>
          <a:xfrm>
            <a:off x="9539935" y="2779776"/>
            <a:ext cx="2103120" cy="822960"/>
          </a:xfrm>
          <a:prstGeom prst="rect">
            <a:avLst/>
          </a:prstGeom>
          <a:noFill/>
          <a:ln/>
        </p:spPr>
        <p:txBody>
          <a:bodyPr wrap="square" lIns="0" tIns="0" rIns="0" bIns="0" rtlCol="0" anchor="t"/>
          <a:lstStyle/>
          <a:p>
            <a:pPr algn="ctr" indent="0" marL="0">
              <a:buNone/>
            </a:pPr>
            <a:r>
              <a:rPr lang="en-US" sz="1300" dirty="0">
                <a:solidFill>
                  <a:schemeClr val="accent6"/>
                </a:solidFill>
              </a:rPr>
              <a:t>3-year warranty + AMC</a:t>
            </a:r>
            <a:endParaRPr lang="en-US" sz="1300" dirty="0"/>
          </a:p>
          <a:p>
            <a:pPr algn="ctr" indent="0" marL="0">
              <a:buNone/>
            </a:pPr>
            <a:r>
              <a:rPr lang="en-US" sz="1300" dirty="0">
                <a:solidFill>
                  <a:schemeClr val="accent6"/>
                </a:solidFill>
              </a:rPr>
              <a:t>24/7/365 support</a:t>
            </a:r>
            <a:endParaRPr lang="en-US" sz="1300" dirty="0"/>
          </a:p>
          <a:p>
            <a:pPr algn="ctr" indent="0" marL="0">
              <a:buNone/>
            </a:pPr>
            <a:r>
              <a:rPr lang="en-US" sz="1300" dirty="0">
                <a:solidFill>
                  <a:schemeClr val="accent6"/>
                </a:solidFill>
              </a:rPr>
              <a:t>Patches &amp; upgrades</a:t>
            </a:r>
            <a:endParaRPr lang="en-US" sz="1300" dirty="0"/>
          </a:p>
        </p:txBody>
      </p:sp>
      <p:sp>
        <p:nvSpPr>
          <p:cNvPr id="20" name="closing card"/>
          <p:cNvSpPr/>
          <p:nvPr/>
        </p:nvSpPr>
        <p:spPr>
          <a:xfrm>
            <a:off x="548640" y="3931920"/>
            <a:ext cx="11094415" cy="2148840"/>
          </a:xfrm>
          <a:prstGeom prst="roundRect">
            <a:avLst>
              <a:gd name="adj" fmla="val 6809"/>
            </a:avLst>
          </a:prstGeom>
          <a:solidFill>
            <a:schemeClr val="bg2"/>
          </a:solidFill>
          <a:ln/>
        </p:spPr>
      </p:sp>
      <p:sp>
        <p:nvSpPr>
          <p:cNvPr id="21" name="thank you"/>
          <p:cNvSpPr txBox="1"/>
          <p:nvPr/>
        </p:nvSpPr>
        <p:spPr>
          <a:xfrm>
            <a:off x="868680" y="4224528"/>
            <a:ext cx="4937760" cy="685800"/>
          </a:xfrm>
          <a:prstGeom prst="rect">
            <a:avLst/>
          </a:prstGeom>
          <a:noFill/>
          <a:ln/>
        </p:spPr>
        <p:txBody>
          <a:bodyPr wrap="square" lIns="0" tIns="0" rIns="0" bIns="0" rtlCol="0" anchor="ctr"/>
          <a:lstStyle/>
          <a:p>
            <a:pPr indent="0" marL="0">
              <a:buNone/>
            </a:pPr>
            <a:r>
              <a:rPr lang="en-US" sz="3600" b="1" dirty="0">
                <a:solidFill>
                  <a:schemeClr val="tx2"/>
                </a:solidFill>
                <a:latin typeface="+mj-lt" pitchFamily="34" charset="0"/>
                <a:ea typeface="+mj-lt" pitchFamily="34" charset="-122"/>
                <a:cs typeface="+mj-lt" pitchFamily="34" charset="-120"/>
              </a:rPr>
              <a:t>Thank you</a:t>
            </a:r>
            <a:endParaRPr lang="en-US" sz="3600" dirty="0"/>
          </a:p>
        </p:txBody>
      </p:sp>
      <p:sp>
        <p:nvSpPr>
          <p:cNvPr id="22" name="questions"/>
          <p:cNvSpPr txBox="1"/>
          <p:nvPr/>
        </p:nvSpPr>
        <p:spPr>
          <a:xfrm>
            <a:off x="868680" y="4956048"/>
            <a:ext cx="4937760" cy="365760"/>
          </a:xfrm>
          <a:prstGeom prst="rect">
            <a:avLst/>
          </a:prstGeom>
          <a:noFill/>
          <a:ln/>
        </p:spPr>
        <p:txBody>
          <a:bodyPr wrap="square" lIns="0" tIns="0" rIns="0" bIns="0" rtlCol="0" anchor="t"/>
          <a:lstStyle/>
          <a:p>
            <a:pPr indent="0" marL="0">
              <a:buNone/>
            </a:pPr>
            <a:r>
              <a:rPr lang="en-US" sz="1800" dirty="0">
                <a:solidFill>
                  <a:schemeClr val="tx1"/>
                </a:solidFill>
              </a:rPr>
              <a:t>Questions &amp; discussion</a:t>
            </a:r>
            <a:endParaRPr lang="en-US" sz="1800" dirty="0"/>
          </a:p>
        </p:txBody>
      </p:sp>
      <p:sp>
        <p:nvSpPr>
          <p:cNvPr id="23" name="prepared for"/>
          <p:cNvSpPr txBox="1"/>
          <p:nvPr/>
        </p:nvSpPr>
        <p:spPr>
          <a:xfrm>
            <a:off x="868680" y="5413248"/>
            <a:ext cx="5349240" cy="457200"/>
          </a:xfrm>
          <a:prstGeom prst="rect">
            <a:avLst/>
          </a:prstGeom>
          <a:noFill/>
          <a:ln/>
        </p:spPr>
        <p:txBody>
          <a:bodyPr wrap="square" lIns="0" tIns="0" rIns="0" bIns="0" rtlCol="0" anchor="t"/>
          <a:lstStyle/>
          <a:p>
            <a:pPr indent="0" marL="0">
              <a:buNone/>
            </a:pPr>
            <a:r>
              <a:rPr lang="en-US" sz="1300" dirty="0">
                <a:solidFill>
                  <a:schemeClr val="accent6"/>
                </a:solidFill>
              </a:rPr>
              <a:t>Prepared for Bank Asia PLC — Litigation Management System RFP</a:t>
            </a:r>
            <a:endParaRPr lang="en-US" sz="1300" dirty="0"/>
          </a:p>
        </p:txBody>
      </p:sp>
      <p:sp>
        <p:nvSpPr>
          <p:cNvPr id="24" name="live label"/>
          <p:cNvSpPr txBox="1"/>
          <p:nvPr/>
        </p:nvSpPr>
        <p:spPr>
          <a:xfrm>
            <a:off x="6400800" y="4315968"/>
            <a:ext cx="3291840" cy="256032"/>
          </a:xfrm>
          <a:prstGeom prst="rect">
            <a:avLst/>
          </a:prstGeom>
          <a:noFill/>
          <a:ln/>
        </p:spPr>
        <p:txBody>
          <a:bodyPr wrap="square" lIns="0" tIns="0" rIns="0" bIns="0" rtlCol="0" anchor="t"/>
          <a:lstStyle/>
          <a:p>
            <a:pPr indent="0" marL="0">
              <a:buNone/>
            </a:pPr>
            <a:r>
              <a:rPr lang="en-US" sz="1100" b="1" spc="150" kern="0" dirty="0">
                <a:solidFill>
                  <a:schemeClr val="accent2"/>
                </a:solidFill>
              </a:rPr>
              <a:t>LIVE SYSTEM</a:t>
            </a:r>
            <a:endParaRPr lang="en-US" sz="1100" dirty="0"/>
          </a:p>
        </p:txBody>
      </p:sp>
      <p:sp>
        <p:nvSpPr>
          <p:cNvPr id="25" name="live url"/>
          <p:cNvSpPr txBox="1"/>
          <p:nvPr/>
        </p:nvSpPr>
        <p:spPr>
          <a:xfrm>
            <a:off x="6400800" y="4608576"/>
            <a:ext cx="3291840" cy="420624"/>
          </a:xfrm>
          <a:prstGeom prst="rect">
            <a:avLst/>
          </a:prstGeom>
          <a:noFill/>
          <a:ln/>
        </p:spPr>
        <p:txBody>
          <a:bodyPr wrap="square" lIns="0" tIns="0" rIns="0" bIns="0" rtlCol="0" anchor="t"/>
          <a:lstStyle/>
          <a:p>
            <a:pPr indent="0" marL="0">
              <a:buNone/>
            </a:pPr>
            <a:r>
              <a:rPr lang="en-US" sz="2200" b="1" u="sng" dirty="0">
                <a:solidFill>
                  <a:schemeClr val="accent1"/>
                </a:solidFill>
                <a:latin typeface="+mj-lt" pitchFamily="34" charset="0"/>
                <a:ea typeface="+mj-lt" pitchFamily="34" charset="-122"/>
                <a:cs typeface="+mj-lt" pitchFamily="34" charset="-120"/>
                <a:hlinkClick r:id="rId1" invalidUrl="" action="" tgtFrame="" tooltip="Open the live LMS demo" history="1" highlightClick="0" endSnd="0">
                  <a:extLst>
                    <a:ext uri="{A12FA001-AC4F-418D-AE19-62706E023703}">
                      <ahyp:hlinkClr xmlns:ahyp="http://schemas.microsoft.com/office/drawing/2018/hyperlinkcolor" val="tx"/>
                    </a:ext>
                  </a:extLst>
                </a:hlinkClick>
              </a:rPr>
              <a:t>lms.skoder.co</a:t>
            </a:r>
            <a:endParaRPr lang="en-US" sz="2200" dirty="0"/>
          </a:p>
        </p:txBody>
      </p:sp>
      <p:sp>
        <p:nvSpPr>
          <p:cNvPr id="26" name="live note"/>
          <p:cNvSpPr txBox="1"/>
          <p:nvPr/>
        </p:nvSpPr>
        <p:spPr>
          <a:xfrm>
            <a:off x="6400800" y="5102352"/>
            <a:ext cx="3200400" cy="548640"/>
          </a:xfrm>
          <a:prstGeom prst="rect">
            <a:avLst/>
          </a:prstGeom>
          <a:noFill/>
          <a:ln/>
        </p:spPr>
        <p:txBody>
          <a:bodyPr wrap="square" lIns="0" tIns="0" rIns="0" bIns="0" rtlCol="0" anchor="t"/>
          <a:lstStyle/>
          <a:p>
            <a:pPr indent="0" marL="0">
              <a:buNone/>
            </a:pPr>
            <a:r>
              <a:rPr lang="en-US" sz="1300" dirty="0">
                <a:solidFill>
                  <a:schemeClr val="accent6"/>
                </a:solidFill>
              </a:rPr>
              <a:t>Scan or visit to try any module live</a:t>
            </a:r>
            <a:endParaRPr lang="en-US" sz="1300" dirty="0"/>
          </a:p>
        </p:txBody>
      </p:sp>
      <p:sp>
        <p:nvSpPr>
          <p:cNvPr id="27" name="qr backing"/>
          <p:cNvSpPr/>
          <p:nvPr/>
        </p:nvSpPr>
        <p:spPr>
          <a:xfrm>
            <a:off x="9802368" y="4160520"/>
            <a:ext cx="1691640" cy="1691640"/>
          </a:xfrm>
          <a:prstGeom prst="roundRect">
            <a:avLst>
              <a:gd name="adj" fmla="val 5405"/>
            </a:avLst>
          </a:prstGeom>
          <a:solidFill>
            <a:schemeClr val="bg1"/>
          </a:solidFill>
          <a:ln/>
        </p:spPr>
      </p:sp>
      <p:pic>
        <p:nvPicPr>
          <p:cNvPr id="28" name="qr code" descr="QR code linking to https://lms.skoder.co">    </p:cNvPr>
          <p:cNvPicPr>
            <a:picLocks noChangeAspect="1"/>
          </p:cNvPicPr>
          <p:nvPr/>
        </p:nvPicPr>
        <p:blipFill>
          <a:blip r:embed="rId2"/>
          <a:stretch>
            <a:fillRect/>
          </a:stretch>
        </p:blipFill>
        <p:spPr>
          <a:xfrm>
            <a:off x="9875520" y="4233672"/>
            <a:ext cx="1545336" cy="1545336"/>
          </a:xfrm>
          <a:prstGeom prst="rect">
            <a:avLst/>
          </a:prstGeom>
        </p:spPr>
      </p:pic>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Bank Asia LMS">
  <a:themeElements>
    <a:clrScheme name="Bank Asia LMS">
      <a:dk1>
        <a:srgbClr val="1E293B"/>
      </a:dk1>
      <a:lt1>
        <a:srgbClr val="FFFFFF"/>
      </a:lt1>
      <a:dk2>
        <a:srgbClr val="002A64"/>
      </a:dk2>
      <a:lt2>
        <a:srgbClr val="EEF3FA"/>
      </a:lt2>
      <a:accent1>
        <a:srgbClr val="1B498A"/>
      </a:accent1>
      <a:accent2>
        <a:srgbClr val="D5002B"/>
      </a:accent2>
      <a:accent3>
        <a:srgbClr val="1E8E4E"/>
      </a:accent3>
      <a:accent4>
        <a:srgbClr val="E8A317"/>
      </a:accent4>
      <a:accent5>
        <a:srgbClr val="4F79B5"/>
      </a:accent5>
      <a:accent6>
        <a:srgbClr val="64748B"/>
      </a:accent6>
      <a:hlink>
        <a:srgbClr val="1B498A"/>
      </a:hlink>
      <a:folHlink>
        <a:srgbClr val="4F79B5"/>
      </a:folHlink>
    </a:clrScheme>
    <a:fontScheme name="Bank Asia LMS">
      <a:majorFont>
        <a:latin typeface="Century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Bank Asia LMS — Solution Presentation</dc:title>
  <dc:subject>Litigation Management System solution presentation for Bank Asia PLC</dc:subject>
  <dc:creator>LMS Solution Team</dc:creator>
  <cp:lastModifiedBy>LMS Solution Team</cp:lastModifiedBy>
  <cp:revision>1</cp:revision>
  <dcterms:created xsi:type="dcterms:W3CDTF">2026-10-26T16:32:21Z</dcterms:created>
  <dcterms:modified xsi:type="dcterms:W3CDTF">2026-10-26T16:32:21Z</dcterms:modified>
</cp:coreProperties>
</file>